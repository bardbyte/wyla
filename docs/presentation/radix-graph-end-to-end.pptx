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slides, one arc: the question everybody has asked, why it has three answers, why the usual fix decays, the turn, what we built, and what changes. The architecture sits in the middle at three depths — drop slides 6 and 7 for a business-only room and the story still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not on architecture. Everyone in the room has been on one side of this. The point of the three cards is that all three are defensible — this is not a competence problem, it is a definition problem. Land the last line and pause: the cost is not the wrong number, it is the two days spent every month deciding which one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slide — it is what stops the room hearing 'another data catalogue'. Each of these is a real attempt that a real team made, and each failed for the same structural reason, not for lack of discipline. Land the amber band: the common factor is asking a human to write the meaning down a second time. That is the assumption we broke.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of the deck. The meaning is not missing — it is scattered across artefacts the team already produces as a by-product of doing the work. Nobody has to author anything new. Say the last line slowly: we compile what already exists, and we keep the evidence attached, which is what lets disagreement stay visible instead of being averaged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Thirty-second version. Left: nothing new to collect. Middle: compiled, not hand-maintained — which is the whole answer to the decay on slide 3. Right: an answer always arrives with its definition, so it can be acted on without a second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left to right. Sources are what the team already owns. The semantic graph is where those become meaning, and every statement keeps the evidence behind it. That compiles into one versioned snapshot — the single thing everything downstream reads. The harness gives a general model tools, checks and limits. The experiences are the two front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level an architect asks for. Two things to land. The harness has two paths, not one: a fixed path for a governed number, an open path for analysis, same limits on both. And the amber row: each boundary has a check that stops the run rather than degrading it, so a bad input never becomes a confident wrong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view, and the one to use if somebody asks what this costs to run. Nothing exotic: the warehouse and the catalog are already yours, the model is Gemini, and the only new thing inside the boundary is the compile step and the snapshot it publishes. Walk the six numbers in order — that is the whole system in one pass. The line worth repeating is step 5: the model never answers from free recall, it answers through the harness, and the harness only reads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credibility beat, and for a sceptical room it is the most important slide in the deck. The instinct is to sell coverage; we are selling the opposite. Each refusal maps to something real: no certified definition means no number; nothing outside the compiled snapshot gets answered from memory; anything assembled from parts stays marked until a check clears it. Expect the question 'how often does it refuse' — the honest answer is that it refuses exactly as often as the business has not agreed, and that number falls as stewards certify.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about them, not the system. Read one row aloud — the analyst one usually gets a laugh of recognition — and let the others land by themselves. The steward row is the one to linger on if governance people are in the room: they stop arguing in threads and start changing the record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honestly — the 'still early' card buys more credibility than it costs, and it is the reason the room believes the first card. The ask is deliberately small and not a budget request: name the definitions that are already treated as certified, put a person against each, and pick one business area. CHECK BEFORE PRESENTING: confirm the third card matches what you actually want to ask this audience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1.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663"/>
        </a:solidFill>
      </p:bgPr>
    </p:bg>
    <p:spTree>
      <p:nvGrpSpPr>
        <p:cNvPr id="1" name=""/>
        <p:cNvGrpSpPr/>
        <p:nvPr/>
      </p:nvGrpSpPr>
      <p:grpSpPr>
        <a:xfrm>
          <a:off x="0" y="0"/>
          <a:ext cx="0" cy="0"/>
          <a:chOff x="0" y="0"/>
          <a:chExt cx="0" cy="0"/>
        </a:xfrm>
      </p:grpSpPr>
      <p:pic>
        <p:nvPicPr>
          <p:cNvPr id="2" name="Image 0" descr="glyphs/radixgraphW.png">    </p:cNvPr>
          <p:cNvPicPr>
            <a:picLocks noChangeAspect="1"/>
          </p:cNvPicPr>
          <p:nvPr/>
        </p:nvPicPr>
        <p:blipFill>
          <a:blip r:embed="rId1">
            <a:alphaModFix amt="9000"/>
          </a:blip>
          <a:stretch>
            <a:fillRect/>
          </a:stretch>
        </p:blipFill>
        <p:spPr>
          <a:xfrm>
            <a:off x="8869680" y="2148840"/>
            <a:ext cx="5120640" cy="5120640"/>
          </a:xfrm>
          <a:prstGeom prst="rect">
            <a:avLst/>
          </a:prstGeom>
        </p:spPr>
      </p:pic>
      <p:sp>
        <p:nvSpPr>
          <p:cNvPr id="3" name="Text 0"/>
          <p:cNvSpPr txBox="1"/>
          <p:nvPr/>
        </p:nvSpPr>
        <p:spPr>
          <a:xfrm>
            <a:off x="640080" y="777240"/>
            <a:ext cx="7315200" cy="320040"/>
          </a:xfrm>
          <a:prstGeom prst="rect">
            <a:avLst/>
          </a:prstGeom>
          <a:noFill/>
          <a:ln/>
        </p:spPr>
        <p:txBody>
          <a:bodyPr wrap="square" lIns="0" tIns="0" rIns="0" bIns="0" rtlCol="0" anchor="ctr"/>
          <a:lstStyle/>
          <a:p>
            <a:pPr indent="0" marL="0">
              <a:buNone/>
            </a:pPr>
            <a:r>
              <a:rPr lang="en-US" sz="1100" spc="120" kern="0" dirty="0">
                <a:solidFill>
                  <a:srgbClr val="8FB0E4"/>
                </a:solidFill>
                <a:latin typeface="Arial" pitchFamily="34" charset="0"/>
                <a:ea typeface="Arial" pitchFamily="34" charset="-122"/>
                <a:cs typeface="Arial" pitchFamily="34" charset="-120"/>
              </a:rPr>
              <a:t>SYSTEM DESIGN  ·  ARCHITECTURE OVERVIEW</a:t>
            </a:r>
            <a:endParaRPr lang="en-US" sz="1100" dirty="0"/>
          </a:p>
        </p:txBody>
      </p:sp>
      <p:sp>
        <p:nvSpPr>
          <p:cNvPr id="4" name="Text 1"/>
          <p:cNvSpPr txBox="1"/>
          <p:nvPr/>
        </p:nvSpPr>
        <p:spPr>
          <a:xfrm>
            <a:off x="640080" y="1234440"/>
            <a:ext cx="10881360" cy="100584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Radix Graph, end to end</a:t>
            </a:r>
            <a:endParaRPr lang="en-US" sz="5400" dirty="0"/>
          </a:p>
        </p:txBody>
      </p:sp>
      <p:sp>
        <p:nvSpPr>
          <p:cNvPr id="5" name="Text 2"/>
          <p:cNvSpPr txBox="1"/>
          <p:nvPr/>
        </p:nvSpPr>
        <p:spPr>
          <a:xfrm>
            <a:off x="640080" y="2331720"/>
            <a:ext cx="9966960" cy="50292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The sources a team already has, compiled into one trusted snapshot.</a:t>
            </a:r>
            <a:pPr indent="0" marL="0">
              <a:buNone/>
            </a:pPr>
            <a:r>
              <a:rPr lang="en-US" sz="1600" dirty="0">
                <a:solidFill>
                  <a:srgbClr val="C9D8F0"/>
                </a:solidFill>
                <a:latin typeface="Arial" pitchFamily="34" charset="0"/>
                <a:ea typeface="Arial" pitchFamily="34" charset="-122"/>
                <a:cs typeface="Arial" pitchFamily="34" charset="-120"/>
              </a:rPr>
              <a:t>  The agent answers from that snapshot — and says where every number came from.</a:t>
            </a:r>
            <a:endParaRPr lang="en-US" sz="1600" dirty="0"/>
          </a:p>
        </p:txBody>
      </p:sp>
      <p:sp>
        <p:nvSpPr>
          <p:cNvPr id="6" name="Text 3"/>
          <p:cNvSpPr txBox="1"/>
          <p:nvPr/>
        </p:nvSpPr>
        <p:spPr>
          <a:xfrm>
            <a:off x="640080" y="3429000"/>
            <a:ext cx="1828800" cy="274320"/>
          </a:xfrm>
          <a:prstGeom prst="rect">
            <a:avLst/>
          </a:prstGeom>
          <a:noFill/>
          <a:ln/>
        </p:spPr>
        <p:txBody>
          <a:bodyPr wrap="square" lIns="0" tIns="0" rIns="0" bIns="0" rtlCol="0" anchor="ctr"/>
          <a:lstStyle/>
          <a:p>
            <a:pPr indent="0" marL="0">
              <a:buNone/>
            </a:pPr>
            <a:r>
              <a:rPr lang="en-US" sz="1000" spc="110" kern="0" dirty="0">
                <a:solidFill>
                  <a:srgbClr val="8FB0E4"/>
                </a:solidFill>
                <a:latin typeface="Arial" pitchFamily="34" charset="0"/>
                <a:ea typeface="Arial" pitchFamily="34" charset="-122"/>
                <a:cs typeface="Arial" pitchFamily="34" charset="-120"/>
              </a:rPr>
              <a:t>BUILT ON</a:t>
            </a:r>
            <a:endParaRPr lang="en-US" sz="1000" dirty="0"/>
          </a:p>
        </p:txBody>
      </p:sp>
      <p:sp>
        <p:nvSpPr>
          <p:cNvPr id="7" name="Shape 4"/>
          <p:cNvSpPr/>
          <p:nvPr/>
        </p:nvSpPr>
        <p:spPr>
          <a:xfrm>
            <a:off x="640080" y="3749040"/>
            <a:ext cx="1155802" cy="420624"/>
          </a:xfrm>
          <a:prstGeom prst="roundRect">
            <a:avLst>
              <a:gd name="adj" fmla="val 21739"/>
            </a:avLst>
          </a:prstGeom>
          <a:solidFill>
            <a:srgbClr val="FFFFFF">
              <a:alpha val="12000"/>
            </a:srgbClr>
          </a:solidFill>
          <a:ln w="12700">
            <a:solidFill>
              <a:srgbClr val="FFFFFF">
                <a:alpha val="55000"/>
              </a:srgbClr>
            </a:solidFill>
            <a:prstDash val="solid"/>
          </a:ln>
        </p:spPr>
      </p:sp>
      <p:pic>
        <p:nvPicPr>
          <p:cNvPr id="8" name="Image 1" descr="glyphs/bq.png">    </p:cNvPr>
          <p:cNvPicPr>
            <a:picLocks noChangeAspect="1"/>
          </p:cNvPicPr>
          <p:nvPr/>
        </p:nvPicPr>
        <p:blipFill>
          <a:blip r:embed="rId2"/>
          <a:stretch>
            <a:fillRect/>
          </a:stretch>
        </p:blipFill>
        <p:spPr>
          <a:xfrm>
            <a:off x="731520" y="3826764"/>
            <a:ext cx="265176" cy="265176"/>
          </a:xfrm>
          <a:prstGeom prst="rect">
            <a:avLst/>
          </a:prstGeom>
        </p:spPr>
      </p:pic>
      <p:sp>
        <p:nvSpPr>
          <p:cNvPr id="9" name="Text 5"/>
          <p:cNvSpPr txBox="1"/>
          <p:nvPr/>
        </p:nvSpPr>
        <p:spPr>
          <a:xfrm>
            <a:off x="1060704" y="3767328"/>
            <a:ext cx="680314" cy="384048"/>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BigQuery</a:t>
            </a:r>
            <a:endParaRPr lang="en-US" sz="1150" dirty="0"/>
          </a:p>
        </p:txBody>
      </p:sp>
      <p:sp>
        <p:nvSpPr>
          <p:cNvPr id="10" name="Shape 6"/>
          <p:cNvSpPr/>
          <p:nvPr/>
        </p:nvSpPr>
        <p:spPr>
          <a:xfrm>
            <a:off x="1978762" y="3749040"/>
            <a:ext cx="985723" cy="420624"/>
          </a:xfrm>
          <a:prstGeom prst="roundRect">
            <a:avLst>
              <a:gd name="adj" fmla="val 21739"/>
            </a:avLst>
          </a:prstGeom>
          <a:solidFill>
            <a:srgbClr val="FFFFFF">
              <a:alpha val="12000"/>
            </a:srgbClr>
          </a:solidFill>
          <a:ln w="12700">
            <a:solidFill>
              <a:srgbClr val="FFFFFF">
                <a:alpha val="55000"/>
              </a:srgbClr>
            </a:solidFill>
            <a:prstDash val="solid"/>
          </a:ln>
        </p:spPr>
      </p:sp>
      <p:pic>
        <p:nvPicPr>
          <p:cNvPr id="11" name="Image 2" descr="glyphs/gemini.png">    </p:cNvPr>
          <p:cNvPicPr>
            <a:picLocks noChangeAspect="1"/>
          </p:cNvPicPr>
          <p:nvPr/>
        </p:nvPicPr>
        <p:blipFill>
          <a:blip r:embed="rId3"/>
          <a:stretch>
            <a:fillRect/>
          </a:stretch>
        </p:blipFill>
        <p:spPr>
          <a:xfrm>
            <a:off x="2070202" y="3826764"/>
            <a:ext cx="265176" cy="265176"/>
          </a:xfrm>
          <a:prstGeom prst="rect">
            <a:avLst/>
          </a:prstGeom>
        </p:spPr>
      </p:pic>
      <p:sp>
        <p:nvSpPr>
          <p:cNvPr id="12" name="Text 7"/>
          <p:cNvSpPr txBox="1"/>
          <p:nvPr/>
        </p:nvSpPr>
        <p:spPr>
          <a:xfrm>
            <a:off x="2399386" y="3767328"/>
            <a:ext cx="510235" cy="384048"/>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Gemini</a:t>
            </a:r>
            <a:endParaRPr lang="en-US" sz="1150" dirty="0"/>
          </a:p>
        </p:txBody>
      </p:sp>
      <p:sp>
        <p:nvSpPr>
          <p:cNvPr id="13" name="Shape 8"/>
          <p:cNvSpPr/>
          <p:nvPr/>
        </p:nvSpPr>
        <p:spPr>
          <a:xfrm>
            <a:off x="3147365" y="3749040"/>
            <a:ext cx="1921154" cy="420624"/>
          </a:xfrm>
          <a:prstGeom prst="roundRect">
            <a:avLst>
              <a:gd name="adj" fmla="val 21739"/>
            </a:avLst>
          </a:prstGeom>
          <a:solidFill>
            <a:srgbClr val="FFFFFF">
              <a:alpha val="12000"/>
            </a:srgbClr>
          </a:solidFill>
          <a:ln w="12700">
            <a:solidFill>
              <a:srgbClr val="FFFFFF">
                <a:alpha val="55000"/>
              </a:srgbClr>
            </a:solidFill>
            <a:prstDash val="solid"/>
          </a:ln>
        </p:spPr>
      </p:sp>
      <p:pic>
        <p:nvPicPr>
          <p:cNvPr id="14" name="Image 3" descr="glyphs/kc.png">    </p:cNvPr>
          <p:cNvPicPr>
            <a:picLocks noChangeAspect="1"/>
          </p:cNvPicPr>
          <p:nvPr/>
        </p:nvPicPr>
        <p:blipFill>
          <a:blip r:embed="rId4"/>
          <a:stretch>
            <a:fillRect/>
          </a:stretch>
        </p:blipFill>
        <p:spPr>
          <a:xfrm>
            <a:off x="3238805" y="3826764"/>
            <a:ext cx="265176" cy="265176"/>
          </a:xfrm>
          <a:prstGeom prst="rect">
            <a:avLst/>
          </a:prstGeom>
        </p:spPr>
      </p:pic>
      <p:sp>
        <p:nvSpPr>
          <p:cNvPr id="15" name="Text 9"/>
          <p:cNvSpPr txBox="1"/>
          <p:nvPr/>
        </p:nvSpPr>
        <p:spPr>
          <a:xfrm>
            <a:off x="3567989" y="3767328"/>
            <a:ext cx="1445666" cy="384048"/>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Knowledge Catalog</a:t>
            </a:r>
            <a:endParaRPr lang="en-US" sz="1150" dirty="0"/>
          </a:p>
        </p:txBody>
      </p:sp>
      <p:sp>
        <p:nvSpPr>
          <p:cNvPr id="16" name="Shape 10"/>
          <p:cNvSpPr/>
          <p:nvPr/>
        </p:nvSpPr>
        <p:spPr>
          <a:xfrm>
            <a:off x="5251399" y="3749040"/>
            <a:ext cx="985723" cy="420624"/>
          </a:xfrm>
          <a:prstGeom prst="roundRect">
            <a:avLst>
              <a:gd name="adj" fmla="val 21739"/>
            </a:avLst>
          </a:prstGeom>
          <a:solidFill>
            <a:srgbClr val="FFFFFF">
              <a:alpha val="12000"/>
            </a:srgbClr>
          </a:solidFill>
          <a:ln w="12700">
            <a:solidFill>
              <a:srgbClr val="FFFFFF">
                <a:alpha val="55000"/>
              </a:srgbClr>
            </a:solidFill>
            <a:prstDash val="solid"/>
          </a:ln>
        </p:spPr>
      </p:sp>
      <p:pic>
        <p:nvPicPr>
          <p:cNvPr id="17" name="Image 4" descr="glyphs/looker.png">    </p:cNvPr>
          <p:cNvPicPr>
            <a:picLocks noChangeAspect="1"/>
          </p:cNvPicPr>
          <p:nvPr/>
        </p:nvPicPr>
        <p:blipFill>
          <a:blip r:embed="rId5"/>
          <a:stretch>
            <a:fillRect/>
          </a:stretch>
        </p:blipFill>
        <p:spPr>
          <a:xfrm>
            <a:off x="5342839" y="3826764"/>
            <a:ext cx="265176" cy="265176"/>
          </a:xfrm>
          <a:prstGeom prst="rect">
            <a:avLst/>
          </a:prstGeom>
        </p:spPr>
      </p:pic>
      <p:sp>
        <p:nvSpPr>
          <p:cNvPr id="18" name="Text 11"/>
          <p:cNvSpPr txBox="1"/>
          <p:nvPr/>
        </p:nvSpPr>
        <p:spPr>
          <a:xfrm>
            <a:off x="5672023" y="3767328"/>
            <a:ext cx="510235" cy="384048"/>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Looker</a:t>
            </a:r>
            <a:endParaRPr lang="en-US" sz="1150" dirty="0"/>
          </a:p>
        </p:txBody>
      </p:sp>
      <p:sp>
        <p:nvSpPr>
          <p:cNvPr id="19" name="Text 12"/>
          <p:cNvSpPr txBox="1"/>
          <p:nvPr/>
        </p:nvSpPr>
        <p:spPr>
          <a:xfrm>
            <a:off x="640080" y="4434840"/>
            <a:ext cx="1828800" cy="274320"/>
          </a:xfrm>
          <a:prstGeom prst="rect">
            <a:avLst/>
          </a:prstGeom>
          <a:noFill/>
          <a:ln/>
        </p:spPr>
        <p:txBody>
          <a:bodyPr wrap="square" lIns="0" tIns="0" rIns="0" bIns="0" rtlCol="0" anchor="ctr"/>
          <a:lstStyle/>
          <a:p>
            <a:pPr indent="0" marL="0">
              <a:buNone/>
            </a:pPr>
            <a:r>
              <a:rPr lang="en-US" sz="1000" spc="110" kern="0" dirty="0">
                <a:solidFill>
                  <a:srgbClr val="8FB0E4"/>
                </a:solidFill>
                <a:latin typeface="Arial" pitchFamily="34" charset="0"/>
                <a:ea typeface="Arial" pitchFamily="34" charset="-122"/>
                <a:cs typeface="Arial" pitchFamily="34" charset="-120"/>
              </a:rPr>
              <a:t>OURS</a:t>
            </a:r>
            <a:endParaRPr lang="en-US" sz="1000" dirty="0"/>
          </a:p>
        </p:txBody>
      </p:sp>
      <p:sp>
        <p:nvSpPr>
          <p:cNvPr id="20" name="Shape 13"/>
          <p:cNvSpPr/>
          <p:nvPr/>
        </p:nvSpPr>
        <p:spPr>
          <a:xfrm>
            <a:off x="640080" y="4754880"/>
            <a:ext cx="1410919" cy="420624"/>
          </a:xfrm>
          <a:prstGeom prst="roundRect">
            <a:avLst>
              <a:gd name="adj" fmla="val 21739"/>
            </a:avLst>
          </a:prstGeom>
          <a:solidFill>
            <a:srgbClr val="016FD0">
              <a:alpha val="30000"/>
            </a:srgbClr>
          </a:solidFill>
          <a:ln w="12700">
            <a:solidFill>
              <a:srgbClr val="7EB2EC">
                <a:alpha val="55000"/>
              </a:srgbClr>
            </a:solidFill>
            <a:prstDash val="solid"/>
          </a:ln>
        </p:spPr>
      </p:sp>
      <p:pic>
        <p:nvPicPr>
          <p:cNvPr id="21" name="Image 5" descr="glyphs/radixgraphW.png">    </p:cNvPr>
          <p:cNvPicPr>
            <a:picLocks noChangeAspect="1"/>
          </p:cNvPicPr>
          <p:nvPr/>
        </p:nvPicPr>
        <p:blipFill>
          <a:blip r:embed="rId6"/>
          <a:stretch>
            <a:fillRect/>
          </a:stretch>
        </p:blipFill>
        <p:spPr>
          <a:xfrm>
            <a:off x="731520" y="4832604"/>
            <a:ext cx="265176" cy="265176"/>
          </a:xfrm>
          <a:prstGeom prst="rect">
            <a:avLst/>
          </a:prstGeom>
        </p:spPr>
      </p:pic>
      <p:sp>
        <p:nvSpPr>
          <p:cNvPr id="22" name="Text 14"/>
          <p:cNvSpPr txBox="1"/>
          <p:nvPr/>
        </p:nvSpPr>
        <p:spPr>
          <a:xfrm>
            <a:off x="1060704" y="4773168"/>
            <a:ext cx="935431" cy="384048"/>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Radix Graph</a:t>
            </a:r>
            <a:endParaRPr lang="en-US" sz="1150" dirty="0"/>
          </a:p>
        </p:txBody>
      </p:sp>
      <p:sp>
        <p:nvSpPr>
          <p:cNvPr id="23" name="Shape 15"/>
          <p:cNvSpPr/>
          <p:nvPr/>
        </p:nvSpPr>
        <p:spPr>
          <a:xfrm>
            <a:off x="2233879" y="4754880"/>
            <a:ext cx="815645" cy="420624"/>
          </a:xfrm>
          <a:prstGeom prst="roundRect">
            <a:avLst>
              <a:gd name="adj" fmla="val 21739"/>
            </a:avLst>
          </a:prstGeom>
          <a:solidFill>
            <a:srgbClr val="016FD0">
              <a:alpha val="30000"/>
            </a:srgbClr>
          </a:solidFill>
          <a:ln w="12700">
            <a:solidFill>
              <a:srgbClr val="7EB2EC">
                <a:alpha val="55000"/>
              </a:srgbClr>
            </a:solidFill>
            <a:prstDash val="solid"/>
          </a:ln>
        </p:spPr>
      </p:sp>
      <p:pic>
        <p:nvPicPr>
          <p:cNvPr id="24" name="Image 6" descr="glyphs/lumiW.png">    </p:cNvPr>
          <p:cNvPicPr>
            <a:picLocks noChangeAspect="1"/>
          </p:cNvPicPr>
          <p:nvPr/>
        </p:nvPicPr>
        <p:blipFill>
          <a:blip r:embed="rId7"/>
          <a:stretch>
            <a:fillRect/>
          </a:stretch>
        </p:blipFill>
        <p:spPr>
          <a:xfrm>
            <a:off x="2325319" y="4832604"/>
            <a:ext cx="265176" cy="265176"/>
          </a:xfrm>
          <a:prstGeom prst="rect">
            <a:avLst/>
          </a:prstGeom>
        </p:spPr>
      </p:pic>
      <p:sp>
        <p:nvSpPr>
          <p:cNvPr id="25" name="Text 16"/>
          <p:cNvSpPr txBox="1"/>
          <p:nvPr/>
        </p:nvSpPr>
        <p:spPr>
          <a:xfrm>
            <a:off x="2654503" y="4773168"/>
            <a:ext cx="340157" cy="384048"/>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Lumi</a:t>
            </a:r>
            <a:endParaRPr lang="en-US" sz="1150" dirty="0"/>
          </a:p>
        </p:txBody>
      </p:sp>
      <p:sp>
        <p:nvSpPr>
          <p:cNvPr id="26" name="Text 17"/>
          <p:cNvSpPr txBox="1"/>
          <p:nvPr/>
        </p:nvSpPr>
        <p:spPr>
          <a:xfrm>
            <a:off x="640080" y="5989320"/>
            <a:ext cx="8229600" cy="274320"/>
          </a:xfrm>
          <a:prstGeom prst="rect">
            <a:avLst/>
          </a:prstGeom>
          <a:noFill/>
          <a:ln/>
        </p:spPr>
        <p:txBody>
          <a:bodyPr wrap="square" lIns="0" tIns="0" rIns="0" bIns="0" rtlCol="0" anchor="ctr"/>
          <a:lstStyle/>
          <a:p>
            <a:pPr indent="0" marL="0">
              <a:buNone/>
            </a:pPr>
            <a:r>
              <a:rPr lang="en-US" sz="1100" dirty="0">
                <a:solidFill>
                  <a:srgbClr val="8FB0E4"/>
                </a:solidFill>
                <a:latin typeface="Arial" pitchFamily="34" charset="0"/>
                <a:ea typeface="Arial" pitchFamily="34" charset="-122"/>
                <a:cs typeface="Arial" pitchFamily="34" charset="-120"/>
              </a:rPr>
              <a:t>A question, why it has three answers, and what we did about it.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2663"/>
        </a:solidFill>
      </p:bgPr>
    </p:bg>
    <p:spTree>
      <p:nvGrpSpPr>
        <p:cNvPr id="1" name=""/>
        <p:cNvGrpSpPr/>
        <p:nvPr/>
      </p:nvGrpSpPr>
      <p:grpSpPr>
        <a:xfrm>
          <a:off x="0" y="0"/>
          <a:ext cx="0" cy="0"/>
          <a:chOff x="0" y="0"/>
          <a:chExt cx="0" cy="0"/>
        </a:xfrm>
      </p:grpSpPr>
      <p:pic>
        <p:nvPicPr>
          <p:cNvPr id="2" name="Image 0" descr="glyphs/radixgraphW.png">    </p:cNvPr>
          <p:cNvPicPr>
            <a:picLocks noChangeAspect="1"/>
          </p:cNvPicPr>
          <p:nvPr/>
        </p:nvPicPr>
        <p:blipFill>
          <a:blip r:embed="rId1">
            <a:alphaModFix amt="9000"/>
          </a:blip>
          <a:stretch>
            <a:fillRect/>
          </a:stretch>
        </p:blipFill>
        <p:spPr>
          <a:xfrm>
            <a:off x="8869680" y="2148840"/>
            <a:ext cx="5120640" cy="5120640"/>
          </a:xfrm>
          <a:prstGeom prst="rect">
            <a:avLst/>
          </a:prstGeom>
        </p:spPr>
      </p:pic>
      <p:sp>
        <p:nvSpPr>
          <p:cNvPr id="3" name="Text 0"/>
          <p:cNvSpPr txBox="1"/>
          <p:nvPr/>
        </p:nvSpPr>
        <p:spPr>
          <a:xfrm>
            <a:off x="640080" y="713232"/>
            <a:ext cx="8229600" cy="274320"/>
          </a:xfrm>
          <a:prstGeom prst="rect">
            <a:avLst/>
          </a:prstGeom>
          <a:noFill/>
          <a:ln/>
        </p:spPr>
        <p:txBody>
          <a:bodyPr wrap="square" lIns="0" tIns="0" rIns="0" bIns="0" rtlCol="0" anchor="ctr"/>
          <a:lstStyle/>
          <a:p>
            <a:pPr indent="0" marL="0">
              <a:buNone/>
            </a:pPr>
            <a:r>
              <a:rPr lang="en-US" sz="1050" b="1" spc="110" kern="0" dirty="0">
                <a:solidFill>
                  <a:srgbClr val="8FC1FF"/>
                </a:solidFill>
                <a:latin typeface="Arial" pitchFamily="34" charset="0"/>
                <a:ea typeface="Arial" pitchFamily="34" charset="-122"/>
                <a:cs typeface="Arial" pitchFamily="34" charset="-120"/>
              </a:rPr>
              <a:t>THE QUESTION</a:t>
            </a:r>
            <a:endParaRPr lang="en-US" sz="1050" dirty="0"/>
          </a:p>
        </p:txBody>
      </p:sp>
      <p:sp>
        <p:nvSpPr>
          <p:cNvPr id="4" name="Text 1"/>
          <p:cNvSpPr txBox="1"/>
          <p:nvPr/>
        </p:nvSpPr>
        <p:spPr>
          <a:xfrm>
            <a:off x="640080" y="1078992"/>
            <a:ext cx="10881360" cy="86868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was our approval rate last month?”</a:t>
            </a:r>
            <a:endParaRPr lang="en-US" sz="3800" dirty="0"/>
          </a:p>
        </p:txBody>
      </p:sp>
      <p:sp>
        <p:nvSpPr>
          <p:cNvPr id="5" name="Text 2"/>
          <p:cNvSpPr txBox="1"/>
          <p:nvPr/>
        </p:nvSpPr>
        <p:spPr>
          <a:xfrm>
            <a:off x="640080" y="1993392"/>
            <a:ext cx="8229600" cy="292608"/>
          </a:xfrm>
          <a:prstGeom prst="rect">
            <a:avLst/>
          </a:prstGeom>
          <a:noFill/>
          <a:ln/>
        </p:spPr>
        <p:txBody>
          <a:bodyPr wrap="square" lIns="0" tIns="0" rIns="0" bIns="0" rtlCol="0" anchor="ctr"/>
          <a:lstStyle/>
          <a:p>
            <a:pPr indent="0" marL="0">
              <a:buNone/>
            </a:pPr>
            <a:r>
              <a:rPr lang="en-US" sz="1300" dirty="0">
                <a:solidFill>
                  <a:srgbClr val="8FB0E4"/>
                </a:solidFill>
                <a:latin typeface="Arial" pitchFamily="34" charset="0"/>
                <a:ea typeface="Arial" pitchFamily="34" charset="-122"/>
                <a:cs typeface="Arial" pitchFamily="34" charset="-120"/>
              </a:rPr>
              <a:t>Ask it in any org and you will get three answers back.</a:t>
            </a:r>
            <a:endParaRPr lang="en-US" sz="1300" dirty="0"/>
          </a:p>
        </p:txBody>
      </p:sp>
      <p:sp>
        <p:nvSpPr>
          <p:cNvPr id="6" name="Shape 3"/>
          <p:cNvSpPr/>
          <p:nvPr/>
        </p:nvSpPr>
        <p:spPr>
          <a:xfrm>
            <a:off x="640080" y="2542032"/>
            <a:ext cx="3419856" cy="1938528"/>
          </a:xfrm>
          <a:prstGeom prst="roundRect">
            <a:avLst>
              <a:gd name="adj" fmla="val 3774"/>
            </a:avLst>
          </a:prstGeom>
          <a:solidFill>
            <a:srgbClr val="FFFFFF">
              <a:alpha val="10000"/>
            </a:srgbClr>
          </a:solidFill>
          <a:ln w="12700">
            <a:solidFill>
              <a:srgbClr val="FFFFFF">
                <a:alpha val="50000"/>
              </a:srgbClr>
            </a:solidFill>
            <a:prstDash val="solid"/>
          </a:ln>
        </p:spPr>
      </p:sp>
      <p:sp>
        <p:nvSpPr>
          <p:cNvPr id="7" name="Text 4"/>
          <p:cNvSpPr txBox="1"/>
          <p:nvPr/>
        </p:nvSpPr>
        <p:spPr>
          <a:xfrm>
            <a:off x="914400" y="2724912"/>
            <a:ext cx="2871216" cy="237744"/>
          </a:xfrm>
          <a:prstGeom prst="rect">
            <a:avLst/>
          </a:prstGeom>
          <a:noFill/>
          <a:ln/>
        </p:spPr>
        <p:txBody>
          <a:bodyPr wrap="square" lIns="0" tIns="0" rIns="0" bIns="0" rtlCol="0" anchor="ctr"/>
          <a:lstStyle/>
          <a:p>
            <a:pPr indent="0" marL="0">
              <a:buNone/>
            </a:pPr>
            <a:r>
              <a:rPr lang="en-US" sz="1000" b="1" spc="100" kern="0" dirty="0">
                <a:solidFill>
                  <a:srgbClr val="8FC1FF"/>
                </a:solidFill>
                <a:latin typeface="Arial" pitchFamily="34" charset="0"/>
                <a:ea typeface="Arial" pitchFamily="34" charset="-122"/>
                <a:cs typeface="Arial" pitchFamily="34" charset="-120"/>
              </a:rPr>
              <a:t>FINANCE SAYS</a:t>
            </a:r>
            <a:endParaRPr lang="en-US" sz="1000" dirty="0"/>
          </a:p>
        </p:txBody>
      </p:sp>
      <p:sp>
        <p:nvSpPr>
          <p:cNvPr id="8" name="Text 5"/>
          <p:cNvSpPr txBox="1"/>
          <p:nvPr/>
        </p:nvSpPr>
        <p:spPr>
          <a:xfrm>
            <a:off x="914400" y="2999232"/>
            <a:ext cx="2871216" cy="658368"/>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41.2%</a:t>
            </a:r>
            <a:endParaRPr lang="en-US" sz="4000" dirty="0"/>
          </a:p>
        </p:txBody>
      </p:sp>
      <p:sp>
        <p:nvSpPr>
          <p:cNvPr id="9" name="Text 6"/>
          <p:cNvSpPr txBox="1"/>
          <p:nvPr/>
        </p:nvSpPr>
        <p:spPr>
          <a:xfrm>
            <a:off x="914400" y="3712464"/>
            <a:ext cx="2871216" cy="640080"/>
          </a:xfrm>
          <a:prstGeom prst="rect">
            <a:avLst/>
          </a:prstGeom>
          <a:noFill/>
          <a:ln/>
        </p:spPr>
        <p:txBody>
          <a:bodyPr wrap="square" lIns="0" tIns="0" rIns="0" bIns="0" rtlCol="0" anchor="ctr"/>
          <a:lstStyle/>
          <a:p>
            <a:pPr indent="0" marL="0">
              <a:lnSpc>
                <a:spcPct val="112000"/>
              </a:lnSpc>
              <a:buNone/>
            </a:pPr>
            <a:r>
              <a:rPr lang="en-US" sz="1150" dirty="0">
                <a:solidFill>
                  <a:srgbClr val="C9D8F0"/>
                </a:solidFill>
                <a:latin typeface="Arial" pitchFamily="34" charset="0"/>
                <a:ea typeface="Arial" pitchFamily="34" charset="-122"/>
                <a:cs typeface="Arial" pitchFamily="34" charset="-120"/>
              </a:rPr>
              <a:t>every application counted, including the ones still in flight</a:t>
            </a:r>
            <a:endParaRPr lang="en-US" sz="1150" dirty="0"/>
          </a:p>
        </p:txBody>
      </p:sp>
      <p:sp>
        <p:nvSpPr>
          <p:cNvPr id="10" name="Shape 7"/>
          <p:cNvSpPr/>
          <p:nvPr/>
        </p:nvSpPr>
        <p:spPr>
          <a:xfrm>
            <a:off x="4379976" y="2542032"/>
            <a:ext cx="3419856" cy="1938528"/>
          </a:xfrm>
          <a:prstGeom prst="roundRect">
            <a:avLst>
              <a:gd name="adj" fmla="val 3774"/>
            </a:avLst>
          </a:prstGeom>
          <a:solidFill>
            <a:srgbClr val="FFFFFF">
              <a:alpha val="10000"/>
            </a:srgbClr>
          </a:solidFill>
          <a:ln w="12700">
            <a:solidFill>
              <a:srgbClr val="FFFFFF">
                <a:alpha val="50000"/>
              </a:srgbClr>
            </a:solidFill>
            <a:prstDash val="solid"/>
          </a:ln>
        </p:spPr>
      </p:sp>
      <p:sp>
        <p:nvSpPr>
          <p:cNvPr id="11" name="Text 8"/>
          <p:cNvSpPr txBox="1"/>
          <p:nvPr/>
        </p:nvSpPr>
        <p:spPr>
          <a:xfrm>
            <a:off x="4654296" y="2724912"/>
            <a:ext cx="2871216" cy="237744"/>
          </a:xfrm>
          <a:prstGeom prst="rect">
            <a:avLst/>
          </a:prstGeom>
          <a:noFill/>
          <a:ln/>
        </p:spPr>
        <p:txBody>
          <a:bodyPr wrap="square" lIns="0" tIns="0" rIns="0" bIns="0" rtlCol="0" anchor="ctr"/>
          <a:lstStyle/>
          <a:p>
            <a:pPr indent="0" marL="0">
              <a:buNone/>
            </a:pPr>
            <a:r>
              <a:rPr lang="en-US" sz="1000" b="1" spc="100" kern="0" dirty="0">
                <a:solidFill>
                  <a:srgbClr val="8FC1FF"/>
                </a:solidFill>
                <a:latin typeface="Arial" pitchFamily="34" charset="0"/>
                <a:ea typeface="Arial" pitchFamily="34" charset="-122"/>
                <a:cs typeface="Arial" pitchFamily="34" charset="-120"/>
              </a:rPr>
              <a:t>RISK SAYS</a:t>
            </a:r>
            <a:endParaRPr lang="en-US" sz="1000" dirty="0"/>
          </a:p>
        </p:txBody>
      </p:sp>
      <p:sp>
        <p:nvSpPr>
          <p:cNvPr id="12" name="Text 9"/>
          <p:cNvSpPr txBox="1"/>
          <p:nvPr/>
        </p:nvSpPr>
        <p:spPr>
          <a:xfrm>
            <a:off x="4654296" y="2999232"/>
            <a:ext cx="2871216" cy="658368"/>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38.7%</a:t>
            </a:r>
            <a:endParaRPr lang="en-US" sz="4000" dirty="0"/>
          </a:p>
        </p:txBody>
      </p:sp>
      <p:sp>
        <p:nvSpPr>
          <p:cNvPr id="13" name="Text 10"/>
          <p:cNvSpPr txBox="1"/>
          <p:nvPr/>
        </p:nvSpPr>
        <p:spPr>
          <a:xfrm>
            <a:off x="4654296" y="3712464"/>
            <a:ext cx="2871216" cy="640080"/>
          </a:xfrm>
          <a:prstGeom prst="rect">
            <a:avLst/>
          </a:prstGeom>
          <a:noFill/>
          <a:ln/>
        </p:spPr>
        <p:txBody>
          <a:bodyPr wrap="square" lIns="0" tIns="0" rIns="0" bIns="0" rtlCol="0" anchor="ctr"/>
          <a:lstStyle/>
          <a:p>
            <a:pPr indent="0" marL="0">
              <a:lnSpc>
                <a:spcPct val="112000"/>
              </a:lnSpc>
              <a:buNone/>
            </a:pPr>
            <a:r>
              <a:rPr lang="en-US" sz="1150" dirty="0">
                <a:solidFill>
                  <a:srgbClr val="C9D8F0"/>
                </a:solidFill>
                <a:latin typeface="Arial" pitchFamily="34" charset="0"/>
                <a:ea typeface="Arial" pitchFamily="34" charset="-122"/>
                <a:cs typeface="Arial" pitchFamily="34" charset="-120"/>
              </a:rPr>
              <a:t>test and duplicate applications stripped out first</a:t>
            </a:r>
            <a:endParaRPr lang="en-US" sz="1150" dirty="0"/>
          </a:p>
        </p:txBody>
      </p:sp>
      <p:sp>
        <p:nvSpPr>
          <p:cNvPr id="14" name="Shape 11"/>
          <p:cNvSpPr/>
          <p:nvPr/>
        </p:nvSpPr>
        <p:spPr>
          <a:xfrm>
            <a:off x="8119872" y="2542032"/>
            <a:ext cx="3419856" cy="1938528"/>
          </a:xfrm>
          <a:prstGeom prst="roundRect">
            <a:avLst>
              <a:gd name="adj" fmla="val 3774"/>
            </a:avLst>
          </a:prstGeom>
          <a:solidFill>
            <a:srgbClr val="FFFFFF">
              <a:alpha val="10000"/>
            </a:srgbClr>
          </a:solidFill>
          <a:ln w="12700">
            <a:solidFill>
              <a:srgbClr val="FFFFFF">
                <a:alpha val="50000"/>
              </a:srgbClr>
            </a:solidFill>
            <a:prstDash val="solid"/>
          </a:ln>
        </p:spPr>
      </p:sp>
      <p:sp>
        <p:nvSpPr>
          <p:cNvPr id="15" name="Text 12"/>
          <p:cNvSpPr txBox="1"/>
          <p:nvPr/>
        </p:nvSpPr>
        <p:spPr>
          <a:xfrm>
            <a:off x="8394192" y="2724912"/>
            <a:ext cx="2871216" cy="237744"/>
          </a:xfrm>
          <a:prstGeom prst="rect">
            <a:avLst/>
          </a:prstGeom>
          <a:noFill/>
          <a:ln/>
        </p:spPr>
        <p:txBody>
          <a:bodyPr wrap="square" lIns="0" tIns="0" rIns="0" bIns="0" rtlCol="0" anchor="ctr"/>
          <a:lstStyle/>
          <a:p>
            <a:pPr indent="0" marL="0">
              <a:buNone/>
            </a:pPr>
            <a:r>
              <a:rPr lang="en-US" sz="1000" b="1" spc="100" kern="0" dirty="0">
                <a:solidFill>
                  <a:srgbClr val="8FC1FF"/>
                </a:solidFill>
                <a:latin typeface="Arial" pitchFamily="34" charset="0"/>
                <a:ea typeface="Arial" pitchFamily="34" charset="-122"/>
                <a:cs typeface="Arial" pitchFamily="34" charset="-120"/>
              </a:rPr>
              <a:t>THE TEAM SAYS</a:t>
            </a:r>
            <a:endParaRPr lang="en-US" sz="1000" dirty="0"/>
          </a:p>
        </p:txBody>
      </p:sp>
      <p:sp>
        <p:nvSpPr>
          <p:cNvPr id="16" name="Text 13"/>
          <p:cNvSpPr txBox="1"/>
          <p:nvPr/>
        </p:nvSpPr>
        <p:spPr>
          <a:xfrm>
            <a:off x="8394192" y="2999232"/>
            <a:ext cx="2871216" cy="658368"/>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44.0%</a:t>
            </a:r>
            <a:endParaRPr lang="en-US" sz="4000" dirty="0"/>
          </a:p>
        </p:txBody>
      </p:sp>
      <p:sp>
        <p:nvSpPr>
          <p:cNvPr id="17" name="Text 14"/>
          <p:cNvSpPr txBox="1"/>
          <p:nvPr/>
        </p:nvSpPr>
        <p:spPr>
          <a:xfrm>
            <a:off x="8394192" y="3712464"/>
            <a:ext cx="2871216" cy="640080"/>
          </a:xfrm>
          <a:prstGeom prst="rect">
            <a:avLst/>
          </a:prstGeom>
          <a:noFill/>
          <a:ln/>
        </p:spPr>
        <p:txBody>
          <a:bodyPr wrap="square" lIns="0" tIns="0" rIns="0" bIns="0" rtlCol="0" anchor="ctr"/>
          <a:lstStyle/>
          <a:p>
            <a:pPr indent="0" marL="0">
              <a:lnSpc>
                <a:spcPct val="112000"/>
              </a:lnSpc>
              <a:buNone/>
            </a:pPr>
            <a:r>
              <a:rPr lang="en-US" sz="1150" dirty="0">
                <a:solidFill>
                  <a:srgbClr val="C9D8F0"/>
                </a:solidFill>
                <a:latin typeface="Arial" pitchFamily="34" charset="0"/>
                <a:ea typeface="Arial" pitchFamily="34" charset="-122"/>
                <a:cs typeface="Arial" pitchFamily="34" charset="-120"/>
              </a:rPr>
              <a:t>booked in the month, not applied for in the month</a:t>
            </a:r>
            <a:endParaRPr lang="en-US" sz="1150" dirty="0"/>
          </a:p>
        </p:txBody>
      </p:sp>
      <p:sp>
        <p:nvSpPr>
          <p:cNvPr id="18" name="Text 15"/>
          <p:cNvSpPr txBox="1"/>
          <p:nvPr/>
        </p:nvSpPr>
        <p:spPr>
          <a:xfrm>
            <a:off x="640080" y="4553712"/>
            <a:ext cx="3657600" cy="237744"/>
          </a:xfrm>
          <a:prstGeom prst="rect">
            <a:avLst/>
          </a:prstGeom>
          <a:noFill/>
          <a:ln/>
        </p:spPr>
        <p:txBody>
          <a:bodyPr wrap="square" lIns="0" tIns="0" rIns="0" bIns="0" rtlCol="0" anchor="ctr"/>
          <a:lstStyle/>
          <a:p>
            <a:pPr indent="0" marL="0">
              <a:buNone/>
            </a:pPr>
            <a:r>
              <a:rPr lang="en-US" sz="950" i="1" dirty="0">
                <a:solidFill>
                  <a:srgbClr val="8FB0E4"/>
                </a:solidFill>
                <a:latin typeface="Arial" pitchFamily="34" charset="0"/>
                <a:ea typeface="Arial" pitchFamily="34" charset="-122"/>
                <a:cs typeface="Arial" pitchFamily="34" charset="-120"/>
              </a:rPr>
              <a:t>Illustrative figures.</a:t>
            </a:r>
            <a:endParaRPr lang="en-US" sz="950" dirty="0"/>
          </a:p>
        </p:txBody>
      </p:sp>
      <p:sp>
        <p:nvSpPr>
          <p:cNvPr id="19" name="Text 16"/>
          <p:cNvSpPr txBox="1"/>
          <p:nvPr/>
        </p:nvSpPr>
        <p:spPr>
          <a:xfrm>
            <a:off x="640080" y="5120640"/>
            <a:ext cx="10881360" cy="457200"/>
          </a:xfrm>
          <a:prstGeom prst="rect">
            <a:avLst/>
          </a:prstGeom>
          <a:noFill/>
          <a:ln/>
        </p:spPr>
        <p:txBody>
          <a:bodyPr wrap="square" lIns="0" tIns="0" rIns="0" bIns="0" rtlCol="0" anchor="ctr"/>
          <a:lstStyle/>
          <a:p>
            <a:pPr indent="0" marL="0">
              <a:buNone/>
            </a:pPr>
            <a:r>
              <a:rPr lang="en-US" sz="1600" dirty="0">
                <a:solidFill>
                  <a:srgbClr val="8FB0E4"/>
                </a:solidFill>
                <a:latin typeface="Arial" pitchFamily="34" charset="0"/>
                <a:ea typeface="Arial" pitchFamily="34" charset="-122"/>
                <a:cs typeface="Arial" pitchFamily="34" charset="-120"/>
              </a:rPr>
              <a:t>Nobody here is wrong. </a:t>
            </a:r>
            <a:pPr indent="0" marL="0">
              <a:buNone/>
            </a:pPr>
            <a:r>
              <a:rPr lang="en-US" sz="1600" b="1" dirty="0">
                <a:solidFill>
                  <a:srgbClr val="FFFFFF"/>
                </a:solidFill>
                <a:latin typeface="Arial" pitchFamily="34" charset="0"/>
                <a:ea typeface="Arial" pitchFamily="34" charset="-122"/>
                <a:cs typeface="Arial" pitchFamily="34" charset="-120"/>
              </a:rPr>
              <a:t>Each answer follows a different definition — and the difference was never written down.</a:t>
            </a:r>
            <a:endParaRPr lang="en-US" sz="1600" dirty="0"/>
          </a:p>
        </p:txBody>
      </p:sp>
      <p:sp>
        <p:nvSpPr>
          <p:cNvPr id="20" name="Text 17"/>
          <p:cNvSpPr txBox="1"/>
          <p:nvPr/>
        </p:nvSpPr>
        <p:spPr>
          <a:xfrm>
            <a:off x="640080" y="5669280"/>
            <a:ext cx="10881360" cy="365760"/>
          </a:xfrm>
          <a:prstGeom prst="rect">
            <a:avLst/>
          </a:prstGeom>
          <a:noFill/>
          <a:ln/>
        </p:spPr>
        <p:txBody>
          <a:bodyPr wrap="square" lIns="0" tIns="0" rIns="0" bIns="0" rtlCol="0" anchor="ctr"/>
          <a:lstStyle/>
          <a:p>
            <a:pPr indent="0" marL="0">
              <a:buNone/>
            </a:pPr>
            <a:r>
              <a:rPr lang="en-US" sz="1350" dirty="0">
                <a:solidFill>
                  <a:srgbClr val="C9D8F0"/>
                </a:solidFill>
                <a:latin typeface="Arial" pitchFamily="34" charset="0"/>
                <a:ea typeface="Arial" pitchFamily="34" charset="-122"/>
                <a:cs typeface="Arial" pitchFamily="34" charset="-120"/>
              </a:rPr>
              <a:t>So two days go into deciding whose number belongs in the deck. Every month. For every metric.</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84048"/>
            <a:ext cx="9509760" cy="237744"/>
          </a:xfrm>
          <a:prstGeom prst="rect">
            <a:avLst/>
          </a:prstGeom>
          <a:noFill/>
          <a:ln/>
        </p:spPr>
        <p:txBody>
          <a:bodyPr wrap="square" lIns="0" tIns="0" rIns="0" bIns="0" rtlCol="0" anchor="ctr"/>
          <a:lstStyle/>
          <a:p>
            <a:pPr indent="0" marL="0">
              <a:buNone/>
            </a:pPr>
            <a:r>
              <a:rPr lang="en-US" sz="1050" b="1" spc="90" kern="0" dirty="0">
                <a:solidFill>
                  <a:srgbClr val="016FD0"/>
                </a:solidFill>
                <a:latin typeface="Arial" pitchFamily="34" charset="0"/>
                <a:ea typeface="Arial" pitchFamily="34" charset="-122"/>
                <a:cs typeface="Arial" pitchFamily="34" charset="-120"/>
              </a:rPr>
              <a:t>WHY IT KEEPS HAPPENING</a:t>
            </a:r>
            <a:endParaRPr lang="en-US" sz="1050" dirty="0"/>
          </a:p>
        </p:txBody>
      </p:sp>
      <p:sp>
        <p:nvSpPr>
          <p:cNvPr id="3" name="Text 1"/>
          <p:cNvSpPr txBox="1"/>
          <p:nvPr/>
        </p:nvSpPr>
        <p:spPr>
          <a:xfrm>
            <a:off x="457200" y="658368"/>
            <a:ext cx="9509760" cy="548640"/>
          </a:xfrm>
          <a:prstGeom prst="rect">
            <a:avLst/>
          </a:prstGeom>
          <a:noFill/>
          <a:ln/>
        </p:spPr>
        <p:txBody>
          <a:bodyPr wrap="square" lIns="0" tIns="0" rIns="0" bIns="0" rtlCol="0" anchor="ctr"/>
          <a:lstStyle/>
          <a:p>
            <a:pPr indent="0" marL="0">
              <a:buNone/>
            </a:pPr>
            <a:r>
              <a:rPr lang="en-US" sz="2700" b="1" dirty="0">
                <a:solidFill>
                  <a:srgbClr val="002663"/>
                </a:solidFill>
                <a:latin typeface="Arial" pitchFamily="34" charset="0"/>
                <a:ea typeface="Arial" pitchFamily="34" charset="-122"/>
                <a:cs typeface="Arial" pitchFamily="34" charset="-120"/>
              </a:rPr>
              <a:t>Every org has already tried to fix this</a:t>
            </a:r>
            <a:endParaRPr lang="en-US" sz="2700" dirty="0"/>
          </a:p>
        </p:txBody>
      </p:sp>
      <p:sp>
        <p:nvSpPr>
          <p:cNvPr id="4" name="Text 2"/>
          <p:cNvSpPr txBox="1"/>
          <p:nvPr/>
        </p:nvSpPr>
        <p:spPr>
          <a:xfrm>
            <a:off x="457200" y="1243584"/>
            <a:ext cx="10424160" cy="365760"/>
          </a:xfrm>
          <a:prstGeom prst="rect">
            <a:avLst/>
          </a:prstGeom>
          <a:noFill/>
          <a:ln/>
        </p:spPr>
        <p:txBody>
          <a:bodyPr wrap="square" lIns="0" tIns="0" rIns="0" bIns="0" rtlCol="0" anchor="ctr"/>
          <a:lstStyle/>
          <a:p>
            <a:pPr indent="0" marL="0">
              <a:buNone/>
            </a:pPr>
            <a:r>
              <a:rPr lang="en-US" sz="1350" dirty="0">
                <a:solidFill>
                  <a:srgbClr val="1A2233"/>
                </a:solidFill>
                <a:latin typeface="Arial" pitchFamily="34" charset="0"/>
                <a:ea typeface="Arial" pitchFamily="34" charset="-122"/>
                <a:cs typeface="Arial" pitchFamily="34" charset="-120"/>
              </a:rPr>
              <a:t>A glossary. A wiki page. A note under the chart. They all work — for about a quarter.</a:t>
            </a:r>
            <a:endParaRPr lang="en-US" sz="1350" dirty="0"/>
          </a:p>
        </p:txBody>
      </p:sp>
      <p:sp>
        <p:nvSpPr>
          <p:cNvPr id="5" name="Shape 3"/>
          <p:cNvSpPr/>
          <p:nvPr/>
        </p:nvSpPr>
        <p:spPr>
          <a:xfrm>
            <a:off x="457200" y="1783080"/>
            <a:ext cx="3520440" cy="2798064"/>
          </a:xfrm>
          <a:prstGeom prst="roundRect">
            <a:avLst>
              <a:gd name="adj" fmla="val 1961"/>
            </a:avLst>
          </a:prstGeom>
          <a:solidFill>
            <a:srgbClr val="F7F9FB"/>
          </a:solidFill>
          <a:ln w="12700">
            <a:solidFill>
              <a:srgbClr val="DDE3EA"/>
            </a:solidFill>
            <a:prstDash val="solid"/>
          </a:ln>
          <a:effectLst>
            <a:outerShdw sx="100000" sy="100000" kx="0" ky="0" algn="bl" rotWithShape="0" blurRad="114300" dist="25400" dir="5400000">
              <a:srgbClr val="7E8B9E">
                <a:alpha val="18000"/>
              </a:srgbClr>
            </a:outerShdw>
          </a:effectLst>
        </p:spPr>
      </p:sp>
      <p:sp>
        <p:nvSpPr>
          <p:cNvPr id="6" name="Shape 4"/>
          <p:cNvSpPr/>
          <p:nvPr/>
        </p:nvSpPr>
        <p:spPr>
          <a:xfrm>
            <a:off x="713232" y="2002536"/>
            <a:ext cx="475488" cy="475488"/>
          </a:xfrm>
          <a:prstGeom prst="ellipse">
            <a:avLst/>
          </a:prstGeom>
          <a:solidFill>
            <a:srgbClr val="DCE7F7"/>
          </a:solidFill>
          <a:ln w="12700">
            <a:solidFill>
              <a:srgbClr val="C9D8F0"/>
            </a:solidFill>
            <a:prstDash val="solid"/>
          </a:ln>
        </p:spPr>
      </p:sp>
      <p:pic>
        <p:nvPicPr>
          <p:cNvPr id="7" name="Image 0" descr="icons/book-blue.png">    </p:cNvPr>
          <p:cNvPicPr>
            <a:picLocks noChangeAspect="1"/>
          </p:cNvPicPr>
          <p:nvPr/>
        </p:nvPicPr>
        <p:blipFill>
          <a:blip r:embed="rId1"/>
          <a:stretch>
            <a:fillRect/>
          </a:stretch>
        </p:blipFill>
        <p:spPr>
          <a:xfrm>
            <a:off x="836859" y="2126163"/>
            <a:ext cx="228234" cy="228234"/>
          </a:xfrm>
          <a:prstGeom prst="rect">
            <a:avLst/>
          </a:prstGeom>
        </p:spPr>
      </p:pic>
      <p:sp>
        <p:nvSpPr>
          <p:cNvPr id="8" name="Text 5"/>
          <p:cNvSpPr txBox="1"/>
          <p:nvPr/>
        </p:nvSpPr>
        <p:spPr>
          <a:xfrm>
            <a:off x="713232" y="2587752"/>
            <a:ext cx="3008376" cy="365760"/>
          </a:xfrm>
          <a:prstGeom prst="rect">
            <a:avLst/>
          </a:prstGeom>
          <a:noFill/>
          <a:ln/>
        </p:spPr>
        <p:txBody>
          <a:bodyPr wrap="square" lIns="0" tIns="0" rIns="0" bIns="0" rtlCol="0" anchor="ctr"/>
          <a:lstStyle/>
          <a:p>
            <a:pPr indent="0" marL="0">
              <a:buNone/>
            </a:pPr>
            <a:r>
              <a:rPr lang="en-US" sz="1700" b="1" dirty="0">
                <a:solidFill>
                  <a:srgbClr val="002663"/>
                </a:solidFill>
                <a:latin typeface="Arial" pitchFamily="34" charset="0"/>
                <a:ea typeface="Arial" pitchFamily="34" charset="-122"/>
                <a:cs typeface="Arial" pitchFamily="34" charset="-120"/>
              </a:rPr>
              <a:t>The glossary</a:t>
            </a:r>
            <a:endParaRPr lang="en-US" sz="1700" dirty="0"/>
          </a:p>
        </p:txBody>
      </p:sp>
      <p:sp>
        <p:nvSpPr>
          <p:cNvPr id="9" name="Text 6"/>
          <p:cNvSpPr txBox="1"/>
          <p:nvPr/>
        </p:nvSpPr>
        <p:spPr>
          <a:xfrm>
            <a:off x="713232" y="3026664"/>
            <a:ext cx="3008376" cy="1051560"/>
          </a:xfrm>
          <a:prstGeom prst="rect">
            <a:avLst/>
          </a:prstGeom>
          <a:noFill/>
          <a:ln/>
        </p:spPr>
        <p:txBody>
          <a:bodyPr wrap="square" lIns="0" tIns="0" rIns="0" bIns="0" rtlCol="0" anchor="t"/>
          <a:lstStyle/>
          <a:p>
            <a:pPr indent="0" marL="0">
              <a:lnSpc>
                <a:spcPct val="112000"/>
              </a:lnSpc>
              <a:spcAft>
                <a:spcPts val="900"/>
              </a:spcAft>
              <a:buNone/>
            </a:pPr>
            <a:r>
              <a:rPr lang="en-US" sz="1200" dirty="0">
                <a:solidFill>
                  <a:srgbClr val="1A2233"/>
                </a:solidFill>
                <a:latin typeface="Arial" pitchFamily="34" charset="0"/>
                <a:ea typeface="Arial" pitchFamily="34" charset="-122"/>
                <a:cs typeface="Arial" pitchFamily="34" charset="-120"/>
              </a:rPr>
              <a:t>Promised one agreed vocabulary for the business.</a:t>
            </a:r>
            <a:endParaRPr lang="en-US" sz="1200" dirty="0"/>
          </a:p>
          <a:p>
            <a:pPr indent="0" marL="0">
              <a:lnSpc>
                <a:spcPct val="112000"/>
              </a:lnSpc>
              <a:spcAft>
                <a:spcPts val="900"/>
              </a:spcAft>
              <a:buNone/>
            </a:pPr>
            <a:r>
              <a:rPr lang="en-US" sz="1200" dirty="0">
                <a:solidFill>
                  <a:srgbClr val="1A2233"/>
                </a:solidFill>
                <a:latin typeface="Arial" pitchFamily="34" charset="0"/>
                <a:ea typeface="Arial" pitchFamily="34" charset="-122"/>
                <a:cs typeface="Arial" pitchFamily="34" charset="-120"/>
              </a:rPr>
              <a:t>Drifts because somebody has to maintain it by hand, and it is nobody's actual job.</a:t>
            </a:r>
            <a:endParaRPr lang="en-US" sz="1200" dirty="0"/>
          </a:p>
        </p:txBody>
      </p:sp>
      <p:sp>
        <p:nvSpPr>
          <p:cNvPr id="10" name="Text 7"/>
          <p:cNvSpPr txBox="1"/>
          <p:nvPr/>
        </p:nvSpPr>
        <p:spPr>
          <a:xfrm>
            <a:off x="713232" y="4142232"/>
            <a:ext cx="3008376" cy="310896"/>
          </a:xfrm>
          <a:prstGeom prst="rect">
            <a:avLst/>
          </a:prstGeom>
          <a:noFill/>
          <a:ln/>
        </p:spPr>
        <p:txBody>
          <a:bodyPr wrap="square" lIns="0" tIns="0" rIns="0" bIns="0" rtlCol="0" anchor="ctr"/>
          <a:lstStyle/>
          <a:p>
            <a:pPr indent="0" marL="0">
              <a:buNone/>
            </a:pPr>
            <a:r>
              <a:rPr lang="en-US" sz="1000" i="1" dirty="0">
                <a:solidFill>
                  <a:srgbClr val="5A6472"/>
                </a:solidFill>
                <a:latin typeface="Arial" pitchFamily="34" charset="0"/>
                <a:ea typeface="Arial" pitchFamily="34" charset="-122"/>
                <a:cs typeface="Arial" pitchFamily="34" charset="-120"/>
              </a:rPr>
              <a:t>abandoned by the second quarter</a:t>
            </a:r>
            <a:endParaRPr lang="en-US" sz="1000" dirty="0"/>
          </a:p>
        </p:txBody>
      </p:sp>
      <p:sp>
        <p:nvSpPr>
          <p:cNvPr id="11" name="Shape 8"/>
          <p:cNvSpPr/>
          <p:nvPr/>
        </p:nvSpPr>
        <p:spPr>
          <a:xfrm>
            <a:off x="4219956" y="1783080"/>
            <a:ext cx="3520440" cy="2798064"/>
          </a:xfrm>
          <a:prstGeom prst="roundRect">
            <a:avLst>
              <a:gd name="adj" fmla="val 1961"/>
            </a:avLst>
          </a:prstGeom>
          <a:solidFill>
            <a:srgbClr val="F7F9FB"/>
          </a:solidFill>
          <a:ln w="12700">
            <a:solidFill>
              <a:srgbClr val="DDE3EA"/>
            </a:solidFill>
            <a:prstDash val="solid"/>
          </a:ln>
          <a:effectLst>
            <a:outerShdw sx="100000" sy="100000" kx="0" ky="0" algn="bl" rotWithShape="0" blurRad="114300" dist="25400" dir="5400000">
              <a:srgbClr val="7E8B9E">
                <a:alpha val="18000"/>
              </a:srgbClr>
            </a:outerShdw>
          </a:effectLst>
        </p:spPr>
      </p:sp>
      <p:sp>
        <p:nvSpPr>
          <p:cNvPr id="12" name="Shape 9"/>
          <p:cNvSpPr/>
          <p:nvPr/>
        </p:nvSpPr>
        <p:spPr>
          <a:xfrm>
            <a:off x="4475988" y="2002536"/>
            <a:ext cx="475488" cy="475488"/>
          </a:xfrm>
          <a:prstGeom prst="ellipse">
            <a:avLst/>
          </a:prstGeom>
          <a:solidFill>
            <a:srgbClr val="DCE7F7"/>
          </a:solidFill>
          <a:ln w="12700">
            <a:solidFill>
              <a:srgbClr val="C9D8F0"/>
            </a:solidFill>
            <a:prstDash val="solid"/>
          </a:ln>
        </p:spPr>
      </p:sp>
      <p:pic>
        <p:nvPicPr>
          <p:cNvPr id="13" name="Image 1" descr="icons/wiki-blue.png">    </p:cNvPr>
          <p:cNvPicPr>
            <a:picLocks noChangeAspect="1"/>
          </p:cNvPicPr>
          <p:nvPr/>
        </p:nvPicPr>
        <p:blipFill>
          <a:blip r:embed="rId2"/>
          <a:stretch>
            <a:fillRect/>
          </a:stretch>
        </p:blipFill>
        <p:spPr>
          <a:xfrm>
            <a:off x="4599615" y="2126163"/>
            <a:ext cx="228234" cy="228234"/>
          </a:xfrm>
          <a:prstGeom prst="rect">
            <a:avLst/>
          </a:prstGeom>
        </p:spPr>
      </p:pic>
      <p:sp>
        <p:nvSpPr>
          <p:cNvPr id="14" name="Text 10"/>
          <p:cNvSpPr txBox="1"/>
          <p:nvPr/>
        </p:nvSpPr>
        <p:spPr>
          <a:xfrm>
            <a:off x="4475988" y="2587752"/>
            <a:ext cx="3008376" cy="365760"/>
          </a:xfrm>
          <a:prstGeom prst="rect">
            <a:avLst/>
          </a:prstGeom>
          <a:noFill/>
          <a:ln/>
        </p:spPr>
        <p:txBody>
          <a:bodyPr wrap="square" lIns="0" tIns="0" rIns="0" bIns="0" rtlCol="0" anchor="ctr"/>
          <a:lstStyle/>
          <a:p>
            <a:pPr indent="0" marL="0">
              <a:buNone/>
            </a:pPr>
            <a:r>
              <a:rPr lang="en-US" sz="1700" b="1" dirty="0">
                <a:solidFill>
                  <a:srgbClr val="002663"/>
                </a:solidFill>
                <a:latin typeface="Arial" pitchFamily="34" charset="0"/>
                <a:ea typeface="Arial" pitchFamily="34" charset="-122"/>
                <a:cs typeface="Arial" pitchFamily="34" charset="-120"/>
              </a:rPr>
              <a:t>The wiki page</a:t>
            </a:r>
            <a:endParaRPr lang="en-US" sz="1700" dirty="0"/>
          </a:p>
        </p:txBody>
      </p:sp>
      <p:sp>
        <p:nvSpPr>
          <p:cNvPr id="15" name="Text 11"/>
          <p:cNvSpPr txBox="1"/>
          <p:nvPr/>
        </p:nvSpPr>
        <p:spPr>
          <a:xfrm>
            <a:off x="4475988" y="3026664"/>
            <a:ext cx="3008376" cy="1051560"/>
          </a:xfrm>
          <a:prstGeom prst="rect">
            <a:avLst/>
          </a:prstGeom>
          <a:noFill/>
          <a:ln/>
        </p:spPr>
        <p:txBody>
          <a:bodyPr wrap="square" lIns="0" tIns="0" rIns="0" bIns="0" rtlCol="0" anchor="t"/>
          <a:lstStyle/>
          <a:p>
            <a:pPr indent="0" marL="0">
              <a:lnSpc>
                <a:spcPct val="112000"/>
              </a:lnSpc>
              <a:spcAft>
                <a:spcPts val="900"/>
              </a:spcAft>
              <a:buNone/>
            </a:pPr>
            <a:r>
              <a:rPr lang="en-US" sz="1200" dirty="0">
                <a:solidFill>
                  <a:srgbClr val="1A2233"/>
                </a:solidFill>
                <a:latin typeface="Arial" pitchFamily="34" charset="0"/>
                <a:ea typeface="Arial" pitchFamily="34" charset="-122"/>
                <a:cs typeface="Arial" pitchFamily="34" charset="-120"/>
              </a:rPr>
              <a:t>Promised the context behind the number.</a:t>
            </a:r>
            <a:endParaRPr lang="en-US" sz="1200" dirty="0"/>
          </a:p>
          <a:p>
            <a:pPr indent="0" marL="0">
              <a:lnSpc>
                <a:spcPct val="112000"/>
              </a:lnSpc>
              <a:spcAft>
                <a:spcPts val="900"/>
              </a:spcAft>
              <a:buNone/>
            </a:pPr>
            <a:r>
              <a:rPr lang="en-US" sz="1200" dirty="0">
                <a:solidFill>
                  <a:srgbClr val="1A2233"/>
                </a:solidFill>
                <a:latin typeface="Arial" pitchFamily="34" charset="0"/>
                <a:ea typeface="Arial" pitchFamily="34" charset="-122"/>
                <a:cs typeface="Arial" pitchFamily="34" charset="-120"/>
              </a:rPr>
              <a:t>Drifts because it sits beside the warehouse, not inside it — nothing ever checks it against the data.</a:t>
            </a:r>
            <a:endParaRPr lang="en-US" sz="1200" dirty="0"/>
          </a:p>
        </p:txBody>
      </p:sp>
      <p:sp>
        <p:nvSpPr>
          <p:cNvPr id="16" name="Text 12"/>
          <p:cNvSpPr txBox="1"/>
          <p:nvPr/>
        </p:nvSpPr>
        <p:spPr>
          <a:xfrm>
            <a:off x="4475988" y="4142232"/>
            <a:ext cx="3008376" cy="310896"/>
          </a:xfrm>
          <a:prstGeom prst="rect">
            <a:avLst/>
          </a:prstGeom>
          <a:noFill/>
          <a:ln/>
        </p:spPr>
        <p:txBody>
          <a:bodyPr wrap="square" lIns="0" tIns="0" rIns="0" bIns="0" rtlCol="0" anchor="ctr"/>
          <a:lstStyle/>
          <a:p>
            <a:pPr indent="0" marL="0">
              <a:buNone/>
            </a:pPr>
            <a:r>
              <a:rPr lang="en-US" sz="1000" i="1" dirty="0">
                <a:solidFill>
                  <a:srgbClr val="5A6472"/>
                </a:solidFill>
                <a:latin typeface="Arial" pitchFamily="34" charset="0"/>
                <a:ea typeface="Arial" pitchFamily="34" charset="-122"/>
                <a:cs typeface="Arial" pitchFamily="34" charset="-120"/>
              </a:rPr>
              <a:t>right when written, stale by spring</a:t>
            </a:r>
            <a:endParaRPr lang="en-US" sz="1000" dirty="0"/>
          </a:p>
        </p:txBody>
      </p:sp>
      <p:sp>
        <p:nvSpPr>
          <p:cNvPr id="17" name="Shape 13"/>
          <p:cNvSpPr/>
          <p:nvPr/>
        </p:nvSpPr>
        <p:spPr>
          <a:xfrm>
            <a:off x="7982712" y="1783080"/>
            <a:ext cx="3520440" cy="2798064"/>
          </a:xfrm>
          <a:prstGeom prst="roundRect">
            <a:avLst>
              <a:gd name="adj" fmla="val 1961"/>
            </a:avLst>
          </a:prstGeom>
          <a:solidFill>
            <a:srgbClr val="F7F9FB"/>
          </a:solidFill>
          <a:ln w="12700">
            <a:solidFill>
              <a:srgbClr val="DDE3EA"/>
            </a:solidFill>
            <a:prstDash val="solid"/>
          </a:ln>
          <a:effectLst>
            <a:outerShdw sx="100000" sy="100000" kx="0" ky="0" algn="bl" rotWithShape="0" blurRad="114300" dist="25400" dir="5400000">
              <a:srgbClr val="7E8B9E">
                <a:alpha val="18000"/>
              </a:srgbClr>
            </a:outerShdw>
          </a:effectLst>
        </p:spPr>
      </p:sp>
      <p:sp>
        <p:nvSpPr>
          <p:cNvPr id="18" name="Shape 14"/>
          <p:cNvSpPr/>
          <p:nvPr/>
        </p:nvSpPr>
        <p:spPr>
          <a:xfrm>
            <a:off x="8238744" y="2002536"/>
            <a:ext cx="475488" cy="475488"/>
          </a:xfrm>
          <a:prstGeom prst="ellipse">
            <a:avLst/>
          </a:prstGeom>
          <a:solidFill>
            <a:srgbClr val="DCE7F7"/>
          </a:solidFill>
          <a:ln w="12700">
            <a:solidFill>
              <a:srgbClr val="C9D8F0"/>
            </a:solidFill>
            <a:prstDash val="solid"/>
          </a:ln>
        </p:spPr>
      </p:sp>
      <p:pic>
        <p:nvPicPr>
          <p:cNvPr id="19" name="Image 2" descr="icons/chartnote-blue.png">    </p:cNvPr>
          <p:cNvPicPr>
            <a:picLocks noChangeAspect="1"/>
          </p:cNvPicPr>
          <p:nvPr/>
        </p:nvPicPr>
        <p:blipFill>
          <a:blip r:embed="rId3"/>
          <a:stretch>
            <a:fillRect/>
          </a:stretch>
        </p:blipFill>
        <p:spPr>
          <a:xfrm>
            <a:off x="8362371" y="2126163"/>
            <a:ext cx="228234" cy="228234"/>
          </a:xfrm>
          <a:prstGeom prst="rect">
            <a:avLst/>
          </a:prstGeom>
        </p:spPr>
      </p:pic>
      <p:sp>
        <p:nvSpPr>
          <p:cNvPr id="20" name="Text 15"/>
          <p:cNvSpPr txBox="1"/>
          <p:nvPr/>
        </p:nvSpPr>
        <p:spPr>
          <a:xfrm>
            <a:off x="8238744" y="2587752"/>
            <a:ext cx="3008376" cy="365760"/>
          </a:xfrm>
          <a:prstGeom prst="rect">
            <a:avLst/>
          </a:prstGeom>
          <a:noFill/>
          <a:ln/>
        </p:spPr>
        <p:txBody>
          <a:bodyPr wrap="square" lIns="0" tIns="0" rIns="0" bIns="0" rtlCol="0" anchor="ctr"/>
          <a:lstStyle/>
          <a:p>
            <a:pPr indent="0" marL="0">
              <a:buNone/>
            </a:pPr>
            <a:r>
              <a:rPr lang="en-US" sz="1700" b="1" dirty="0">
                <a:solidFill>
                  <a:srgbClr val="002663"/>
                </a:solidFill>
                <a:latin typeface="Arial" pitchFamily="34" charset="0"/>
                <a:ea typeface="Arial" pitchFamily="34" charset="-122"/>
                <a:cs typeface="Arial" pitchFamily="34" charset="-120"/>
              </a:rPr>
              <a:t>The note under the chart</a:t>
            </a:r>
            <a:endParaRPr lang="en-US" sz="1700" dirty="0"/>
          </a:p>
        </p:txBody>
      </p:sp>
      <p:sp>
        <p:nvSpPr>
          <p:cNvPr id="21" name="Text 16"/>
          <p:cNvSpPr txBox="1"/>
          <p:nvPr/>
        </p:nvSpPr>
        <p:spPr>
          <a:xfrm>
            <a:off x="8238744" y="3026664"/>
            <a:ext cx="3008376" cy="1051560"/>
          </a:xfrm>
          <a:prstGeom prst="rect">
            <a:avLst/>
          </a:prstGeom>
          <a:noFill/>
          <a:ln/>
        </p:spPr>
        <p:txBody>
          <a:bodyPr wrap="square" lIns="0" tIns="0" rIns="0" bIns="0" rtlCol="0" anchor="t"/>
          <a:lstStyle/>
          <a:p>
            <a:pPr indent="0" marL="0">
              <a:lnSpc>
                <a:spcPct val="112000"/>
              </a:lnSpc>
              <a:spcAft>
                <a:spcPts val="900"/>
              </a:spcAft>
              <a:buNone/>
            </a:pPr>
            <a:r>
              <a:rPr lang="en-US" sz="1200" dirty="0">
                <a:solidFill>
                  <a:srgbClr val="1A2233"/>
                </a:solidFill>
                <a:latin typeface="Arial" pitchFamily="34" charset="0"/>
                <a:ea typeface="Arial" pitchFamily="34" charset="-122"/>
                <a:cs typeface="Arial" pitchFamily="34" charset="-120"/>
              </a:rPr>
              <a:t>Promised the definition where the number actually is.</a:t>
            </a:r>
            <a:endParaRPr lang="en-US" sz="1200" dirty="0"/>
          </a:p>
          <a:p>
            <a:pPr indent="0" marL="0">
              <a:lnSpc>
                <a:spcPct val="112000"/>
              </a:lnSpc>
              <a:spcAft>
                <a:spcPts val="900"/>
              </a:spcAft>
              <a:buNone/>
            </a:pPr>
            <a:r>
              <a:rPr lang="en-US" sz="1200" dirty="0">
                <a:solidFill>
                  <a:srgbClr val="1A2233"/>
                </a:solidFill>
                <a:latin typeface="Arial" pitchFamily="34" charset="0"/>
                <a:ea typeface="Arial" pitchFamily="34" charset="-122"/>
                <a:cs typeface="Arial" pitchFamily="34" charset="-120"/>
              </a:rPr>
              <a:t>Drifts because it describes one chart, and the next chart starts the argument again.</a:t>
            </a:r>
            <a:endParaRPr lang="en-US" sz="1200" dirty="0"/>
          </a:p>
        </p:txBody>
      </p:sp>
      <p:sp>
        <p:nvSpPr>
          <p:cNvPr id="22" name="Text 17"/>
          <p:cNvSpPr txBox="1"/>
          <p:nvPr/>
        </p:nvSpPr>
        <p:spPr>
          <a:xfrm>
            <a:off x="8238744" y="4142232"/>
            <a:ext cx="3008376" cy="310896"/>
          </a:xfrm>
          <a:prstGeom prst="rect">
            <a:avLst/>
          </a:prstGeom>
          <a:noFill/>
          <a:ln/>
        </p:spPr>
        <p:txBody>
          <a:bodyPr wrap="square" lIns="0" tIns="0" rIns="0" bIns="0" rtlCol="0" anchor="ctr"/>
          <a:lstStyle/>
          <a:p>
            <a:pPr indent="0" marL="0">
              <a:buNone/>
            </a:pPr>
            <a:r>
              <a:rPr lang="en-US" sz="1000" i="1" dirty="0">
                <a:solidFill>
                  <a:srgbClr val="5A6472"/>
                </a:solidFill>
                <a:latin typeface="Arial" pitchFamily="34" charset="0"/>
                <a:ea typeface="Arial" pitchFamily="34" charset="-122"/>
                <a:cs typeface="Arial" pitchFamily="34" charset="-120"/>
              </a:rPr>
              <a:t>true, and it does not travel</a:t>
            </a:r>
            <a:endParaRPr lang="en-US" sz="1000" dirty="0"/>
          </a:p>
        </p:txBody>
      </p:sp>
      <p:sp>
        <p:nvSpPr>
          <p:cNvPr id="23" name="Shape 18"/>
          <p:cNvSpPr/>
          <p:nvPr/>
        </p:nvSpPr>
        <p:spPr>
          <a:xfrm>
            <a:off x="457200" y="4773168"/>
            <a:ext cx="11274552" cy="841248"/>
          </a:xfrm>
          <a:prstGeom prst="roundRect">
            <a:avLst>
              <a:gd name="adj" fmla="val 6522"/>
            </a:avLst>
          </a:prstGeom>
          <a:solidFill>
            <a:srgbClr val="F8F0E3"/>
          </a:solidFill>
          <a:ln w="12700">
            <a:solidFill>
              <a:srgbClr val="D8A94E"/>
            </a:solidFill>
            <a:prstDash val="solid"/>
          </a:ln>
        </p:spPr>
      </p:sp>
      <p:sp>
        <p:nvSpPr>
          <p:cNvPr id="24" name="Text 19"/>
          <p:cNvSpPr txBox="1"/>
          <p:nvPr/>
        </p:nvSpPr>
        <p:spPr>
          <a:xfrm>
            <a:off x="685800" y="4974336"/>
            <a:ext cx="1371600" cy="274320"/>
          </a:xfrm>
          <a:prstGeom prst="rect">
            <a:avLst/>
          </a:prstGeom>
          <a:noFill/>
          <a:ln/>
        </p:spPr>
        <p:txBody>
          <a:bodyPr wrap="square" lIns="0" tIns="0" rIns="0" bIns="0" rtlCol="0" anchor="ctr"/>
          <a:lstStyle/>
          <a:p>
            <a:pPr indent="0" marL="0">
              <a:buNone/>
            </a:pPr>
            <a:r>
              <a:rPr lang="en-US" sz="1050" b="1" spc="60" kern="0" dirty="0">
                <a:solidFill>
                  <a:srgbClr val="B26A00"/>
                </a:solidFill>
                <a:latin typeface="Arial" pitchFamily="34" charset="0"/>
                <a:ea typeface="Arial" pitchFamily="34" charset="-122"/>
                <a:cs typeface="Arial" pitchFamily="34" charset="-120"/>
              </a:rPr>
              <a:t>THE PATTERN</a:t>
            </a:r>
            <a:endParaRPr lang="en-US" sz="1050" dirty="0"/>
          </a:p>
        </p:txBody>
      </p:sp>
      <p:sp>
        <p:nvSpPr>
          <p:cNvPr id="25" name="Text 20"/>
          <p:cNvSpPr txBox="1"/>
          <p:nvPr/>
        </p:nvSpPr>
        <p:spPr>
          <a:xfrm>
            <a:off x="2194560" y="4937760"/>
            <a:ext cx="9326880" cy="530352"/>
          </a:xfrm>
          <a:prstGeom prst="rect">
            <a:avLst/>
          </a:prstGeom>
          <a:noFill/>
          <a:ln/>
        </p:spPr>
        <p:txBody>
          <a:bodyPr wrap="square" lIns="0" tIns="0" rIns="0" bIns="0" rtlCol="0" anchor="ctr"/>
          <a:lstStyle/>
          <a:p>
            <a:pPr indent="0" marL="0">
              <a:buNone/>
            </a:pPr>
            <a:r>
              <a:rPr lang="en-US" sz="1250" dirty="0">
                <a:solidFill>
                  <a:srgbClr val="5A4A26"/>
                </a:solidFill>
                <a:latin typeface="Arial" pitchFamily="34" charset="0"/>
                <a:ea typeface="Arial" pitchFamily="34" charset="-122"/>
                <a:cs typeface="Arial" pitchFamily="34" charset="-120"/>
              </a:rPr>
              <a:t>Every one of them asks a human to write the meaning down a second time — so every one of them decays at exactly the speed the business changes.</a:t>
            </a:r>
            <a:endParaRPr lang="en-US" sz="1250" dirty="0"/>
          </a:p>
        </p:txBody>
      </p:sp>
      <p:sp>
        <p:nvSpPr>
          <p:cNvPr id="26" name="Text 21"/>
          <p:cNvSpPr txBox="1"/>
          <p:nvPr/>
        </p:nvSpPr>
        <p:spPr>
          <a:xfrm>
            <a:off x="457200" y="5797296"/>
            <a:ext cx="10881360" cy="457200"/>
          </a:xfrm>
          <a:prstGeom prst="rect">
            <a:avLst/>
          </a:prstGeom>
          <a:noFill/>
          <a:ln/>
        </p:spPr>
        <p:txBody>
          <a:bodyPr wrap="square" lIns="0" tIns="0" rIns="0" bIns="0" rtlCol="0" anchor="ctr"/>
          <a:lstStyle/>
          <a:p>
            <a:pPr indent="0" marL="0">
              <a:buNone/>
            </a:pPr>
            <a:r>
              <a:rPr lang="en-US" sz="1600" dirty="0">
                <a:solidFill>
                  <a:srgbClr val="5A6472"/>
                </a:solidFill>
                <a:latin typeface="Arial" pitchFamily="34" charset="0"/>
                <a:ea typeface="Arial" pitchFamily="34" charset="-122"/>
                <a:cs typeface="Arial" pitchFamily="34" charset="-120"/>
              </a:rPr>
              <a:t>Which leaves one question. </a:t>
            </a:r>
            <a:pPr indent="0" marL="0">
              <a:buNone/>
            </a:pPr>
            <a:r>
              <a:rPr lang="en-US" sz="1600" b="1" dirty="0">
                <a:solidFill>
                  <a:srgbClr val="002663"/>
                </a:solidFill>
                <a:latin typeface="Arial" pitchFamily="34" charset="0"/>
                <a:ea typeface="Arial" pitchFamily="34" charset="-122"/>
                <a:cs typeface="Arial" pitchFamily="34" charset="-120"/>
              </a:rPr>
              <a:t>What if nobody had to write it down at all?</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2663"/>
        </a:solidFill>
      </p:bgPr>
    </p:bg>
    <p:spTree>
      <p:nvGrpSpPr>
        <p:cNvPr id="1" name=""/>
        <p:cNvGrpSpPr/>
        <p:nvPr/>
      </p:nvGrpSpPr>
      <p:grpSpPr>
        <a:xfrm>
          <a:off x="0" y="0"/>
          <a:ext cx="0" cy="0"/>
          <a:chOff x="0" y="0"/>
          <a:chExt cx="0" cy="0"/>
        </a:xfrm>
      </p:grpSpPr>
      <p:pic>
        <p:nvPicPr>
          <p:cNvPr id="2" name="Image 0" descr="glyphs/radixgraphW.png">    </p:cNvPr>
          <p:cNvPicPr>
            <a:picLocks noChangeAspect="1"/>
          </p:cNvPicPr>
          <p:nvPr/>
        </p:nvPicPr>
        <p:blipFill>
          <a:blip r:embed="rId1">
            <a:alphaModFix amt="9000"/>
          </a:blip>
          <a:stretch>
            <a:fillRect/>
          </a:stretch>
        </p:blipFill>
        <p:spPr>
          <a:xfrm>
            <a:off x="8869680" y="2148840"/>
            <a:ext cx="5120640" cy="5120640"/>
          </a:xfrm>
          <a:prstGeom prst="rect">
            <a:avLst/>
          </a:prstGeom>
        </p:spPr>
      </p:pic>
      <p:sp>
        <p:nvSpPr>
          <p:cNvPr id="3" name="Text 0"/>
          <p:cNvSpPr txBox="1"/>
          <p:nvPr/>
        </p:nvSpPr>
        <p:spPr>
          <a:xfrm>
            <a:off x="640080" y="713232"/>
            <a:ext cx="8229600" cy="274320"/>
          </a:xfrm>
          <a:prstGeom prst="rect">
            <a:avLst/>
          </a:prstGeom>
          <a:noFill/>
          <a:ln/>
        </p:spPr>
        <p:txBody>
          <a:bodyPr wrap="square" lIns="0" tIns="0" rIns="0" bIns="0" rtlCol="0" anchor="ctr"/>
          <a:lstStyle/>
          <a:p>
            <a:pPr indent="0" marL="0">
              <a:buNone/>
            </a:pPr>
            <a:r>
              <a:rPr lang="en-US" sz="1050" b="1" spc="110" kern="0" dirty="0">
                <a:solidFill>
                  <a:srgbClr val="8FC1FF"/>
                </a:solidFill>
                <a:latin typeface="Arial" pitchFamily="34" charset="0"/>
                <a:ea typeface="Arial" pitchFamily="34" charset="-122"/>
                <a:cs typeface="Arial" pitchFamily="34" charset="-120"/>
              </a:rPr>
              <a:t>THE TURN</a:t>
            </a:r>
            <a:endParaRPr lang="en-US" sz="1050" dirty="0"/>
          </a:p>
        </p:txBody>
      </p:sp>
      <p:sp>
        <p:nvSpPr>
          <p:cNvPr id="4" name="Text 1"/>
          <p:cNvSpPr txBox="1"/>
          <p:nvPr/>
        </p:nvSpPr>
        <p:spPr>
          <a:xfrm>
            <a:off x="640080" y="1097280"/>
            <a:ext cx="10881360" cy="86868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It is already written down.</a:t>
            </a:r>
            <a:endParaRPr lang="en-US" sz="4400" dirty="0"/>
          </a:p>
        </p:txBody>
      </p:sp>
      <p:sp>
        <p:nvSpPr>
          <p:cNvPr id="5" name="Text 2"/>
          <p:cNvSpPr txBox="1"/>
          <p:nvPr/>
        </p:nvSpPr>
        <p:spPr>
          <a:xfrm>
            <a:off x="640080" y="2029968"/>
            <a:ext cx="8229600" cy="320040"/>
          </a:xfrm>
          <a:prstGeom prst="rect">
            <a:avLst/>
          </a:prstGeom>
          <a:noFill/>
          <a:ln/>
        </p:spPr>
        <p:txBody>
          <a:bodyPr wrap="square" lIns="0" tIns="0" rIns="0" bIns="0" rtlCol="0" anchor="ctr"/>
          <a:lstStyle/>
          <a:p>
            <a:pPr indent="0" marL="0">
              <a:buNone/>
            </a:pPr>
            <a:r>
              <a:rPr lang="en-US" sz="1500" dirty="0">
                <a:solidFill>
                  <a:srgbClr val="8FB0E4"/>
                </a:solidFill>
                <a:latin typeface="Arial" pitchFamily="34" charset="0"/>
                <a:ea typeface="Arial" pitchFamily="34" charset="-122"/>
                <a:cs typeface="Arial" pitchFamily="34" charset="-120"/>
              </a:rPr>
              <a:t>Just never in one place, and never as one thing.</a:t>
            </a:r>
            <a:endParaRPr lang="en-US" sz="1500" dirty="0"/>
          </a:p>
        </p:txBody>
      </p:sp>
      <p:sp>
        <p:nvSpPr>
          <p:cNvPr id="6" name="Shape 3"/>
          <p:cNvSpPr/>
          <p:nvPr/>
        </p:nvSpPr>
        <p:spPr>
          <a:xfrm>
            <a:off x="640080" y="2898648"/>
            <a:ext cx="201168" cy="50292"/>
          </a:xfrm>
          <a:prstGeom prst="rect">
            <a:avLst/>
          </a:prstGeom>
          <a:solidFill>
            <a:srgbClr val="016FD0"/>
          </a:solidFill>
          <a:ln w="6350">
            <a:solidFill>
              <a:srgbClr val="016FD0"/>
            </a:solidFill>
            <a:prstDash val="solid"/>
          </a:ln>
        </p:spPr>
      </p:sp>
      <p:sp>
        <p:nvSpPr>
          <p:cNvPr id="7" name="Text 4"/>
          <p:cNvSpPr txBox="1"/>
          <p:nvPr/>
        </p:nvSpPr>
        <p:spPr>
          <a:xfrm>
            <a:off x="987552" y="2743200"/>
            <a:ext cx="4206240"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The queries people already run</a:t>
            </a:r>
            <a:endParaRPr lang="en-US" sz="1450" dirty="0"/>
          </a:p>
        </p:txBody>
      </p:sp>
      <p:sp>
        <p:nvSpPr>
          <p:cNvPr id="8" name="Text 5"/>
          <p:cNvSpPr txBox="1"/>
          <p:nvPr/>
        </p:nvSpPr>
        <p:spPr>
          <a:xfrm>
            <a:off x="5349240" y="2761488"/>
            <a:ext cx="6126480" cy="292608"/>
          </a:xfrm>
          <a:prstGeom prst="rect">
            <a:avLst/>
          </a:prstGeom>
          <a:noFill/>
          <a:ln/>
        </p:spPr>
        <p:txBody>
          <a:bodyPr wrap="square" lIns="0" tIns="0" rIns="0" bIns="0" rtlCol="0" anchor="ctr"/>
          <a:lstStyle/>
          <a:p>
            <a:pPr indent="0" marL="0">
              <a:buNone/>
            </a:pPr>
            <a:r>
              <a:rPr lang="en-US" sz="1250" dirty="0">
                <a:solidFill>
                  <a:srgbClr val="C9D8F0"/>
                </a:solidFill>
                <a:latin typeface="Arial" pitchFamily="34" charset="0"/>
                <a:ea typeface="Arial" pitchFamily="34" charset="-122"/>
                <a:cs typeface="Arial" pitchFamily="34" charset="-120"/>
              </a:rPr>
              <a:t>every day, against the real tables</a:t>
            </a:r>
            <a:endParaRPr lang="en-US" sz="1250" dirty="0"/>
          </a:p>
        </p:txBody>
      </p:sp>
      <p:sp>
        <p:nvSpPr>
          <p:cNvPr id="9" name="Shape 6"/>
          <p:cNvSpPr/>
          <p:nvPr/>
        </p:nvSpPr>
        <p:spPr>
          <a:xfrm>
            <a:off x="640080" y="3557016"/>
            <a:ext cx="201168" cy="50292"/>
          </a:xfrm>
          <a:prstGeom prst="rect">
            <a:avLst/>
          </a:prstGeom>
          <a:solidFill>
            <a:srgbClr val="016FD0"/>
          </a:solidFill>
          <a:ln w="6350">
            <a:solidFill>
              <a:srgbClr val="016FD0"/>
            </a:solidFill>
            <a:prstDash val="solid"/>
          </a:ln>
        </p:spPr>
      </p:sp>
      <p:sp>
        <p:nvSpPr>
          <p:cNvPr id="10" name="Text 7"/>
          <p:cNvSpPr txBox="1"/>
          <p:nvPr/>
        </p:nvSpPr>
        <p:spPr>
          <a:xfrm>
            <a:off x="987552" y="3401568"/>
            <a:ext cx="4206240"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The playbooks analysts wrote</a:t>
            </a:r>
            <a:endParaRPr lang="en-US" sz="1450" dirty="0"/>
          </a:p>
        </p:txBody>
      </p:sp>
      <p:sp>
        <p:nvSpPr>
          <p:cNvPr id="11" name="Text 8"/>
          <p:cNvSpPr txBox="1"/>
          <p:nvPr/>
        </p:nvSpPr>
        <p:spPr>
          <a:xfrm>
            <a:off x="5349240" y="3419856"/>
            <a:ext cx="6126480" cy="292608"/>
          </a:xfrm>
          <a:prstGeom prst="rect">
            <a:avLst/>
          </a:prstGeom>
          <a:noFill/>
          <a:ln/>
        </p:spPr>
        <p:txBody>
          <a:bodyPr wrap="square" lIns="0" tIns="0" rIns="0" bIns="0" rtlCol="0" anchor="ctr"/>
          <a:lstStyle/>
          <a:p>
            <a:pPr indent="0" marL="0">
              <a:buNone/>
            </a:pPr>
            <a:r>
              <a:rPr lang="en-US" sz="1250" dirty="0">
                <a:solidFill>
                  <a:srgbClr val="C9D8F0"/>
                </a:solidFill>
                <a:latin typeface="Arial" pitchFamily="34" charset="0"/>
                <a:ea typeface="Arial" pitchFamily="34" charset="-122"/>
                <a:cs typeface="Arial" pitchFamily="34" charset="-120"/>
              </a:rPr>
              <a:t>for the questions that come back every month</a:t>
            </a:r>
            <a:endParaRPr lang="en-US" sz="1250" dirty="0"/>
          </a:p>
        </p:txBody>
      </p:sp>
      <p:sp>
        <p:nvSpPr>
          <p:cNvPr id="12" name="Shape 9"/>
          <p:cNvSpPr/>
          <p:nvPr/>
        </p:nvSpPr>
        <p:spPr>
          <a:xfrm>
            <a:off x="640080" y="4215384"/>
            <a:ext cx="201168" cy="50292"/>
          </a:xfrm>
          <a:prstGeom prst="rect">
            <a:avLst/>
          </a:prstGeom>
          <a:solidFill>
            <a:srgbClr val="016FD0"/>
          </a:solidFill>
          <a:ln w="6350">
            <a:solidFill>
              <a:srgbClr val="016FD0"/>
            </a:solidFill>
            <a:prstDash val="solid"/>
          </a:ln>
        </p:spPr>
      </p:sp>
      <p:sp>
        <p:nvSpPr>
          <p:cNvPr id="13" name="Text 10"/>
          <p:cNvSpPr txBox="1"/>
          <p:nvPr/>
        </p:nvSpPr>
        <p:spPr>
          <a:xfrm>
            <a:off x="987552" y="4059936"/>
            <a:ext cx="4206240"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The catalogs already certified</a:t>
            </a:r>
            <a:endParaRPr lang="en-US" sz="1450" dirty="0"/>
          </a:p>
        </p:txBody>
      </p:sp>
      <p:sp>
        <p:nvSpPr>
          <p:cNvPr id="14" name="Text 11"/>
          <p:cNvSpPr txBox="1"/>
          <p:nvPr/>
        </p:nvSpPr>
        <p:spPr>
          <a:xfrm>
            <a:off x="5349240" y="4078224"/>
            <a:ext cx="6126480" cy="292608"/>
          </a:xfrm>
          <a:prstGeom prst="rect">
            <a:avLst/>
          </a:prstGeom>
          <a:noFill/>
          <a:ln/>
        </p:spPr>
        <p:txBody>
          <a:bodyPr wrap="square" lIns="0" tIns="0" rIns="0" bIns="0" rtlCol="0" anchor="ctr"/>
          <a:lstStyle/>
          <a:p>
            <a:pPr indent="0" marL="0">
              <a:buNone/>
            </a:pPr>
            <a:r>
              <a:rPr lang="en-US" sz="1250" dirty="0">
                <a:solidFill>
                  <a:srgbClr val="C9D8F0"/>
                </a:solidFill>
                <a:latin typeface="Arial" pitchFamily="34" charset="0"/>
                <a:ea typeface="Arial" pitchFamily="34" charset="-122"/>
                <a:cs typeface="Arial" pitchFamily="34" charset="-120"/>
              </a:rPr>
              <a:t>the definitions somebody has signed for</a:t>
            </a:r>
            <a:endParaRPr lang="en-US" sz="1250" dirty="0"/>
          </a:p>
        </p:txBody>
      </p:sp>
      <p:sp>
        <p:nvSpPr>
          <p:cNvPr id="15" name="Shape 12"/>
          <p:cNvSpPr/>
          <p:nvPr/>
        </p:nvSpPr>
        <p:spPr>
          <a:xfrm>
            <a:off x="640080" y="4873752"/>
            <a:ext cx="201168" cy="50292"/>
          </a:xfrm>
          <a:prstGeom prst="rect">
            <a:avLst/>
          </a:prstGeom>
          <a:solidFill>
            <a:srgbClr val="016FD0"/>
          </a:solidFill>
          <a:ln w="6350">
            <a:solidFill>
              <a:srgbClr val="016FD0"/>
            </a:solidFill>
            <a:prstDash val="solid"/>
          </a:ln>
        </p:spPr>
      </p:sp>
      <p:sp>
        <p:nvSpPr>
          <p:cNvPr id="16" name="Text 13"/>
          <p:cNvSpPr txBox="1"/>
          <p:nvPr/>
        </p:nvSpPr>
        <p:spPr>
          <a:xfrm>
            <a:off x="987552" y="4718304"/>
            <a:ext cx="4206240"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The SQL behind numbers you trust</a:t>
            </a:r>
            <a:endParaRPr lang="en-US" sz="1450" dirty="0"/>
          </a:p>
        </p:txBody>
      </p:sp>
      <p:sp>
        <p:nvSpPr>
          <p:cNvPr id="17" name="Text 14"/>
          <p:cNvSpPr txBox="1"/>
          <p:nvPr/>
        </p:nvSpPr>
        <p:spPr>
          <a:xfrm>
            <a:off x="5349240" y="4736592"/>
            <a:ext cx="6126480" cy="292608"/>
          </a:xfrm>
          <a:prstGeom prst="rect">
            <a:avLst/>
          </a:prstGeom>
          <a:noFill/>
          <a:ln/>
        </p:spPr>
        <p:txBody>
          <a:bodyPr wrap="square" lIns="0" tIns="0" rIns="0" bIns="0" rtlCol="0" anchor="ctr"/>
          <a:lstStyle/>
          <a:p>
            <a:pPr indent="0" marL="0">
              <a:buNone/>
            </a:pPr>
            <a:r>
              <a:rPr lang="en-US" sz="1250" dirty="0">
                <a:solidFill>
                  <a:srgbClr val="C9D8F0"/>
                </a:solidFill>
                <a:latin typeface="Arial" pitchFamily="34" charset="0"/>
                <a:ea typeface="Arial" pitchFamily="34" charset="-122"/>
                <a:cs typeface="Arial" pitchFamily="34" charset="-120"/>
              </a:rPr>
              <a:t>the ones that already go in the board pack</a:t>
            </a:r>
            <a:endParaRPr lang="en-US" sz="1250" dirty="0"/>
          </a:p>
        </p:txBody>
      </p:sp>
      <p:sp>
        <p:nvSpPr>
          <p:cNvPr id="18" name="Text 15"/>
          <p:cNvSpPr txBox="1"/>
          <p:nvPr/>
        </p:nvSpPr>
        <p:spPr>
          <a:xfrm>
            <a:off x="640080" y="5468112"/>
            <a:ext cx="10881360" cy="457200"/>
          </a:xfrm>
          <a:prstGeom prst="rect">
            <a:avLst/>
          </a:prstGeom>
          <a:noFill/>
          <a:ln/>
        </p:spPr>
        <p:txBody>
          <a:bodyPr wrap="square" lIns="0" tIns="0" rIns="0" bIns="0" rtlCol="0" anchor="ctr"/>
          <a:lstStyle/>
          <a:p>
            <a:pPr indent="0" marL="0">
              <a:buNone/>
            </a:pPr>
            <a:r>
              <a:rPr lang="en-US" sz="1600" dirty="0">
                <a:solidFill>
                  <a:srgbClr val="8FB0E4"/>
                </a:solidFill>
                <a:latin typeface="Arial" pitchFamily="34" charset="0"/>
                <a:ea typeface="Arial" pitchFamily="34" charset="-122"/>
                <a:cs typeface="Arial" pitchFamily="34" charset="-120"/>
              </a:rPr>
              <a:t>The number was never the hard part. </a:t>
            </a:r>
            <a:pPr indent="0" marL="0">
              <a:buNone/>
            </a:pPr>
            <a:r>
              <a:rPr lang="en-US" sz="1600" b="1" dirty="0">
                <a:solidFill>
                  <a:srgbClr val="FFFFFF"/>
                </a:solidFill>
                <a:latin typeface="Arial" pitchFamily="34" charset="0"/>
                <a:ea typeface="Arial" pitchFamily="34" charset="-122"/>
                <a:cs typeface="Arial" pitchFamily="34" charset="-120"/>
              </a:rPr>
              <a:t>Agreeing what it means is — so we stopped asking people to write it down, and compiled what they had already produced.</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10241280" y="256032"/>
            <a:ext cx="1554480" cy="1188720"/>
          </a:xfrm>
          <a:prstGeom prst="rect">
            <a:avLst/>
          </a:prstGeom>
          <a:noFill/>
          <a:ln/>
        </p:spPr>
        <p:txBody>
          <a:bodyPr wrap="square" lIns="0" tIns="0" rIns="0" bIns="0" rtlCol="0" anchor="ctr"/>
          <a:lstStyle/>
          <a:p>
            <a:pPr algn="r" indent="0" marL="0">
              <a:buNone/>
            </a:pPr>
            <a:r>
              <a:rPr lang="en-US" sz="8000" b="1" dirty="0">
                <a:solidFill>
                  <a:srgbClr val="EDF1F6"/>
                </a:solidFill>
                <a:latin typeface="Arial" pitchFamily="34" charset="0"/>
                <a:ea typeface="Arial" pitchFamily="34" charset="-122"/>
                <a:cs typeface="Arial" pitchFamily="34" charset="-120"/>
              </a:rPr>
              <a:t>1</a:t>
            </a:r>
            <a:endParaRPr lang="en-US" sz="8000" dirty="0"/>
          </a:p>
        </p:txBody>
      </p:sp>
      <p:sp>
        <p:nvSpPr>
          <p:cNvPr id="3" name="Text 1"/>
          <p:cNvSpPr txBox="1"/>
          <p:nvPr/>
        </p:nvSpPr>
        <p:spPr>
          <a:xfrm>
            <a:off x="457200" y="384048"/>
            <a:ext cx="9509760" cy="237744"/>
          </a:xfrm>
          <a:prstGeom prst="rect">
            <a:avLst/>
          </a:prstGeom>
          <a:noFill/>
          <a:ln/>
        </p:spPr>
        <p:txBody>
          <a:bodyPr wrap="square" lIns="0" tIns="0" rIns="0" bIns="0" rtlCol="0" anchor="ctr"/>
          <a:lstStyle/>
          <a:p>
            <a:pPr indent="0" marL="0">
              <a:buNone/>
            </a:pPr>
            <a:r>
              <a:rPr lang="en-US" sz="1050" b="1" spc="90" kern="0" dirty="0">
                <a:solidFill>
                  <a:srgbClr val="016FD0"/>
                </a:solidFill>
                <a:latin typeface="Arial" pitchFamily="34" charset="0"/>
                <a:ea typeface="Arial" pitchFamily="34" charset="-122"/>
                <a:cs typeface="Arial" pitchFamily="34" charset="-120"/>
              </a:rPr>
              <a:t>WHAT WE BUILT  ·  DEPTH 1 OF 3</a:t>
            </a:r>
            <a:endParaRPr lang="en-US" sz="1050" dirty="0"/>
          </a:p>
        </p:txBody>
      </p:sp>
      <p:sp>
        <p:nvSpPr>
          <p:cNvPr id="4" name="Text 2"/>
          <p:cNvSpPr txBox="1"/>
          <p:nvPr/>
        </p:nvSpPr>
        <p:spPr>
          <a:xfrm>
            <a:off x="457200" y="658368"/>
            <a:ext cx="9509760" cy="548640"/>
          </a:xfrm>
          <a:prstGeom prst="rect">
            <a:avLst/>
          </a:prstGeom>
          <a:noFill/>
          <a:ln/>
        </p:spPr>
        <p:txBody>
          <a:bodyPr wrap="square" lIns="0" tIns="0" rIns="0" bIns="0" rtlCol="0" anchor="ctr"/>
          <a:lstStyle/>
          <a:p>
            <a:pPr indent="0" marL="0">
              <a:buNone/>
            </a:pPr>
            <a:r>
              <a:rPr lang="en-US" sz="2700" b="1" dirty="0">
                <a:solidFill>
                  <a:srgbClr val="002663"/>
                </a:solidFill>
                <a:latin typeface="Arial" pitchFamily="34" charset="0"/>
                <a:ea typeface="Arial" pitchFamily="34" charset="-122"/>
                <a:cs typeface="Arial" pitchFamily="34" charset="-120"/>
              </a:rPr>
              <a:t>Three blocks</a:t>
            </a:r>
            <a:endParaRPr lang="en-US" sz="2700" dirty="0"/>
          </a:p>
        </p:txBody>
      </p:sp>
      <p:sp>
        <p:nvSpPr>
          <p:cNvPr id="5" name="Text 3"/>
          <p:cNvSpPr txBox="1"/>
          <p:nvPr/>
        </p:nvSpPr>
        <p:spPr>
          <a:xfrm>
            <a:off x="457200" y="1243584"/>
            <a:ext cx="10424160" cy="365760"/>
          </a:xfrm>
          <a:prstGeom prst="rect">
            <a:avLst/>
          </a:prstGeom>
          <a:noFill/>
          <a:ln/>
        </p:spPr>
        <p:txBody>
          <a:bodyPr wrap="square" lIns="0" tIns="0" rIns="0" bIns="0" rtlCol="0" anchor="ctr"/>
          <a:lstStyle/>
          <a:p>
            <a:pPr indent="0" marL="0">
              <a:buNone/>
            </a:pPr>
            <a:r>
              <a:rPr lang="en-US" sz="1350" dirty="0">
                <a:solidFill>
                  <a:srgbClr val="1A2233"/>
                </a:solidFill>
                <a:latin typeface="Arial" pitchFamily="34" charset="0"/>
                <a:ea typeface="Arial" pitchFamily="34" charset="-122"/>
                <a:cs typeface="Arial" pitchFamily="34" charset="-120"/>
              </a:rPr>
              <a:t>For a room with thirty seconds. Left to right.</a:t>
            </a:r>
            <a:endParaRPr lang="en-US" sz="1350" dirty="0"/>
          </a:p>
        </p:txBody>
      </p:sp>
      <p:sp>
        <p:nvSpPr>
          <p:cNvPr id="6" name="Shape 4"/>
          <p:cNvSpPr/>
          <p:nvPr/>
        </p:nvSpPr>
        <p:spPr>
          <a:xfrm>
            <a:off x="457200" y="1965960"/>
            <a:ext cx="3383280" cy="3063240"/>
          </a:xfrm>
          <a:prstGeom prst="roundRect">
            <a:avLst>
              <a:gd name="adj" fmla="val 1791"/>
            </a:avLst>
          </a:prstGeom>
          <a:solidFill>
            <a:srgbClr val="F7F9FB"/>
          </a:solidFill>
          <a:ln w="12700">
            <a:solidFill>
              <a:srgbClr val="DDE3EA"/>
            </a:solidFill>
            <a:prstDash val="solid"/>
          </a:ln>
          <a:effectLst>
            <a:outerShdw sx="100000" sy="100000" kx="0" ky="0" algn="bl" rotWithShape="0" blurRad="114300" dist="25400" dir="5400000">
              <a:srgbClr val="7E8B9E">
                <a:alpha val="18000"/>
              </a:srgbClr>
            </a:outerShdw>
          </a:effectLst>
        </p:spPr>
      </p:sp>
      <p:sp>
        <p:nvSpPr>
          <p:cNvPr id="7" name="Shape 5"/>
          <p:cNvSpPr/>
          <p:nvPr/>
        </p:nvSpPr>
        <p:spPr>
          <a:xfrm>
            <a:off x="713232" y="2276856"/>
            <a:ext cx="603504" cy="603504"/>
          </a:xfrm>
          <a:prstGeom prst="ellipse">
            <a:avLst/>
          </a:prstGeom>
          <a:solidFill>
            <a:srgbClr val="DCE7F7"/>
          </a:solidFill>
          <a:ln w="12700">
            <a:solidFill>
              <a:srgbClr val="C9D8F0"/>
            </a:solidFill>
            <a:prstDash val="solid"/>
          </a:ln>
        </p:spPr>
      </p:sp>
      <p:pic>
        <p:nvPicPr>
          <p:cNvPr id="8" name="Image 0" descr="icons/storage-blue.png">    </p:cNvPr>
          <p:cNvPicPr>
            <a:picLocks noChangeAspect="1"/>
          </p:cNvPicPr>
          <p:nvPr/>
        </p:nvPicPr>
        <p:blipFill>
          <a:blip r:embed="rId1"/>
          <a:stretch>
            <a:fillRect/>
          </a:stretch>
        </p:blipFill>
        <p:spPr>
          <a:xfrm>
            <a:off x="870143" y="2433767"/>
            <a:ext cx="289682" cy="289682"/>
          </a:xfrm>
          <a:prstGeom prst="rect">
            <a:avLst/>
          </a:prstGeom>
        </p:spPr>
      </p:pic>
      <p:sp>
        <p:nvSpPr>
          <p:cNvPr id="9" name="Text 6"/>
          <p:cNvSpPr txBox="1"/>
          <p:nvPr/>
        </p:nvSpPr>
        <p:spPr>
          <a:xfrm>
            <a:off x="713232" y="3026664"/>
            <a:ext cx="2871216" cy="457200"/>
          </a:xfrm>
          <a:prstGeom prst="rect">
            <a:avLst/>
          </a:prstGeom>
          <a:noFill/>
          <a:ln/>
        </p:spPr>
        <p:txBody>
          <a:bodyPr wrap="square" lIns="0" tIns="0" rIns="0" bIns="0" rtlCol="0" anchor="ctr"/>
          <a:lstStyle/>
          <a:p>
            <a:pPr indent="0" marL="0">
              <a:buNone/>
            </a:pPr>
            <a:r>
              <a:rPr lang="en-US" sz="1800" b="1" dirty="0">
                <a:solidFill>
                  <a:srgbClr val="002663"/>
                </a:solidFill>
                <a:latin typeface="Arial" pitchFamily="34" charset="0"/>
                <a:ea typeface="Arial" pitchFamily="34" charset="-122"/>
                <a:cs typeface="Arial" pitchFamily="34" charset="-120"/>
              </a:rPr>
              <a:t>What you already have</a:t>
            </a:r>
            <a:endParaRPr lang="en-US" sz="1800" dirty="0"/>
          </a:p>
        </p:txBody>
      </p:sp>
      <p:sp>
        <p:nvSpPr>
          <p:cNvPr id="10" name="Text 7"/>
          <p:cNvSpPr txBox="1"/>
          <p:nvPr/>
        </p:nvSpPr>
        <p:spPr>
          <a:xfrm>
            <a:off x="713232" y="3557016"/>
            <a:ext cx="2871216" cy="100584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A2233"/>
                </a:solidFill>
                <a:latin typeface="Arial" pitchFamily="34" charset="0"/>
                <a:ea typeface="Arial" pitchFamily="34" charset="-122"/>
                <a:cs typeface="Arial" pitchFamily="34" charset="-120"/>
              </a:rPr>
              <a:t>Tables, metadata and query history, plus the glossary and playbooks your team has already written.</a:t>
            </a:r>
            <a:endParaRPr lang="en-US" sz="1200" dirty="0"/>
          </a:p>
        </p:txBody>
      </p:sp>
      <p:sp>
        <p:nvSpPr>
          <p:cNvPr id="11" name="Text 8"/>
          <p:cNvSpPr txBox="1"/>
          <p:nvPr/>
        </p:nvSpPr>
        <p:spPr>
          <a:xfrm>
            <a:off x="713232" y="4617720"/>
            <a:ext cx="2871216" cy="310896"/>
          </a:xfrm>
          <a:prstGeom prst="rect">
            <a:avLst/>
          </a:prstGeom>
          <a:noFill/>
          <a:ln/>
        </p:spPr>
        <p:txBody>
          <a:bodyPr wrap="square" lIns="0" tIns="0" rIns="0" bIns="0" rtlCol="0" anchor="ctr"/>
          <a:lstStyle/>
          <a:p>
            <a:pPr indent="0" marL="0">
              <a:buNone/>
            </a:pPr>
            <a:r>
              <a:rPr lang="en-US" sz="1000" i="1" dirty="0">
                <a:solidFill>
                  <a:srgbClr val="5A6472"/>
                </a:solidFill>
                <a:latin typeface="Arial" pitchFamily="34" charset="0"/>
                <a:ea typeface="Arial" pitchFamily="34" charset="-122"/>
                <a:cs typeface="Arial" pitchFamily="34" charset="-120"/>
              </a:rPr>
              <a:t>nothing new to collect</a:t>
            </a:r>
            <a:endParaRPr lang="en-US" sz="1000" dirty="0"/>
          </a:p>
        </p:txBody>
      </p:sp>
      <p:sp>
        <p:nvSpPr>
          <p:cNvPr id="12" name="Shape 9"/>
          <p:cNvSpPr/>
          <p:nvPr/>
        </p:nvSpPr>
        <p:spPr>
          <a:xfrm>
            <a:off x="3931920" y="3419856"/>
            <a:ext cx="384048" cy="155448"/>
          </a:xfrm>
          <a:prstGeom prst="rightArrow">
            <a:avLst/>
          </a:prstGeom>
          <a:solidFill>
            <a:srgbClr val="016FD0"/>
          </a:solidFill>
          <a:ln w="6350">
            <a:solidFill>
              <a:srgbClr val="016FD0"/>
            </a:solidFill>
            <a:prstDash val="solid"/>
          </a:ln>
        </p:spPr>
      </p:sp>
      <p:sp>
        <p:nvSpPr>
          <p:cNvPr id="13" name="Shape 10"/>
          <p:cNvSpPr/>
          <p:nvPr/>
        </p:nvSpPr>
        <p:spPr>
          <a:xfrm>
            <a:off x="4407408" y="1965960"/>
            <a:ext cx="3383280" cy="3063240"/>
          </a:xfrm>
          <a:prstGeom prst="roundRect">
            <a:avLst>
              <a:gd name="adj" fmla="val 1791"/>
            </a:avLst>
          </a:prstGeom>
          <a:solidFill>
            <a:srgbClr val="002663"/>
          </a:solidFill>
          <a:ln w="12700">
            <a:solidFill>
              <a:srgbClr val="DDE3EA"/>
            </a:solidFill>
            <a:prstDash val="solid"/>
          </a:ln>
          <a:effectLst>
            <a:outerShdw sx="100000" sy="100000" kx="0" ky="0" algn="bl" rotWithShape="0" blurRad="114300" dist="25400" dir="5400000">
              <a:srgbClr val="7E8B9E">
                <a:alpha val="18000"/>
              </a:srgbClr>
            </a:outerShdw>
          </a:effectLst>
        </p:spPr>
      </p:sp>
      <p:sp>
        <p:nvSpPr>
          <p:cNvPr id="14" name="Shape 11"/>
          <p:cNvSpPr/>
          <p:nvPr/>
        </p:nvSpPr>
        <p:spPr>
          <a:xfrm>
            <a:off x="4663440" y="2276856"/>
            <a:ext cx="603504" cy="603504"/>
          </a:xfrm>
          <a:prstGeom prst="ellipse">
            <a:avLst/>
          </a:prstGeom>
          <a:solidFill>
            <a:srgbClr val="FFFFFF"/>
          </a:solidFill>
          <a:ln w="12700">
            <a:solidFill>
              <a:srgbClr val="FFFFFF"/>
            </a:solidFill>
            <a:prstDash val="solid"/>
          </a:ln>
        </p:spPr>
      </p:sp>
      <p:pic>
        <p:nvPicPr>
          <p:cNvPr id="15" name="Image 1" descr="icons/snapshot-navy.png">    </p:cNvPr>
          <p:cNvPicPr>
            <a:picLocks noChangeAspect="1"/>
          </p:cNvPicPr>
          <p:nvPr/>
        </p:nvPicPr>
        <p:blipFill>
          <a:blip r:embed="rId2"/>
          <a:stretch>
            <a:fillRect/>
          </a:stretch>
        </p:blipFill>
        <p:spPr>
          <a:xfrm>
            <a:off x="4820351" y="2433767"/>
            <a:ext cx="289682" cy="289682"/>
          </a:xfrm>
          <a:prstGeom prst="rect">
            <a:avLst/>
          </a:prstGeom>
        </p:spPr>
      </p:pic>
      <p:sp>
        <p:nvSpPr>
          <p:cNvPr id="16" name="Text 12"/>
          <p:cNvSpPr txBox="1"/>
          <p:nvPr/>
        </p:nvSpPr>
        <p:spPr>
          <a:xfrm>
            <a:off x="4663440" y="3026664"/>
            <a:ext cx="2871216"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One trusted snapshot</a:t>
            </a:r>
            <a:endParaRPr lang="en-US" sz="1800" dirty="0"/>
          </a:p>
        </p:txBody>
      </p:sp>
      <p:sp>
        <p:nvSpPr>
          <p:cNvPr id="17" name="Text 13"/>
          <p:cNvSpPr txBox="1"/>
          <p:nvPr/>
        </p:nvSpPr>
        <p:spPr>
          <a:xfrm>
            <a:off x="4663440" y="3557016"/>
            <a:ext cx="2871216" cy="100584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C9D8F0"/>
                </a:solidFill>
                <a:latin typeface="Arial" pitchFamily="34" charset="0"/>
                <a:ea typeface="Arial" pitchFamily="34" charset="-122"/>
                <a:cs typeface="Arial" pitchFamily="34" charset="-120"/>
              </a:rPr>
              <a:t>All of it compiled into a single versioned picture of what the business means — kept current, not hand-maintained.</a:t>
            </a:r>
            <a:endParaRPr lang="en-US" sz="1200" dirty="0"/>
          </a:p>
        </p:txBody>
      </p:sp>
      <p:sp>
        <p:nvSpPr>
          <p:cNvPr id="18" name="Text 14"/>
          <p:cNvSpPr txBox="1"/>
          <p:nvPr/>
        </p:nvSpPr>
        <p:spPr>
          <a:xfrm>
            <a:off x="4663440" y="4617720"/>
            <a:ext cx="2871216" cy="310896"/>
          </a:xfrm>
          <a:prstGeom prst="rect">
            <a:avLst/>
          </a:prstGeom>
          <a:noFill/>
          <a:ln/>
        </p:spPr>
        <p:txBody>
          <a:bodyPr wrap="square" lIns="0" tIns="0" rIns="0" bIns="0" rtlCol="0" anchor="ctr"/>
          <a:lstStyle/>
          <a:p>
            <a:pPr indent="0" marL="0">
              <a:buNone/>
            </a:pPr>
            <a:r>
              <a:rPr lang="en-US" sz="1000" i="1" dirty="0">
                <a:solidFill>
                  <a:srgbClr val="8FC1FF"/>
                </a:solidFill>
                <a:latin typeface="Arial" pitchFamily="34" charset="0"/>
                <a:ea typeface="Arial" pitchFamily="34" charset="-122"/>
                <a:cs typeface="Arial" pitchFamily="34" charset="-120"/>
              </a:rPr>
              <a:t>the one source everything reads</a:t>
            </a:r>
            <a:endParaRPr lang="en-US" sz="1000" dirty="0"/>
          </a:p>
        </p:txBody>
      </p:sp>
      <p:sp>
        <p:nvSpPr>
          <p:cNvPr id="19" name="Shape 15"/>
          <p:cNvSpPr/>
          <p:nvPr/>
        </p:nvSpPr>
        <p:spPr>
          <a:xfrm>
            <a:off x="7882128" y="3419856"/>
            <a:ext cx="384048" cy="155448"/>
          </a:xfrm>
          <a:prstGeom prst="rightArrow">
            <a:avLst/>
          </a:prstGeom>
          <a:solidFill>
            <a:srgbClr val="016FD0"/>
          </a:solidFill>
          <a:ln w="6350">
            <a:solidFill>
              <a:srgbClr val="016FD0"/>
            </a:solidFill>
            <a:prstDash val="solid"/>
          </a:ln>
        </p:spPr>
      </p:sp>
      <p:sp>
        <p:nvSpPr>
          <p:cNvPr id="20" name="Shape 16"/>
          <p:cNvSpPr/>
          <p:nvPr/>
        </p:nvSpPr>
        <p:spPr>
          <a:xfrm>
            <a:off x="8357616" y="1965960"/>
            <a:ext cx="3383280" cy="3063240"/>
          </a:xfrm>
          <a:prstGeom prst="roundRect">
            <a:avLst>
              <a:gd name="adj" fmla="val 1791"/>
            </a:avLst>
          </a:prstGeom>
          <a:solidFill>
            <a:srgbClr val="FFFFFF"/>
          </a:solidFill>
          <a:ln w="20320">
            <a:solidFill>
              <a:srgbClr val="016FD0"/>
            </a:solidFill>
            <a:prstDash val="solid"/>
          </a:ln>
          <a:effectLst>
            <a:outerShdw sx="100000" sy="100000" kx="0" ky="0" algn="bl" rotWithShape="0" blurRad="114300" dist="25400" dir="5400000">
              <a:srgbClr val="7E8B9E">
                <a:alpha val="18000"/>
              </a:srgbClr>
            </a:outerShdw>
          </a:effectLst>
        </p:spPr>
      </p:sp>
      <p:sp>
        <p:nvSpPr>
          <p:cNvPr id="21" name="Shape 17"/>
          <p:cNvSpPr/>
          <p:nvPr/>
        </p:nvSpPr>
        <p:spPr>
          <a:xfrm>
            <a:off x="8613648" y="2276856"/>
            <a:ext cx="603504" cy="603504"/>
          </a:xfrm>
          <a:prstGeom prst="ellipse">
            <a:avLst/>
          </a:prstGeom>
          <a:solidFill>
            <a:srgbClr val="DCE7F7"/>
          </a:solidFill>
          <a:ln w="12700">
            <a:solidFill>
              <a:srgbClr val="C9D8F0"/>
            </a:solidFill>
            <a:prstDash val="solid"/>
          </a:ln>
        </p:spPr>
      </p:sp>
      <p:pic>
        <p:nvPicPr>
          <p:cNvPr id="22" name="Image 2" descr="icons/chat-blue.png">    </p:cNvPr>
          <p:cNvPicPr>
            <a:picLocks noChangeAspect="1"/>
          </p:cNvPicPr>
          <p:nvPr/>
        </p:nvPicPr>
        <p:blipFill>
          <a:blip r:embed="rId3"/>
          <a:stretch>
            <a:fillRect/>
          </a:stretch>
        </p:blipFill>
        <p:spPr>
          <a:xfrm>
            <a:off x="8770559" y="2433767"/>
            <a:ext cx="289682" cy="289682"/>
          </a:xfrm>
          <a:prstGeom prst="rect">
            <a:avLst/>
          </a:prstGeom>
        </p:spPr>
      </p:pic>
      <p:sp>
        <p:nvSpPr>
          <p:cNvPr id="23" name="Text 18"/>
          <p:cNvSpPr txBox="1"/>
          <p:nvPr/>
        </p:nvSpPr>
        <p:spPr>
          <a:xfrm>
            <a:off x="8613648" y="3026664"/>
            <a:ext cx="2871216" cy="457200"/>
          </a:xfrm>
          <a:prstGeom prst="rect">
            <a:avLst/>
          </a:prstGeom>
          <a:noFill/>
          <a:ln/>
        </p:spPr>
        <p:txBody>
          <a:bodyPr wrap="square" lIns="0" tIns="0" rIns="0" bIns="0" rtlCol="0" anchor="ctr"/>
          <a:lstStyle/>
          <a:p>
            <a:pPr indent="0" marL="0">
              <a:buNone/>
            </a:pPr>
            <a:r>
              <a:rPr lang="en-US" sz="1800" b="1" dirty="0">
                <a:solidFill>
                  <a:srgbClr val="002663"/>
                </a:solidFill>
                <a:latin typeface="Arial" pitchFamily="34" charset="0"/>
                <a:ea typeface="Arial" pitchFamily="34" charset="-122"/>
                <a:cs typeface="Arial" pitchFamily="34" charset="-120"/>
              </a:rPr>
              <a:t>Answers you can trust</a:t>
            </a:r>
            <a:endParaRPr lang="en-US" sz="1800" dirty="0"/>
          </a:p>
        </p:txBody>
      </p:sp>
      <p:sp>
        <p:nvSpPr>
          <p:cNvPr id="24" name="Text 19"/>
          <p:cNvSpPr txBox="1"/>
          <p:nvPr/>
        </p:nvSpPr>
        <p:spPr>
          <a:xfrm>
            <a:off x="8613648" y="3557016"/>
            <a:ext cx="2871216" cy="1005840"/>
          </a:xfrm>
          <a:prstGeom prst="rect">
            <a:avLst/>
          </a:prstGeom>
          <a:noFill/>
          <a:ln/>
        </p:spPr>
        <p:txBody>
          <a:bodyPr wrap="square" lIns="0" tIns="0" rIns="0" bIns="0" rtlCol="0" anchor="t"/>
          <a:lstStyle/>
          <a:p>
            <a:pPr indent="0" marL="0">
              <a:lnSpc>
                <a:spcPct val="112000"/>
              </a:lnSpc>
              <a:spcAft>
                <a:spcPts val="600"/>
              </a:spcAft>
              <a:buNone/>
            </a:pPr>
            <a:r>
              <a:rPr lang="en-US" sz="1200" dirty="0">
                <a:solidFill>
                  <a:srgbClr val="1A2233"/>
                </a:solidFill>
                <a:latin typeface="Arial" pitchFamily="34" charset="0"/>
                <a:ea typeface="Arial" pitchFamily="34" charset="-122"/>
                <a:cs typeface="Arial" pitchFamily="34" charset="-120"/>
              </a:rPr>
              <a:t>Ask in plain words. Every number comes back with the definition behind it and where it came from.</a:t>
            </a:r>
            <a:endParaRPr lang="en-US" sz="1200" dirty="0"/>
          </a:p>
        </p:txBody>
      </p:sp>
      <p:sp>
        <p:nvSpPr>
          <p:cNvPr id="25" name="Text 20"/>
          <p:cNvSpPr txBox="1"/>
          <p:nvPr/>
        </p:nvSpPr>
        <p:spPr>
          <a:xfrm>
            <a:off x="8613648" y="4617720"/>
            <a:ext cx="2871216" cy="310896"/>
          </a:xfrm>
          <a:prstGeom prst="rect">
            <a:avLst/>
          </a:prstGeom>
          <a:noFill/>
          <a:ln/>
        </p:spPr>
        <p:txBody>
          <a:bodyPr wrap="square" lIns="0" tIns="0" rIns="0" bIns="0" rtlCol="0" anchor="ctr"/>
          <a:lstStyle/>
          <a:p>
            <a:pPr indent="0" marL="0">
              <a:buNone/>
            </a:pPr>
            <a:r>
              <a:rPr lang="en-US" sz="1000" i="1" dirty="0">
                <a:solidFill>
                  <a:srgbClr val="5A6472"/>
                </a:solidFill>
                <a:latin typeface="Arial" pitchFamily="34" charset="0"/>
                <a:ea typeface="Arial" pitchFamily="34" charset="-122"/>
                <a:cs typeface="Arial" pitchFamily="34" charset="-120"/>
              </a:rPr>
              <a:t>trustworthy by default</a:t>
            </a:r>
            <a:endParaRPr lang="en-US" sz="1000" dirty="0"/>
          </a:p>
        </p:txBody>
      </p:sp>
      <p:sp>
        <p:nvSpPr>
          <p:cNvPr id="26" name="Text 21"/>
          <p:cNvSpPr txBox="1"/>
          <p:nvPr/>
        </p:nvSpPr>
        <p:spPr>
          <a:xfrm>
            <a:off x="457200" y="5440680"/>
            <a:ext cx="10789920" cy="411480"/>
          </a:xfrm>
          <a:prstGeom prst="rect">
            <a:avLst/>
          </a:prstGeom>
          <a:noFill/>
          <a:ln/>
        </p:spPr>
        <p:txBody>
          <a:bodyPr wrap="square" lIns="0" tIns="0" rIns="0" bIns="0" rtlCol="0" anchor="ctr"/>
          <a:lstStyle/>
          <a:p>
            <a:pPr indent="0" marL="0">
              <a:buNone/>
            </a:pPr>
            <a:r>
              <a:rPr lang="en-US" sz="1700" dirty="0">
                <a:solidFill>
                  <a:srgbClr val="002663"/>
                </a:solidFill>
                <a:latin typeface="Arial" pitchFamily="34" charset="0"/>
                <a:ea typeface="Arial" pitchFamily="34" charset="-122"/>
                <a:cs typeface="Arial" pitchFamily="34" charset="-120"/>
              </a:rPr>
              <a:t>Meaning your team already owns — compiled once, then answered from every time.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10241280" y="256032"/>
            <a:ext cx="1554480" cy="1188720"/>
          </a:xfrm>
          <a:prstGeom prst="rect">
            <a:avLst/>
          </a:prstGeom>
          <a:noFill/>
          <a:ln/>
        </p:spPr>
        <p:txBody>
          <a:bodyPr wrap="square" lIns="0" tIns="0" rIns="0" bIns="0" rtlCol="0" anchor="ctr"/>
          <a:lstStyle/>
          <a:p>
            <a:pPr algn="r" indent="0" marL="0">
              <a:buNone/>
            </a:pPr>
            <a:r>
              <a:rPr lang="en-US" sz="8000" b="1" dirty="0">
                <a:solidFill>
                  <a:srgbClr val="EDF1F6"/>
                </a:solidFill>
                <a:latin typeface="Arial" pitchFamily="34" charset="0"/>
                <a:ea typeface="Arial" pitchFamily="34" charset="-122"/>
                <a:cs typeface="Arial" pitchFamily="34" charset="-120"/>
              </a:rPr>
              <a:t>2</a:t>
            </a:r>
            <a:endParaRPr lang="en-US" sz="8000" dirty="0"/>
          </a:p>
        </p:txBody>
      </p:sp>
      <p:sp>
        <p:nvSpPr>
          <p:cNvPr id="3" name="Text 1"/>
          <p:cNvSpPr txBox="1"/>
          <p:nvPr/>
        </p:nvSpPr>
        <p:spPr>
          <a:xfrm>
            <a:off x="457200" y="384048"/>
            <a:ext cx="9509760" cy="237744"/>
          </a:xfrm>
          <a:prstGeom prst="rect">
            <a:avLst/>
          </a:prstGeom>
          <a:noFill/>
          <a:ln/>
        </p:spPr>
        <p:txBody>
          <a:bodyPr wrap="square" lIns="0" tIns="0" rIns="0" bIns="0" rtlCol="0" anchor="ctr"/>
          <a:lstStyle/>
          <a:p>
            <a:pPr indent="0" marL="0">
              <a:buNone/>
            </a:pPr>
            <a:r>
              <a:rPr lang="en-US" sz="1050" b="1" spc="90" kern="0" dirty="0">
                <a:solidFill>
                  <a:srgbClr val="016FD0"/>
                </a:solidFill>
                <a:latin typeface="Arial" pitchFamily="34" charset="0"/>
                <a:ea typeface="Arial" pitchFamily="34" charset="-122"/>
                <a:cs typeface="Arial" pitchFamily="34" charset="-120"/>
              </a:rPr>
              <a:t>HOW IT WORKS  ·  DEPTH 2 OF 3</a:t>
            </a:r>
            <a:endParaRPr lang="en-US" sz="1050" dirty="0"/>
          </a:p>
        </p:txBody>
      </p:sp>
      <p:sp>
        <p:nvSpPr>
          <p:cNvPr id="4" name="Text 2"/>
          <p:cNvSpPr txBox="1"/>
          <p:nvPr/>
        </p:nvSpPr>
        <p:spPr>
          <a:xfrm>
            <a:off x="457200" y="658368"/>
            <a:ext cx="9509760" cy="548640"/>
          </a:xfrm>
          <a:prstGeom prst="rect">
            <a:avLst/>
          </a:prstGeom>
          <a:noFill/>
          <a:ln/>
        </p:spPr>
        <p:txBody>
          <a:bodyPr wrap="square" lIns="0" tIns="0" rIns="0" bIns="0" rtlCol="0" anchor="ctr"/>
          <a:lstStyle/>
          <a:p>
            <a:pPr indent="0" marL="0">
              <a:buNone/>
            </a:pPr>
            <a:r>
              <a:rPr lang="en-US" sz="2700" b="1" dirty="0">
                <a:solidFill>
                  <a:srgbClr val="002663"/>
                </a:solidFill>
                <a:latin typeface="Arial" pitchFamily="34" charset="0"/>
                <a:ea typeface="Arial" pitchFamily="34" charset="-122"/>
                <a:cs typeface="Arial" pitchFamily="34" charset="-120"/>
              </a:rPr>
              <a:t>The five stages</a:t>
            </a:r>
            <a:endParaRPr lang="en-US" sz="2700" dirty="0"/>
          </a:p>
        </p:txBody>
      </p:sp>
      <p:sp>
        <p:nvSpPr>
          <p:cNvPr id="5" name="Text 3"/>
          <p:cNvSpPr txBox="1"/>
          <p:nvPr/>
        </p:nvSpPr>
        <p:spPr>
          <a:xfrm>
            <a:off x="457200" y="1243584"/>
            <a:ext cx="10424160" cy="365760"/>
          </a:xfrm>
          <a:prstGeom prst="rect">
            <a:avLst/>
          </a:prstGeom>
          <a:noFill/>
          <a:ln/>
        </p:spPr>
        <p:txBody>
          <a:bodyPr wrap="square" lIns="0" tIns="0" rIns="0" bIns="0" rtlCol="0" anchor="ctr"/>
          <a:lstStyle/>
          <a:p>
            <a:pPr indent="0" marL="0">
              <a:buNone/>
            </a:pPr>
            <a:r>
              <a:rPr lang="en-US" sz="1350" dirty="0">
                <a:solidFill>
                  <a:srgbClr val="1A2233"/>
                </a:solidFill>
                <a:latin typeface="Arial" pitchFamily="34" charset="0"/>
                <a:ea typeface="Arial" pitchFamily="34" charset="-122"/>
                <a:cs typeface="Arial" pitchFamily="34" charset="-120"/>
              </a:rPr>
              <a:t>For the people who will use it. What goes in, what it becomes, and where people meet it.</a:t>
            </a:r>
            <a:endParaRPr lang="en-US" sz="1350" dirty="0"/>
          </a:p>
        </p:txBody>
      </p:sp>
      <p:sp>
        <p:nvSpPr>
          <p:cNvPr id="6" name="Shape 4"/>
          <p:cNvSpPr/>
          <p:nvPr/>
        </p:nvSpPr>
        <p:spPr>
          <a:xfrm>
            <a:off x="457200" y="1828800"/>
            <a:ext cx="1965960" cy="3154680"/>
          </a:xfrm>
          <a:prstGeom prst="roundRect">
            <a:avLst>
              <a:gd name="adj" fmla="val 2791"/>
            </a:avLst>
          </a:prstGeom>
          <a:solidFill>
            <a:srgbClr val="F7F9FB"/>
          </a:solidFill>
          <a:ln w="12700">
            <a:solidFill>
              <a:srgbClr val="DDE3EA"/>
            </a:solidFill>
            <a:prstDash val="solid"/>
          </a:ln>
          <a:effectLst>
            <a:outerShdw sx="100000" sy="100000" kx="0" ky="0" algn="bl" rotWithShape="0" blurRad="114300" dist="25400" dir="5400000">
              <a:srgbClr val="7E8B9E">
                <a:alpha val="18000"/>
              </a:srgbClr>
            </a:outerShdw>
          </a:effectLst>
        </p:spPr>
      </p:sp>
      <p:sp>
        <p:nvSpPr>
          <p:cNvPr id="7" name="Text 5"/>
          <p:cNvSpPr txBox="1"/>
          <p:nvPr/>
        </p:nvSpPr>
        <p:spPr>
          <a:xfrm>
            <a:off x="603504" y="1975104"/>
            <a:ext cx="1673352" cy="201168"/>
          </a:xfrm>
          <a:prstGeom prst="rect">
            <a:avLst/>
          </a:prstGeom>
          <a:noFill/>
          <a:ln/>
        </p:spPr>
        <p:txBody>
          <a:bodyPr wrap="square" lIns="0" tIns="0" rIns="0" bIns="0" rtlCol="0" anchor="ctr"/>
          <a:lstStyle/>
          <a:p>
            <a:pPr indent="0" marL="0">
              <a:buNone/>
            </a:pPr>
            <a:r>
              <a:rPr lang="en-US" sz="1000" b="1" spc="60" kern="0" dirty="0">
                <a:solidFill>
                  <a:srgbClr val="016FD0"/>
                </a:solidFill>
                <a:latin typeface="Arial" pitchFamily="34" charset="0"/>
                <a:ea typeface="Arial" pitchFamily="34" charset="-122"/>
                <a:cs typeface="Arial" pitchFamily="34" charset="-120"/>
              </a:rPr>
              <a:t>01 · SOURCES</a:t>
            </a:r>
            <a:endParaRPr lang="en-US" sz="1000" dirty="0"/>
          </a:p>
        </p:txBody>
      </p:sp>
      <p:sp>
        <p:nvSpPr>
          <p:cNvPr id="8" name="Shape 6"/>
          <p:cNvSpPr/>
          <p:nvPr/>
        </p:nvSpPr>
        <p:spPr>
          <a:xfrm>
            <a:off x="603504" y="2231136"/>
            <a:ext cx="402336" cy="402336"/>
          </a:xfrm>
          <a:prstGeom prst="ellipse">
            <a:avLst/>
          </a:prstGeom>
          <a:solidFill>
            <a:srgbClr val="DCE7F7"/>
          </a:solidFill>
          <a:ln w="12700">
            <a:solidFill>
              <a:srgbClr val="C9D8F0"/>
            </a:solidFill>
            <a:prstDash val="solid"/>
          </a:ln>
        </p:spPr>
      </p:sp>
      <p:pic>
        <p:nvPicPr>
          <p:cNvPr id="9" name="Image 0" descr="icons/storage-blue.png">    </p:cNvPr>
          <p:cNvPicPr>
            <a:picLocks noChangeAspect="1"/>
          </p:cNvPicPr>
          <p:nvPr/>
        </p:nvPicPr>
        <p:blipFill>
          <a:blip r:embed="rId1"/>
          <a:stretch>
            <a:fillRect/>
          </a:stretch>
        </p:blipFill>
        <p:spPr>
          <a:xfrm>
            <a:off x="708111" y="2335743"/>
            <a:ext cx="193121" cy="193121"/>
          </a:xfrm>
          <a:prstGeom prst="rect">
            <a:avLst/>
          </a:prstGeom>
        </p:spPr>
      </p:pic>
      <p:sp>
        <p:nvSpPr>
          <p:cNvPr id="10" name="Text 7"/>
          <p:cNvSpPr txBox="1"/>
          <p:nvPr/>
        </p:nvSpPr>
        <p:spPr>
          <a:xfrm>
            <a:off x="603504" y="2724912"/>
            <a:ext cx="1673352" cy="274320"/>
          </a:xfrm>
          <a:prstGeom prst="rect">
            <a:avLst/>
          </a:prstGeom>
          <a:noFill/>
          <a:ln/>
        </p:spPr>
        <p:txBody>
          <a:bodyPr wrap="square" lIns="0" tIns="0" rIns="0" bIns="0" rtlCol="0" anchor="ctr"/>
          <a:lstStyle/>
          <a:p>
            <a:pPr indent="0" marL="0">
              <a:buNone/>
            </a:pPr>
            <a:r>
              <a:rPr lang="en-US" sz="1400" b="1" dirty="0">
                <a:solidFill>
                  <a:srgbClr val="002663"/>
                </a:solidFill>
                <a:latin typeface="Arial" pitchFamily="34" charset="0"/>
                <a:ea typeface="Arial" pitchFamily="34" charset="-122"/>
                <a:cs typeface="Arial" pitchFamily="34" charset="-120"/>
              </a:rPr>
              <a:t>Sources</a:t>
            </a:r>
            <a:endParaRPr lang="en-US" sz="1400" dirty="0"/>
          </a:p>
        </p:txBody>
      </p:sp>
      <p:sp>
        <p:nvSpPr>
          <p:cNvPr id="11" name="Text 8"/>
          <p:cNvSpPr txBox="1"/>
          <p:nvPr/>
        </p:nvSpPr>
        <p:spPr>
          <a:xfrm>
            <a:off x="603504" y="3054096"/>
            <a:ext cx="1673352" cy="1426464"/>
          </a:xfrm>
          <a:prstGeom prst="rect">
            <a:avLst/>
          </a:prstGeom>
          <a:noFill/>
          <a:ln/>
        </p:spPr>
        <p:txBody>
          <a:bodyPr wrap="square" lIns="0" tIns="0" rIns="0" bIns="0" rtlCol="0" anchor="t"/>
          <a:lstStyle/>
          <a:p>
            <a:pPr indent="0" marL="0">
              <a:lnSpc>
                <a:spcPct val="112000"/>
              </a:lnSpc>
              <a:spcAft>
                <a:spcPts val="700"/>
              </a:spcAft>
              <a:buNone/>
            </a:pPr>
            <a:r>
              <a:rPr lang="en-US" sz="1000" dirty="0">
                <a:solidFill>
                  <a:srgbClr val="1A2233"/>
                </a:solidFill>
                <a:latin typeface="Arial" pitchFamily="34" charset="0"/>
                <a:ea typeface="Arial" pitchFamily="34" charset="-122"/>
                <a:cs typeface="Arial" pitchFamily="34" charset="-120"/>
              </a:rPr>
              <a:t>Warehouse tables and metadata</a:t>
            </a:r>
            <a:endParaRPr lang="en-US" sz="1000" dirty="0"/>
          </a:p>
          <a:p>
            <a:pPr indent="0" marL="0">
              <a:lnSpc>
                <a:spcPct val="112000"/>
              </a:lnSpc>
              <a:spcAft>
                <a:spcPts val="700"/>
              </a:spcAft>
              <a:buNone/>
            </a:pPr>
            <a:r>
              <a:rPr lang="en-US" sz="1000" dirty="0">
                <a:solidFill>
                  <a:srgbClr val="1A2233"/>
                </a:solidFill>
                <a:latin typeface="Arial" pitchFamily="34" charset="0"/>
                <a:ea typeface="Arial" pitchFamily="34" charset="-122"/>
                <a:cs typeface="Arial" pitchFamily="34" charset="-120"/>
              </a:rPr>
              <a:t>Query history</a:t>
            </a:r>
            <a:endParaRPr lang="en-US" sz="1000" dirty="0"/>
          </a:p>
          <a:p>
            <a:pPr indent="0" marL="0">
              <a:lnSpc>
                <a:spcPct val="112000"/>
              </a:lnSpc>
              <a:spcAft>
                <a:spcPts val="700"/>
              </a:spcAft>
              <a:buNone/>
            </a:pPr>
            <a:r>
              <a:rPr lang="en-US" sz="1000" dirty="0">
                <a:solidFill>
                  <a:srgbClr val="1A2233"/>
                </a:solidFill>
                <a:latin typeface="Arial" pitchFamily="34" charset="0"/>
                <a:ea typeface="Arial" pitchFamily="34" charset="-122"/>
                <a:cs typeface="Arial" pitchFamily="34" charset="-120"/>
              </a:rPr>
              <a:t>Glossary, playbooks and proven queries</a:t>
            </a:r>
            <a:endParaRPr lang="en-US" sz="1000" dirty="0"/>
          </a:p>
        </p:txBody>
      </p:sp>
      <p:sp>
        <p:nvSpPr>
          <p:cNvPr id="12" name="Text 9"/>
          <p:cNvSpPr txBox="1"/>
          <p:nvPr/>
        </p:nvSpPr>
        <p:spPr>
          <a:xfrm>
            <a:off x="603504" y="4517136"/>
            <a:ext cx="1673352" cy="310896"/>
          </a:xfrm>
          <a:prstGeom prst="rect">
            <a:avLst/>
          </a:prstGeom>
          <a:noFill/>
          <a:ln/>
        </p:spPr>
        <p:txBody>
          <a:bodyPr wrap="square" lIns="0" tIns="0" rIns="0" bIns="0" rtlCol="0" anchor="ctr"/>
          <a:lstStyle/>
          <a:p>
            <a:pPr indent="0" marL="0">
              <a:buNone/>
            </a:pPr>
            <a:r>
              <a:rPr lang="en-US" sz="950" i="1" dirty="0">
                <a:solidFill>
                  <a:srgbClr val="5A6472"/>
                </a:solidFill>
                <a:latin typeface="Arial" pitchFamily="34" charset="0"/>
                <a:ea typeface="Arial" pitchFamily="34" charset="-122"/>
                <a:cs typeface="Arial" pitchFamily="34" charset="-120"/>
              </a:rPr>
              <a:t>what the team already has</a:t>
            </a:r>
            <a:endParaRPr lang="en-US" sz="950" dirty="0"/>
          </a:p>
        </p:txBody>
      </p:sp>
      <p:sp>
        <p:nvSpPr>
          <p:cNvPr id="13" name="Shape 10"/>
          <p:cNvSpPr/>
          <p:nvPr/>
        </p:nvSpPr>
        <p:spPr>
          <a:xfrm>
            <a:off x="2473452" y="3328416"/>
            <a:ext cx="260604" cy="155448"/>
          </a:xfrm>
          <a:prstGeom prst="rightArrow">
            <a:avLst/>
          </a:prstGeom>
          <a:solidFill>
            <a:srgbClr val="016FD0"/>
          </a:solidFill>
          <a:ln w="6350">
            <a:solidFill>
              <a:srgbClr val="016FD0"/>
            </a:solidFill>
            <a:prstDash val="solid"/>
          </a:ln>
        </p:spPr>
      </p:sp>
      <p:sp>
        <p:nvSpPr>
          <p:cNvPr id="14" name="Shape 11"/>
          <p:cNvSpPr/>
          <p:nvPr/>
        </p:nvSpPr>
        <p:spPr>
          <a:xfrm>
            <a:off x="2784348" y="1828800"/>
            <a:ext cx="1965960" cy="3154680"/>
          </a:xfrm>
          <a:prstGeom prst="roundRect">
            <a:avLst>
              <a:gd name="adj" fmla="val 2791"/>
            </a:avLst>
          </a:prstGeom>
          <a:solidFill>
            <a:srgbClr val="F7F9FB"/>
          </a:solidFill>
          <a:ln w="12700">
            <a:solidFill>
              <a:srgbClr val="DDE3EA"/>
            </a:solidFill>
            <a:prstDash val="solid"/>
          </a:ln>
          <a:effectLst>
            <a:outerShdw sx="100000" sy="100000" kx="0" ky="0" algn="bl" rotWithShape="0" blurRad="114300" dist="25400" dir="5400000">
              <a:srgbClr val="7E8B9E">
                <a:alpha val="18000"/>
              </a:srgbClr>
            </a:outerShdw>
          </a:effectLst>
        </p:spPr>
      </p:sp>
      <p:sp>
        <p:nvSpPr>
          <p:cNvPr id="15" name="Text 12"/>
          <p:cNvSpPr txBox="1"/>
          <p:nvPr/>
        </p:nvSpPr>
        <p:spPr>
          <a:xfrm>
            <a:off x="2930652" y="1975104"/>
            <a:ext cx="1673352" cy="201168"/>
          </a:xfrm>
          <a:prstGeom prst="rect">
            <a:avLst/>
          </a:prstGeom>
          <a:noFill/>
          <a:ln/>
        </p:spPr>
        <p:txBody>
          <a:bodyPr wrap="square" lIns="0" tIns="0" rIns="0" bIns="0" rtlCol="0" anchor="ctr"/>
          <a:lstStyle/>
          <a:p>
            <a:pPr indent="0" marL="0">
              <a:buNone/>
            </a:pPr>
            <a:r>
              <a:rPr lang="en-US" sz="1000" b="1" spc="60" kern="0" dirty="0">
                <a:solidFill>
                  <a:srgbClr val="016FD0"/>
                </a:solidFill>
                <a:latin typeface="Arial" pitchFamily="34" charset="0"/>
                <a:ea typeface="Arial" pitchFamily="34" charset="-122"/>
                <a:cs typeface="Arial" pitchFamily="34" charset="-120"/>
              </a:rPr>
              <a:t>02 · SEMANTIC GRAPH</a:t>
            </a:r>
            <a:endParaRPr lang="en-US" sz="1000" dirty="0"/>
          </a:p>
        </p:txBody>
      </p:sp>
      <p:sp>
        <p:nvSpPr>
          <p:cNvPr id="16" name="Shape 13"/>
          <p:cNvSpPr/>
          <p:nvPr/>
        </p:nvSpPr>
        <p:spPr>
          <a:xfrm>
            <a:off x="2930652" y="2231136"/>
            <a:ext cx="402336" cy="402336"/>
          </a:xfrm>
          <a:prstGeom prst="ellipse">
            <a:avLst/>
          </a:prstGeom>
          <a:solidFill>
            <a:srgbClr val="DCE7F7"/>
          </a:solidFill>
          <a:ln w="12700">
            <a:solidFill>
              <a:srgbClr val="C9D8F0"/>
            </a:solidFill>
            <a:prstDash val="solid"/>
          </a:ln>
        </p:spPr>
      </p:sp>
      <p:pic>
        <p:nvPicPr>
          <p:cNvPr id="17" name="Image 1" descr="icons/graph-blue.png">    </p:cNvPr>
          <p:cNvPicPr>
            <a:picLocks noChangeAspect="1"/>
          </p:cNvPicPr>
          <p:nvPr/>
        </p:nvPicPr>
        <p:blipFill>
          <a:blip r:embed="rId2"/>
          <a:stretch>
            <a:fillRect/>
          </a:stretch>
        </p:blipFill>
        <p:spPr>
          <a:xfrm>
            <a:off x="3035259" y="2335743"/>
            <a:ext cx="193121" cy="193121"/>
          </a:xfrm>
          <a:prstGeom prst="rect">
            <a:avLst/>
          </a:prstGeom>
        </p:spPr>
      </p:pic>
      <p:sp>
        <p:nvSpPr>
          <p:cNvPr id="18" name="Text 14"/>
          <p:cNvSpPr txBox="1"/>
          <p:nvPr/>
        </p:nvSpPr>
        <p:spPr>
          <a:xfrm>
            <a:off x="2930652" y="2724912"/>
            <a:ext cx="1673352" cy="274320"/>
          </a:xfrm>
          <a:prstGeom prst="rect">
            <a:avLst/>
          </a:prstGeom>
          <a:noFill/>
          <a:ln/>
        </p:spPr>
        <p:txBody>
          <a:bodyPr wrap="square" lIns="0" tIns="0" rIns="0" bIns="0" rtlCol="0" anchor="ctr"/>
          <a:lstStyle/>
          <a:p>
            <a:pPr indent="0" marL="0">
              <a:buNone/>
            </a:pPr>
            <a:r>
              <a:rPr lang="en-US" sz="1400" b="1" dirty="0">
                <a:solidFill>
                  <a:srgbClr val="002663"/>
                </a:solidFill>
                <a:latin typeface="Arial" pitchFamily="34" charset="0"/>
                <a:ea typeface="Arial" pitchFamily="34" charset="-122"/>
                <a:cs typeface="Arial" pitchFamily="34" charset="-120"/>
              </a:rPr>
              <a:t>Semantic graph</a:t>
            </a:r>
            <a:endParaRPr lang="en-US" sz="1400" dirty="0"/>
          </a:p>
        </p:txBody>
      </p:sp>
      <p:sp>
        <p:nvSpPr>
          <p:cNvPr id="19" name="Text 15"/>
          <p:cNvSpPr txBox="1"/>
          <p:nvPr/>
        </p:nvSpPr>
        <p:spPr>
          <a:xfrm>
            <a:off x="2930652" y="3054096"/>
            <a:ext cx="1673352" cy="1426464"/>
          </a:xfrm>
          <a:prstGeom prst="rect">
            <a:avLst/>
          </a:prstGeom>
          <a:noFill/>
          <a:ln/>
        </p:spPr>
        <p:txBody>
          <a:bodyPr wrap="square" lIns="0" tIns="0" rIns="0" bIns="0" rtlCol="0" anchor="t"/>
          <a:lstStyle/>
          <a:p>
            <a:pPr indent="0" marL="0">
              <a:lnSpc>
                <a:spcPct val="112000"/>
              </a:lnSpc>
              <a:spcAft>
                <a:spcPts val="700"/>
              </a:spcAft>
              <a:buNone/>
            </a:pPr>
            <a:r>
              <a:rPr lang="en-US" sz="1000" dirty="0">
                <a:solidFill>
                  <a:srgbClr val="1A2233"/>
                </a:solidFill>
                <a:latin typeface="Arial" pitchFamily="34" charset="0"/>
                <a:ea typeface="Arial" pitchFamily="34" charset="-122"/>
                <a:cs typeface="Arial" pitchFamily="34" charset="-120"/>
              </a:rPr>
              <a:t>Terms, metrics and joins</a:t>
            </a:r>
            <a:endParaRPr lang="en-US" sz="1000" dirty="0"/>
          </a:p>
          <a:p>
            <a:pPr indent="0" marL="0">
              <a:lnSpc>
                <a:spcPct val="112000"/>
              </a:lnSpc>
              <a:spcAft>
                <a:spcPts val="700"/>
              </a:spcAft>
              <a:buNone/>
            </a:pPr>
            <a:r>
              <a:rPr lang="en-US" sz="1000" dirty="0">
                <a:solidFill>
                  <a:srgbClr val="1A2233"/>
                </a:solidFill>
                <a:latin typeface="Arial" pitchFamily="34" charset="0"/>
                <a:ea typeface="Arial" pitchFamily="34" charset="-122"/>
                <a:cs typeface="Arial" pitchFamily="34" charset="-120"/>
              </a:rPr>
              <a:t>Each one carries the evidence behind it</a:t>
            </a:r>
            <a:endParaRPr lang="en-US" sz="1000" dirty="0"/>
          </a:p>
          <a:p>
            <a:pPr indent="0" marL="0">
              <a:lnSpc>
                <a:spcPct val="112000"/>
              </a:lnSpc>
              <a:spcAft>
                <a:spcPts val="700"/>
              </a:spcAft>
              <a:buNone/>
            </a:pPr>
            <a:r>
              <a:rPr lang="en-US" sz="1000" dirty="0">
                <a:solidFill>
                  <a:srgbClr val="1A2233"/>
                </a:solidFill>
                <a:latin typeface="Arial" pitchFamily="34" charset="0"/>
                <a:ea typeface="Arial" pitchFamily="34" charset="-122"/>
                <a:cs typeface="Arial" pitchFamily="34" charset="-120"/>
              </a:rPr>
              <a:t>Where sources disagree, both are kept</a:t>
            </a:r>
            <a:endParaRPr lang="en-US" sz="1000" dirty="0"/>
          </a:p>
        </p:txBody>
      </p:sp>
      <p:sp>
        <p:nvSpPr>
          <p:cNvPr id="20" name="Text 16"/>
          <p:cNvSpPr txBox="1"/>
          <p:nvPr/>
        </p:nvSpPr>
        <p:spPr>
          <a:xfrm>
            <a:off x="2930652" y="4517136"/>
            <a:ext cx="1673352" cy="310896"/>
          </a:xfrm>
          <a:prstGeom prst="rect">
            <a:avLst/>
          </a:prstGeom>
          <a:noFill/>
          <a:ln/>
        </p:spPr>
        <p:txBody>
          <a:bodyPr wrap="square" lIns="0" tIns="0" rIns="0" bIns="0" rtlCol="0" anchor="ctr"/>
          <a:lstStyle/>
          <a:p>
            <a:pPr indent="0" marL="0">
              <a:buNone/>
            </a:pPr>
            <a:r>
              <a:rPr lang="en-US" sz="950" i="1" dirty="0">
                <a:solidFill>
                  <a:srgbClr val="5A6472"/>
                </a:solidFill>
                <a:latin typeface="Arial" pitchFamily="34" charset="0"/>
                <a:ea typeface="Arial" pitchFamily="34" charset="-122"/>
                <a:cs typeface="Arial" pitchFamily="34" charset="-120"/>
              </a:rPr>
              <a:t>meaning, with its receipts</a:t>
            </a:r>
            <a:endParaRPr lang="en-US" sz="950" dirty="0"/>
          </a:p>
        </p:txBody>
      </p:sp>
      <p:sp>
        <p:nvSpPr>
          <p:cNvPr id="21" name="Shape 17"/>
          <p:cNvSpPr/>
          <p:nvPr/>
        </p:nvSpPr>
        <p:spPr>
          <a:xfrm>
            <a:off x="4800600" y="3328416"/>
            <a:ext cx="260604" cy="155448"/>
          </a:xfrm>
          <a:prstGeom prst="rightArrow">
            <a:avLst/>
          </a:prstGeom>
          <a:solidFill>
            <a:srgbClr val="016FD0"/>
          </a:solidFill>
          <a:ln w="6350">
            <a:solidFill>
              <a:srgbClr val="016FD0"/>
            </a:solidFill>
            <a:prstDash val="solid"/>
          </a:ln>
        </p:spPr>
      </p:sp>
      <p:sp>
        <p:nvSpPr>
          <p:cNvPr id="22" name="Shape 18"/>
          <p:cNvSpPr/>
          <p:nvPr/>
        </p:nvSpPr>
        <p:spPr>
          <a:xfrm>
            <a:off x="5111496" y="1828800"/>
            <a:ext cx="1965960" cy="3154680"/>
          </a:xfrm>
          <a:prstGeom prst="roundRect">
            <a:avLst>
              <a:gd name="adj" fmla="val 2791"/>
            </a:avLst>
          </a:prstGeom>
          <a:solidFill>
            <a:srgbClr val="002663"/>
          </a:solidFill>
          <a:ln w="12700">
            <a:solidFill>
              <a:srgbClr val="DDE3EA"/>
            </a:solidFill>
            <a:prstDash val="solid"/>
          </a:ln>
          <a:effectLst>
            <a:outerShdw sx="100000" sy="100000" kx="0" ky="0" algn="bl" rotWithShape="0" blurRad="114300" dist="25400" dir="5400000">
              <a:srgbClr val="7E8B9E">
                <a:alpha val="18000"/>
              </a:srgbClr>
            </a:outerShdw>
          </a:effectLst>
        </p:spPr>
      </p:sp>
      <p:sp>
        <p:nvSpPr>
          <p:cNvPr id="23" name="Text 19"/>
          <p:cNvSpPr txBox="1"/>
          <p:nvPr/>
        </p:nvSpPr>
        <p:spPr>
          <a:xfrm>
            <a:off x="5257800" y="1975104"/>
            <a:ext cx="1673352" cy="201168"/>
          </a:xfrm>
          <a:prstGeom prst="rect">
            <a:avLst/>
          </a:prstGeom>
          <a:noFill/>
          <a:ln/>
        </p:spPr>
        <p:txBody>
          <a:bodyPr wrap="square" lIns="0" tIns="0" rIns="0" bIns="0" rtlCol="0" anchor="ctr"/>
          <a:lstStyle/>
          <a:p>
            <a:pPr indent="0" marL="0">
              <a:buNone/>
            </a:pPr>
            <a:r>
              <a:rPr lang="en-US" sz="1000" b="1" spc="60" kern="0" dirty="0">
                <a:solidFill>
                  <a:srgbClr val="8FC1FF"/>
                </a:solidFill>
                <a:latin typeface="Arial" pitchFamily="34" charset="0"/>
                <a:ea typeface="Arial" pitchFamily="34" charset="-122"/>
                <a:cs typeface="Arial" pitchFamily="34" charset="-120"/>
              </a:rPr>
              <a:t>03 · SNAPSHOT</a:t>
            </a:r>
            <a:endParaRPr lang="en-US" sz="1000" dirty="0"/>
          </a:p>
        </p:txBody>
      </p:sp>
      <p:sp>
        <p:nvSpPr>
          <p:cNvPr id="24" name="Shape 20"/>
          <p:cNvSpPr/>
          <p:nvPr/>
        </p:nvSpPr>
        <p:spPr>
          <a:xfrm>
            <a:off x="5257800" y="2231136"/>
            <a:ext cx="402336" cy="402336"/>
          </a:xfrm>
          <a:prstGeom prst="ellipse">
            <a:avLst/>
          </a:prstGeom>
          <a:solidFill>
            <a:srgbClr val="FFFFFF"/>
          </a:solidFill>
          <a:ln w="12700">
            <a:solidFill>
              <a:srgbClr val="FFFFFF"/>
            </a:solidFill>
            <a:prstDash val="solid"/>
          </a:ln>
        </p:spPr>
      </p:sp>
      <p:pic>
        <p:nvPicPr>
          <p:cNvPr id="25" name="Image 2" descr="icons/snapshot-navy.png">    </p:cNvPr>
          <p:cNvPicPr>
            <a:picLocks noChangeAspect="1"/>
          </p:cNvPicPr>
          <p:nvPr/>
        </p:nvPicPr>
        <p:blipFill>
          <a:blip r:embed="rId3"/>
          <a:stretch>
            <a:fillRect/>
          </a:stretch>
        </p:blipFill>
        <p:spPr>
          <a:xfrm>
            <a:off x="5362407" y="2335743"/>
            <a:ext cx="193121" cy="193121"/>
          </a:xfrm>
          <a:prstGeom prst="rect">
            <a:avLst/>
          </a:prstGeom>
        </p:spPr>
      </p:pic>
      <p:sp>
        <p:nvSpPr>
          <p:cNvPr id="26" name="Text 21"/>
          <p:cNvSpPr txBox="1"/>
          <p:nvPr/>
        </p:nvSpPr>
        <p:spPr>
          <a:xfrm>
            <a:off x="5257800" y="2724912"/>
            <a:ext cx="1673352"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Trusted snapshot</a:t>
            </a:r>
            <a:endParaRPr lang="en-US" sz="1400" dirty="0"/>
          </a:p>
        </p:txBody>
      </p:sp>
      <p:sp>
        <p:nvSpPr>
          <p:cNvPr id="27" name="Text 22"/>
          <p:cNvSpPr txBox="1"/>
          <p:nvPr/>
        </p:nvSpPr>
        <p:spPr>
          <a:xfrm>
            <a:off x="5257800" y="3054096"/>
            <a:ext cx="1673352" cy="1426464"/>
          </a:xfrm>
          <a:prstGeom prst="rect">
            <a:avLst/>
          </a:prstGeom>
          <a:noFill/>
          <a:ln/>
        </p:spPr>
        <p:txBody>
          <a:bodyPr wrap="square" lIns="0" tIns="0" rIns="0" bIns="0" rtlCol="0" anchor="t"/>
          <a:lstStyle/>
          <a:p>
            <a:pPr indent="0" marL="0">
              <a:lnSpc>
                <a:spcPct val="112000"/>
              </a:lnSpc>
              <a:spcAft>
                <a:spcPts val="700"/>
              </a:spcAft>
              <a:buNone/>
            </a:pPr>
            <a:r>
              <a:rPr lang="en-US" sz="1000" dirty="0">
                <a:solidFill>
                  <a:srgbClr val="C9D8F0"/>
                </a:solidFill>
                <a:latin typeface="Arial" pitchFamily="34" charset="0"/>
                <a:ea typeface="Arial" pitchFamily="34" charset="-122"/>
                <a:cs typeface="Arial" pitchFamily="34" charset="-120"/>
              </a:rPr>
              <a:t>One versioned build of the whole picture</a:t>
            </a:r>
            <a:endParaRPr lang="en-US" sz="1000" dirty="0"/>
          </a:p>
          <a:p>
            <a:pPr indent="0" marL="0">
              <a:lnSpc>
                <a:spcPct val="112000"/>
              </a:lnSpc>
              <a:spcAft>
                <a:spcPts val="700"/>
              </a:spcAft>
              <a:buNone/>
            </a:pPr>
            <a:r>
              <a:rPr lang="en-US" sz="1000" dirty="0">
                <a:solidFill>
                  <a:srgbClr val="C9D8F0"/>
                </a:solidFill>
                <a:latin typeface="Arial" pitchFamily="34" charset="0"/>
                <a:ea typeface="Arial" pitchFamily="34" charset="-122"/>
                <a:cs typeface="Arial" pitchFamily="34" charset="-120"/>
              </a:rPr>
              <a:t>Compiled, never hand-edited</a:t>
            </a:r>
            <a:endParaRPr lang="en-US" sz="1000" dirty="0"/>
          </a:p>
          <a:p>
            <a:pPr indent="0" marL="0">
              <a:lnSpc>
                <a:spcPct val="112000"/>
              </a:lnSpc>
              <a:spcAft>
                <a:spcPts val="700"/>
              </a:spcAft>
              <a:buNone/>
            </a:pPr>
            <a:r>
              <a:rPr lang="en-US" sz="1000" dirty="0">
                <a:solidFill>
                  <a:srgbClr val="C9D8F0"/>
                </a:solidFill>
                <a:latin typeface="Arial" pitchFamily="34" charset="0"/>
                <a:ea typeface="Arial" pitchFamily="34" charset="-122"/>
                <a:cs typeface="Arial" pitchFamily="34" charset="-120"/>
              </a:rPr>
              <a:t>Everything downstream reads this</a:t>
            </a:r>
            <a:endParaRPr lang="en-US" sz="1000" dirty="0"/>
          </a:p>
        </p:txBody>
      </p:sp>
      <p:sp>
        <p:nvSpPr>
          <p:cNvPr id="28" name="Text 23"/>
          <p:cNvSpPr txBox="1"/>
          <p:nvPr/>
        </p:nvSpPr>
        <p:spPr>
          <a:xfrm>
            <a:off x="5257800" y="4517136"/>
            <a:ext cx="1673352" cy="310896"/>
          </a:xfrm>
          <a:prstGeom prst="rect">
            <a:avLst/>
          </a:prstGeom>
          <a:noFill/>
          <a:ln/>
        </p:spPr>
        <p:txBody>
          <a:bodyPr wrap="square" lIns="0" tIns="0" rIns="0" bIns="0" rtlCol="0" anchor="ctr"/>
          <a:lstStyle/>
          <a:p>
            <a:pPr indent="0" marL="0">
              <a:buNone/>
            </a:pPr>
            <a:r>
              <a:rPr lang="en-US" sz="950" i="1" dirty="0">
                <a:solidFill>
                  <a:srgbClr val="8FC1FF"/>
                </a:solidFill>
                <a:latin typeface="Arial" pitchFamily="34" charset="0"/>
                <a:ea typeface="Arial" pitchFamily="34" charset="-122"/>
                <a:cs typeface="Arial" pitchFamily="34" charset="-120"/>
              </a:rPr>
              <a:t>one source of truth</a:t>
            </a:r>
            <a:endParaRPr lang="en-US" sz="950" dirty="0"/>
          </a:p>
        </p:txBody>
      </p:sp>
      <p:sp>
        <p:nvSpPr>
          <p:cNvPr id="29" name="Shape 24"/>
          <p:cNvSpPr/>
          <p:nvPr/>
        </p:nvSpPr>
        <p:spPr>
          <a:xfrm>
            <a:off x="7127748" y="3328416"/>
            <a:ext cx="260604" cy="155448"/>
          </a:xfrm>
          <a:prstGeom prst="rightArrow">
            <a:avLst/>
          </a:prstGeom>
          <a:solidFill>
            <a:srgbClr val="016FD0"/>
          </a:solidFill>
          <a:ln w="6350">
            <a:solidFill>
              <a:srgbClr val="016FD0"/>
            </a:solidFill>
            <a:prstDash val="solid"/>
          </a:ln>
        </p:spPr>
      </p:sp>
      <p:sp>
        <p:nvSpPr>
          <p:cNvPr id="30" name="Shape 25"/>
          <p:cNvSpPr/>
          <p:nvPr/>
        </p:nvSpPr>
        <p:spPr>
          <a:xfrm>
            <a:off x="7438644" y="1828800"/>
            <a:ext cx="1965960" cy="3154680"/>
          </a:xfrm>
          <a:prstGeom prst="roundRect">
            <a:avLst>
              <a:gd name="adj" fmla="val 2791"/>
            </a:avLst>
          </a:prstGeom>
          <a:solidFill>
            <a:srgbClr val="FFFFFF"/>
          </a:solidFill>
          <a:ln w="20320">
            <a:solidFill>
              <a:srgbClr val="016FD0"/>
            </a:solidFill>
            <a:prstDash val="solid"/>
          </a:ln>
          <a:effectLst>
            <a:outerShdw sx="100000" sy="100000" kx="0" ky="0" algn="bl" rotWithShape="0" blurRad="114300" dist="25400" dir="5400000">
              <a:srgbClr val="7E8B9E">
                <a:alpha val="18000"/>
              </a:srgbClr>
            </a:outerShdw>
          </a:effectLst>
        </p:spPr>
      </p:sp>
      <p:sp>
        <p:nvSpPr>
          <p:cNvPr id="31" name="Text 26"/>
          <p:cNvSpPr txBox="1"/>
          <p:nvPr/>
        </p:nvSpPr>
        <p:spPr>
          <a:xfrm>
            <a:off x="7584948" y="1975104"/>
            <a:ext cx="1673352" cy="201168"/>
          </a:xfrm>
          <a:prstGeom prst="rect">
            <a:avLst/>
          </a:prstGeom>
          <a:noFill/>
          <a:ln/>
        </p:spPr>
        <p:txBody>
          <a:bodyPr wrap="square" lIns="0" tIns="0" rIns="0" bIns="0" rtlCol="0" anchor="ctr"/>
          <a:lstStyle/>
          <a:p>
            <a:pPr indent="0" marL="0">
              <a:buNone/>
            </a:pPr>
            <a:r>
              <a:rPr lang="en-US" sz="1000" b="1" spc="60" kern="0" dirty="0">
                <a:solidFill>
                  <a:srgbClr val="016FD0"/>
                </a:solidFill>
                <a:latin typeface="Arial" pitchFamily="34" charset="0"/>
                <a:ea typeface="Arial" pitchFamily="34" charset="-122"/>
                <a:cs typeface="Arial" pitchFamily="34" charset="-120"/>
              </a:rPr>
              <a:t>04 · AGENT HARNESS</a:t>
            </a:r>
            <a:endParaRPr lang="en-US" sz="1000" dirty="0"/>
          </a:p>
        </p:txBody>
      </p:sp>
      <p:sp>
        <p:nvSpPr>
          <p:cNvPr id="32" name="Shape 27"/>
          <p:cNvSpPr/>
          <p:nvPr/>
        </p:nvSpPr>
        <p:spPr>
          <a:xfrm>
            <a:off x="7584948" y="2231136"/>
            <a:ext cx="402336" cy="402336"/>
          </a:xfrm>
          <a:prstGeom prst="ellipse">
            <a:avLst/>
          </a:prstGeom>
          <a:solidFill>
            <a:srgbClr val="DCE7F7"/>
          </a:solidFill>
          <a:ln w="12700">
            <a:solidFill>
              <a:srgbClr val="C9D8F0"/>
            </a:solidFill>
            <a:prstDash val="solid"/>
          </a:ln>
        </p:spPr>
      </p:sp>
      <p:pic>
        <p:nvPicPr>
          <p:cNvPr id="33" name="Image 3" descr="icons/model-blue.png">    </p:cNvPr>
          <p:cNvPicPr>
            <a:picLocks noChangeAspect="1"/>
          </p:cNvPicPr>
          <p:nvPr/>
        </p:nvPicPr>
        <p:blipFill>
          <a:blip r:embed="rId4"/>
          <a:stretch>
            <a:fillRect/>
          </a:stretch>
        </p:blipFill>
        <p:spPr>
          <a:xfrm>
            <a:off x="7689555" y="2335743"/>
            <a:ext cx="193121" cy="193121"/>
          </a:xfrm>
          <a:prstGeom prst="rect">
            <a:avLst/>
          </a:prstGeom>
        </p:spPr>
      </p:pic>
      <p:sp>
        <p:nvSpPr>
          <p:cNvPr id="34" name="Text 28"/>
          <p:cNvSpPr txBox="1"/>
          <p:nvPr/>
        </p:nvSpPr>
        <p:spPr>
          <a:xfrm>
            <a:off x="7584948" y="2724912"/>
            <a:ext cx="1673352" cy="274320"/>
          </a:xfrm>
          <a:prstGeom prst="rect">
            <a:avLst/>
          </a:prstGeom>
          <a:noFill/>
          <a:ln/>
        </p:spPr>
        <p:txBody>
          <a:bodyPr wrap="square" lIns="0" tIns="0" rIns="0" bIns="0" rtlCol="0" anchor="ctr"/>
          <a:lstStyle/>
          <a:p>
            <a:pPr indent="0" marL="0">
              <a:buNone/>
            </a:pPr>
            <a:r>
              <a:rPr lang="en-US" sz="1400" b="1" dirty="0">
                <a:solidFill>
                  <a:srgbClr val="002663"/>
                </a:solidFill>
                <a:latin typeface="Arial" pitchFamily="34" charset="0"/>
                <a:ea typeface="Arial" pitchFamily="34" charset="-122"/>
                <a:cs typeface="Arial" pitchFamily="34" charset="-120"/>
              </a:rPr>
              <a:t>Agent harness</a:t>
            </a:r>
            <a:endParaRPr lang="en-US" sz="1400" dirty="0"/>
          </a:p>
        </p:txBody>
      </p:sp>
      <p:sp>
        <p:nvSpPr>
          <p:cNvPr id="35" name="Text 29"/>
          <p:cNvSpPr txBox="1"/>
          <p:nvPr/>
        </p:nvSpPr>
        <p:spPr>
          <a:xfrm>
            <a:off x="7584948" y="3054096"/>
            <a:ext cx="1673352" cy="1426464"/>
          </a:xfrm>
          <a:prstGeom prst="rect">
            <a:avLst/>
          </a:prstGeom>
          <a:noFill/>
          <a:ln/>
        </p:spPr>
        <p:txBody>
          <a:bodyPr wrap="square" lIns="0" tIns="0" rIns="0" bIns="0" rtlCol="0" anchor="t"/>
          <a:lstStyle/>
          <a:p>
            <a:pPr indent="0" marL="0">
              <a:lnSpc>
                <a:spcPct val="112000"/>
              </a:lnSpc>
              <a:spcAft>
                <a:spcPts val="700"/>
              </a:spcAft>
              <a:buNone/>
            </a:pPr>
            <a:r>
              <a:rPr lang="en-US" sz="1000" dirty="0">
                <a:solidFill>
                  <a:srgbClr val="1A2233"/>
                </a:solidFill>
                <a:latin typeface="Arial" pitchFamily="34" charset="0"/>
                <a:ea typeface="Arial" pitchFamily="34" charset="-122"/>
                <a:cs typeface="Arial" pitchFamily="34" charset="-120"/>
              </a:rPr>
              <a:t>A general model given tools, checks and limits</a:t>
            </a:r>
            <a:endParaRPr lang="en-US" sz="1000" dirty="0"/>
          </a:p>
          <a:p>
            <a:pPr indent="0" marL="0">
              <a:lnSpc>
                <a:spcPct val="112000"/>
              </a:lnSpc>
              <a:spcAft>
                <a:spcPts val="700"/>
              </a:spcAft>
              <a:buNone/>
            </a:pPr>
            <a:r>
              <a:rPr lang="en-US" sz="1000" dirty="0">
                <a:solidFill>
                  <a:srgbClr val="1A2233"/>
                </a:solidFill>
                <a:latin typeface="Arial" pitchFamily="34" charset="0"/>
                <a:ea typeface="Arial" pitchFamily="34" charset="-122"/>
                <a:cs typeface="Arial" pitchFamily="34" charset="-120"/>
              </a:rPr>
              <a:t>It looks things up instead of recalling them</a:t>
            </a:r>
            <a:endParaRPr lang="en-US" sz="1000" dirty="0"/>
          </a:p>
          <a:p>
            <a:pPr indent="0" marL="0">
              <a:lnSpc>
                <a:spcPct val="112000"/>
              </a:lnSpc>
              <a:spcAft>
                <a:spcPts val="700"/>
              </a:spcAft>
              <a:buNone/>
            </a:pPr>
            <a:r>
              <a:rPr lang="en-US" sz="1000" dirty="0">
                <a:solidFill>
                  <a:srgbClr val="1A2233"/>
                </a:solidFill>
                <a:latin typeface="Arial" pitchFamily="34" charset="0"/>
                <a:ea typeface="Arial" pitchFamily="34" charset="-122"/>
                <a:cs typeface="Arial" pitchFamily="34" charset="-120"/>
              </a:rPr>
              <a:t>Every step is checked, not trusted</a:t>
            </a:r>
            <a:endParaRPr lang="en-US" sz="1000" dirty="0"/>
          </a:p>
        </p:txBody>
      </p:sp>
      <p:sp>
        <p:nvSpPr>
          <p:cNvPr id="36" name="Text 30"/>
          <p:cNvSpPr txBox="1"/>
          <p:nvPr/>
        </p:nvSpPr>
        <p:spPr>
          <a:xfrm>
            <a:off x="7584948" y="4517136"/>
            <a:ext cx="1673352" cy="310896"/>
          </a:xfrm>
          <a:prstGeom prst="rect">
            <a:avLst/>
          </a:prstGeom>
          <a:noFill/>
          <a:ln/>
        </p:spPr>
        <p:txBody>
          <a:bodyPr wrap="square" lIns="0" tIns="0" rIns="0" bIns="0" rtlCol="0" anchor="ctr"/>
          <a:lstStyle/>
          <a:p>
            <a:pPr indent="0" marL="0">
              <a:buNone/>
            </a:pPr>
            <a:r>
              <a:rPr lang="en-US" sz="950" i="1" dirty="0">
                <a:solidFill>
                  <a:srgbClr val="5A6472"/>
                </a:solidFill>
                <a:latin typeface="Arial" pitchFamily="34" charset="0"/>
                <a:ea typeface="Arial" pitchFamily="34" charset="-122"/>
                <a:cs typeface="Arial" pitchFamily="34" charset="-120"/>
              </a:rPr>
              <a:t>answers, not guesses</a:t>
            </a:r>
            <a:endParaRPr lang="en-US" sz="950" dirty="0"/>
          </a:p>
        </p:txBody>
      </p:sp>
      <p:sp>
        <p:nvSpPr>
          <p:cNvPr id="37" name="Shape 31"/>
          <p:cNvSpPr/>
          <p:nvPr/>
        </p:nvSpPr>
        <p:spPr>
          <a:xfrm>
            <a:off x="9454896" y="3328416"/>
            <a:ext cx="260604" cy="155448"/>
          </a:xfrm>
          <a:prstGeom prst="rightArrow">
            <a:avLst/>
          </a:prstGeom>
          <a:solidFill>
            <a:srgbClr val="016FD0"/>
          </a:solidFill>
          <a:ln w="6350">
            <a:solidFill>
              <a:srgbClr val="016FD0"/>
            </a:solidFill>
            <a:prstDash val="solid"/>
          </a:ln>
        </p:spPr>
      </p:sp>
      <p:sp>
        <p:nvSpPr>
          <p:cNvPr id="38" name="Shape 32"/>
          <p:cNvSpPr/>
          <p:nvPr/>
        </p:nvSpPr>
        <p:spPr>
          <a:xfrm>
            <a:off x="9765792" y="1828800"/>
            <a:ext cx="1965960" cy="3154680"/>
          </a:xfrm>
          <a:prstGeom prst="roundRect">
            <a:avLst>
              <a:gd name="adj" fmla="val 2791"/>
            </a:avLst>
          </a:prstGeom>
          <a:solidFill>
            <a:srgbClr val="FFFFFF"/>
          </a:solidFill>
          <a:ln w="20320">
            <a:solidFill>
              <a:srgbClr val="016FD0"/>
            </a:solidFill>
            <a:prstDash val="solid"/>
          </a:ln>
          <a:effectLst>
            <a:outerShdw sx="100000" sy="100000" kx="0" ky="0" algn="bl" rotWithShape="0" blurRad="114300" dist="25400" dir="5400000">
              <a:srgbClr val="7E8B9E">
                <a:alpha val="18000"/>
              </a:srgbClr>
            </a:outerShdw>
          </a:effectLst>
        </p:spPr>
      </p:sp>
      <p:sp>
        <p:nvSpPr>
          <p:cNvPr id="39" name="Text 33"/>
          <p:cNvSpPr txBox="1"/>
          <p:nvPr/>
        </p:nvSpPr>
        <p:spPr>
          <a:xfrm>
            <a:off x="9912096" y="1975104"/>
            <a:ext cx="1673352" cy="201168"/>
          </a:xfrm>
          <a:prstGeom prst="rect">
            <a:avLst/>
          </a:prstGeom>
          <a:noFill/>
          <a:ln/>
        </p:spPr>
        <p:txBody>
          <a:bodyPr wrap="square" lIns="0" tIns="0" rIns="0" bIns="0" rtlCol="0" anchor="ctr"/>
          <a:lstStyle/>
          <a:p>
            <a:pPr indent="0" marL="0">
              <a:buNone/>
            </a:pPr>
            <a:r>
              <a:rPr lang="en-US" sz="1000" b="1" spc="60" kern="0" dirty="0">
                <a:solidFill>
                  <a:srgbClr val="016FD0"/>
                </a:solidFill>
                <a:latin typeface="Arial" pitchFamily="34" charset="0"/>
                <a:ea typeface="Arial" pitchFamily="34" charset="-122"/>
                <a:cs typeface="Arial" pitchFamily="34" charset="-120"/>
              </a:rPr>
              <a:t>05 · EXPERIENCES</a:t>
            </a:r>
            <a:endParaRPr lang="en-US" sz="1000" dirty="0"/>
          </a:p>
        </p:txBody>
      </p:sp>
      <p:sp>
        <p:nvSpPr>
          <p:cNvPr id="40" name="Shape 34"/>
          <p:cNvSpPr/>
          <p:nvPr/>
        </p:nvSpPr>
        <p:spPr>
          <a:xfrm>
            <a:off x="9912096" y="2231136"/>
            <a:ext cx="402336" cy="402336"/>
          </a:xfrm>
          <a:prstGeom prst="ellipse">
            <a:avLst/>
          </a:prstGeom>
          <a:solidFill>
            <a:srgbClr val="DCE7F7"/>
          </a:solidFill>
          <a:ln w="12700">
            <a:solidFill>
              <a:srgbClr val="C9D8F0"/>
            </a:solidFill>
            <a:prstDash val="solid"/>
          </a:ln>
        </p:spPr>
      </p:sp>
      <p:pic>
        <p:nvPicPr>
          <p:cNvPr id="41" name="Image 4" descr="icons/chat-blue.png">    </p:cNvPr>
          <p:cNvPicPr>
            <a:picLocks noChangeAspect="1"/>
          </p:cNvPicPr>
          <p:nvPr/>
        </p:nvPicPr>
        <p:blipFill>
          <a:blip r:embed="rId5"/>
          <a:stretch>
            <a:fillRect/>
          </a:stretch>
        </p:blipFill>
        <p:spPr>
          <a:xfrm>
            <a:off x="10016703" y="2335743"/>
            <a:ext cx="193121" cy="193121"/>
          </a:xfrm>
          <a:prstGeom prst="rect">
            <a:avLst/>
          </a:prstGeom>
        </p:spPr>
      </p:pic>
      <p:sp>
        <p:nvSpPr>
          <p:cNvPr id="42" name="Text 35"/>
          <p:cNvSpPr txBox="1"/>
          <p:nvPr/>
        </p:nvSpPr>
        <p:spPr>
          <a:xfrm>
            <a:off x="9912096" y="2724912"/>
            <a:ext cx="1673352" cy="274320"/>
          </a:xfrm>
          <a:prstGeom prst="rect">
            <a:avLst/>
          </a:prstGeom>
          <a:noFill/>
          <a:ln/>
        </p:spPr>
        <p:txBody>
          <a:bodyPr wrap="square" lIns="0" tIns="0" rIns="0" bIns="0" rtlCol="0" anchor="ctr"/>
          <a:lstStyle/>
          <a:p>
            <a:pPr indent="0" marL="0">
              <a:buNone/>
            </a:pPr>
            <a:r>
              <a:rPr lang="en-US" sz="1400" b="1" dirty="0">
                <a:solidFill>
                  <a:srgbClr val="002663"/>
                </a:solidFill>
                <a:latin typeface="Arial" pitchFamily="34" charset="0"/>
                <a:ea typeface="Arial" pitchFamily="34" charset="-122"/>
                <a:cs typeface="Arial" pitchFamily="34" charset="-120"/>
              </a:rPr>
              <a:t>Experiences</a:t>
            </a:r>
            <a:endParaRPr lang="en-US" sz="1400" dirty="0"/>
          </a:p>
        </p:txBody>
      </p:sp>
      <p:sp>
        <p:nvSpPr>
          <p:cNvPr id="43" name="Text 36"/>
          <p:cNvSpPr txBox="1"/>
          <p:nvPr/>
        </p:nvSpPr>
        <p:spPr>
          <a:xfrm>
            <a:off x="9912096" y="3054096"/>
            <a:ext cx="1673352" cy="1426464"/>
          </a:xfrm>
          <a:prstGeom prst="rect">
            <a:avLst/>
          </a:prstGeom>
          <a:noFill/>
          <a:ln/>
        </p:spPr>
        <p:txBody>
          <a:bodyPr wrap="square" lIns="0" tIns="0" rIns="0" bIns="0" rtlCol="0" anchor="t"/>
          <a:lstStyle/>
          <a:p>
            <a:pPr indent="0" marL="0">
              <a:lnSpc>
                <a:spcPct val="112000"/>
              </a:lnSpc>
              <a:spcAft>
                <a:spcPts val="700"/>
              </a:spcAft>
              <a:buNone/>
            </a:pPr>
            <a:r>
              <a:rPr lang="en-US" sz="1000" dirty="0">
                <a:solidFill>
                  <a:srgbClr val="1A2233"/>
                </a:solidFill>
                <a:latin typeface="Arial" pitchFamily="34" charset="0"/>
                <a:ea typeface="Arial" pitchFamily="34" charset="-122"/>
                <a:cs typeface="Arial" pitchFamily="34" charset="-120"/>
              </a:rPr>
              <a:t>Ask in plain words</a:t>
            </a:r>
            <a:endParaRPr lang="en-US" sz="1000" dirty="0"/>
          </a:p>
          <a:p>
            <a:pPr indent="0" marL="0">
              <a:lnSpc>
                <a:spcPct val="112000"/>
              </a:lnSpc>
              <a:spcAft>
                <a:spcPts val="700"/>
              </a:spcAft>
              <a:buNone/>
            </a:pPr>
            <a:r>
              <a:rPr lang="en-US" sz="1000" dirty="0">
                <a:solidFill>
                  <a:srgbClr val="1A2233"/>
                </a:solidFill>
                <a:latin typeface="Arial" pitchFamily="34" charset="0"/>
                <a:ea typeface="Arial" pitchFamily="34" charset="-122"/>
                <a:cs typeface="Arial" pitchFamily="34" charset="-120"/>
              </a:rPr>
              <a:t>Explore the semantics</a:t>
            </a:r>
            <a:endParaRPr lang="en-US" sz="1000" dirty="0"/>
          </a:p>
          <a:p>
            <a:pPr indent="0" marL="0">
              <a:lnSpc>
                <a:spcPct val="112000"/>
              </a:lnSpc>
              <a:spcAft>
                <a:spcPts val="700"/>
              </a:spcAft>
              <a:buNone/>
            </a:pPr>
            <a:r>
              <a:rPr lang="en-US" sz="1000" dirty="0">
                <a:solidFill>
                  <a:srgbClr val="1A2233"/>
                </a:solidFill>
                <a:latin typeface="Arial" pitchFamily="34" charset="0"/>
                <a:ea typeface="Arial" pitchFamily="34" charset="-122"/>
                <a:cs typeface="Arial" pitchFamily="34" charset="-120"/>
              </a:rPr>
              <a:t>Steward what the business means</a:t>
            </a:r>
            <a:endParaRPr lang="en-US" sz="1000" dirty="0"/>
          </a:p>
        </p:txBody>
      </p:sp>
      <p:sp>
        <p:nvSpPr>
          <p:cNvPr id="44" name="Text 37"/>
          <p:cNvSpPr txBox="1"/>
          <p:nvPr/>
        </p:nvSpPr>
        <p:spPr>
          <a:xfrm>
            <a:off x="9912096" y="4517136"/>
            <a:ext cx="1673352" cy="310896"/>
          </a:xfrm>
          <a:prstGeom prst="rect">
            <a:avLst/>
          </a:prstGeom>
          <a:noFill/>
          <a:ln/>
        </p:spPr>
        <p:txBody>
          <a:bodyPr wrap="square" lIns="0" tIns="0" rIns="0" bIns="0" rtlCol="0" anchor="ctr"/>
          <a:lstStyle/>
          <a:p>
            <a:pPr indent="0" marL="0">
              <a:buNone/>
            </a:pPr>
            <a:r>
              <a:rPr lang="en-US" sz="950" i="1" dirty="0">
                <a:solidFill>
                  <a:srgbClr val="5A6472"/>
                </a:solidFill>
                <a:latin typeface="Arial" pitchFamily="34" charset="0"/>
                <a:ea typeface="Arial" pitchFamily="34" charset="-122"/>
                <a:cs typeface="Arial" pitchFamily="34" charset="-120"/>
              </a:rPr>
              <a:t>where people meet it</a:t>
            </a:r>
            <a:endParaRPr lang="en-US" sz="950" dirty="0"/>
          </a:p>
        </p:txBody>
      </p:sp>
      <p:sp>
        <p:nvSpPr>
          <p:cNvPr id="45" name="Shape 38"/>
          <p:cNvSpPr/>
          <p:nvPr/>
        </p:nvSpPr>
        <p:spPr>
          <a:xfrm>
            <a:off x="457200" y="5230368"/>
            <a:ext cx="11274552" cy="822960"/>
          </a:xfrm>
          <a:prstGeom prst="roundRect">
            <a:avLst>
              <a:gd name="adj" fmla="val 6667"/>
            </a:avLst>
          </a:prstGeom>
          <a:solidFill>
            <a:srgbClr val="EDF1F6"/>
          </a:solidFill>
          <a:ln w="12700">
            <a:solidFill>
              <a:srgbClr val="DDE3EA"/>
            </a:solidFill>
            <a:prstDash val="solid"/>
          </a:ln>
        </p:spPr>
      </p:sp>
      <p:sp>
        <p:nvSpPr>
          <p:cNvPr id="46" name="Text 39"/>
          <p:cNvSpPr txBox="1"/>
          <p:nvPr/>
        </p:nvSpPr>
        <p:spPr>
          <a:xfrm>
            <a:off x="685800" y="5413248"/>
            <a:ext cx="1828800" cy="274320"/>
          </a:xfrm>
          <a:prstGeom prst="rect">
            <a:avLst/>
          </a:prstGeom>
          <a:noFill/>
          <a:ln/>
        </p:spPr>
        <p:txBody>
          <a:bodyPr wrap="square" lIns="0" tIns="0" rIns="0" bIns="0" rtlCol="0" anchor="ctr"/>
          <a:lstStyle/>
          <a:p>
            <a:pPr indent="0" marL="0">
              <a:buNone/>
            </a:pPr>
            <a:r>
              <a:rPr lang="en-US" sz="1050" b="1" spc="60" kern="0" dirty="0">
                <a:solidFill>
                  <a:srgbClr val="016FD0"/>
                </a:solidFill>
                <a:latin typeface="Arial" pitchFamily="34" charset="0"/>
                <a:ea typeface="Arial" pitchFamily="34" charset="-122"/>
                <a:cs typeface="Arial" pitchFamily="34" charset="-120"/>
              </a:rPr>
              <a:t>GOVERNED END TO END</a:t>
            </a:r>
            <a:endParaRPr lang="en-US" sz="1050" dirty="0"/>
          </a:p>
        </p:txBody>
      </p:sp>
      <p:sp>
        <p:nvSpPr>
          <p:cNvPr id="47" name="Text 40"/>
          <p:cNvSpPr txBox="1"/>
          <p:nvPr/>
        </p:nvSpPr>
        <p:spPr>
          <a:xfrm>
            <a:off x="2606040" y="5376672"/>
            <a:ext cx="8915400" cy="530352"/>
          </a:xfrm>
          <a:prstGeom prst="rect">
            <a:avLst/>
          </a:prstGeom>
          <a:noFill/>
          <a:ln/>
        </p:spPr>
        <p:txBody>
          <a:bodyPr wrap="square" lIns="0" tIns="0" rIns="0" bIns="0" rtlCol="0" anchor="ctr"/>
          <a:lstStyle/>
          <a:p>
            <a:pPr indent="0" marL="0">
              <a:buNone/>
            </a:pPr>
            <a:r>
              <a:rPr lang="en-US" sz="1100" dirty="0">
                <a:solidFill>
                  <a:srgbClr val="1A2233"/>
                </a:solidFill>
                <a:latin typeface="Arial" pitchFamily="34" charset="0"/>
                <a:ea typeface="Arial" pitchFamily="34" charset="-122"/>
                <a:cs typeface="Arial" pitchFamily="34" charset="-120"/>
              </a:rPr>
              <a:t>Every answer names the definition it used and where the number came from. What the business means is changed by people, on the record — never by the model.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10241280" y="256032"/>
            <a:ext cx="1554480" cy="1188720"/>
          </a:xfrm>
          <a:prstGeom prst="rect">
            <a:avLst/>
          </a:prstGeom>
          <a:noFill/>
          <a:ln/>
        </p:spPr>
        <p:txBody>
          <a:bodyPr wrap="square" lIns="0" tIns="0" rIns="0" bIns="0" rtlCol="0" anchor="ctr"/>
          <a:lstStyle/>
          <a:p>
            <a:pPr algn="r" indent="0" marL="0">
              <a:buNone/>
            </a:pPr>
            <a:r>
              <a:rPr lang="en-US" sz="8000" b="1" dirty="0">
                <a:solidFill>
                  <a:srgbClr val="EDF1F6"/>
                </a:solidFill>
                <a:latin typeface="Arial" pitchFamily="34" charset="0"/>
                <a:ea typeface="Arial" pitchFamily="34" charset="-122"/>
                <a:cs typeface="Arial" pitchFamily="34" charset="-120"/>
              </a:rPr>
              <a:t>3</a:t>
            </a:r>
            <a:endParaRPr lang="en-US" sz="8000" dirty="0"/>
          </a:p>
        </p:txBody>
      </p:sp>
      <p:sp>
        <p:nvSpPr>
          <p:cNvPr id="3" name="Text 1"/>
          <p:cNvSpPr txBox="1"/>
          <p:nvPr/>
        </p:nvSpPr>
        <p:spPr>
          <a:xfrm>
            <a:off x="457200" y="384048"/>
            <a:ext cx="9509760" cy="237744"/>
          </a:xfrm>
          <a:prstGeom prst="rect">
            <a:avLst/>
          </a:prstGeom>
          <a:noFill/>
          <a:ln/>
        </p:spPr>
        <p:txBody>
          <a:bodyPr wrap="square" lIns="0" tIns="0" rIns="0" bIns="0" rtlCol="0" anchor="ctr"/>
          <a:lstStyle/>
          <a:p>
            <a:pPr indent="0" marL="0">
              <a:buNone/>
            </a:pPr>
            <a:r>
              <a:rPr lang="en-US" sz="1050" b="1" spc="90" kern="0" dirty="0">
                <a:solidFill>
                  <a:srgbClr val="016FD0"/>
                </a:solidFill>
                <a:latin typeface="Arial" pitchFamily="34" charset="0"/>
                <a:ea typeface="Arial" pitchFamily="34" charset="-122"/>
                <a:cs typeface="Arial" pitchFamily="34" charset="-120"/>
              </a:rPr>
              <a:t>ONE LEVEL DOWN  ·  DEPTH 3 OF 3</a:t>
            </a:r>
            <a:endParaRPr lang="en-US" sz="1050" dirty="0"/>
          </a:p>
        </p:txBody>
      </p:sp>
      <p:sp>
        <p:nvSpPr>
          <p:cNvPr id="4" name="Text 2"/>
          <p:cNvSpPr txBox="1"/>
          <p:nvPr/>
        </p:nvSpPr>
        <p:spPr>
          <a:xfrm>
            <a:off x="457200" y="658368"/>
            <a:ext cx="9509760" cy="548640"/>
          </a:xfrm>
          <a:prstGeom prst="rect">
            <a:avLst/>
          </a:prstGeom>
          <a:noFill/>
          <a:ln/>
        </p:spPr>
        <p:txBody>
          <a:bodyPr wrap="square" lIns="0" tIns="0" rIns="0" bIns="0" rtlCol="0" anchor="ctr"/>
          <a:lstStyle/>
          <a:p>
            <a:pPr indent="0" marL="0">
              <a:buNone/>
            </a:pPr>
            <a:r>
              <a:rPr lang="en-US" sz="2700" b="1" dirty="0">
                <a:solidFill>
                  <a:srgbClr val="002663"/>
                </a:solidFill>
                <a:latin typeface="Arial" pitchFamily="34" charset="0"/>
                <a:ea typeface="Arial" pitchFamily="34" charset="-122"/>
                <a:cs typeface="Arial" pitchFamily="34" charset="-120"/>
              </a:rPr>
              <a:t>The working view</a:t>
            </a:r>
            <a:endParaRPr lang="en-US" sz="2700" dirty="0"/>
          </a:p>
        </p:txBody>
      </p:sp>
      <p:sp>
        <p:nvSpPr>
          <p:cNvPr id="5" name="Text 3"/>
          <p:cNvSpPr txBox="1"/>
          <p:nvPr/>
        </p:nvSpPr>
        <p:spPr>
          <a:xfrm>
            <a:off x="457200" y="1243584"/>
            <a:ext cx="10424160" cy="365760"/>
          </a:xfrm>
          <a:prstGeom prst="rect">
            <a:avLst/>
          </a:prstGeom>
          <a:noFill/>
          <a:ln/>
        </p:spPr>
        <p:txBody>
          <a:bodyPr wrap="square" lIns="0" tIns="0" rIns="0" bIns="0" rtlCol="0" anchor="ctr"/>
          <a:lstStyle/>
          <a:p>
            <a:pPr indent="0" marL="0">
              <a:buNone/>
            </a:pPr>
            <a:r>
              <a:rPr lang="en-US" sz="1350" dirty="0">
                <a:solidFill>
                  <a:srgbClr val="1A2233"/>
                </a:solidFill>
                <a:latin typeface="Arial" pitchFamily="34" charset="0"/>
                <a:ea typeface="Arial" pitchFamily="34" charset="-122"/>
                <a:cs typeface="Arial" pitchFamily="34" charset="-120"/>
              </a:rPr>
              <a:t>For the people who will build on it. The same flow, plus the check that sits at every boundary.</a:t>
            </a:r>
            <a:endParaRPr lang="en-US" sz="1350" dirty="0"/>
          </a:p>
        </p:txBody>
      </p:sp>
      <p:sp>
        <p:nvSpPr>
          <p:cNvPr id="6" name="Shape 4"/>
          <p:cNvSpPr/>
          <p:nvPr/>
        </p:nvSpPr>
        <p:spPr>
          <a:xfrm>
            <a:off x="457200" y="1828800"/>
            <a:ext cx="1965960" cy="457200"/>
          </a:xfrm>
          <a:prstGeom prst="roundRect">
            <a:avLst>
              <a:gd name="adj" fmla="val 12000"/>
            </a:avLst>
          </a:prstGeom>
          <a:solidFill>
            <a:srgbClr val="F7F9FB"/>
          </a:solidFill>
          <a:ln w="12700">
            <a:solidFill>
              <a:srgbClr val="DDE3EA"/>
            </a:solidFill>
            <a:prstDash val="solid"/>
          </a:ln>
          <a:effectLst>
            <a:outerShdw sx="100000" sy="100000" kx="0" ky="0" algn="bl" rotWithShape="0" blurRad="114300" dist="25400" dir="5400000">
              <a:srgbClr val="7E8B9E">
                <a:alpha val="18000"/>
              </a:srgbClr>
            </a:outerShdw>
          </a:effectLst>
        </p:spPr>
      </p:sp>
      <p:sp>
        <p:nvSpPr>
          <p:cNvPr id="7" name="Shape 5"/>
          <p:cNvSpPr/>
          <p:nvPr/>
        </p:nvSpPr>
        <p:spPr>
          <a:xfrm>
            <a:off x="566928" y="1911096"/>
            <a:ext cx="292608" cy="292608"/>
          </a:xfrm>
          <a:prstGeom prst="ellipse">
            <a:avLst/>
          </a:prstGeom>
          <a:solidFill>
            <a:srgbClr val="DCE7F7"/>
          </a:solidFill>
          <a:ln w="12700">
            <a:solidFill>
              <a:srgbClr val="C9D8F0"/>
            </a:solidFill>
            <a:prstDash val="solid"/>
          </a:ln>
        </p:spPr>
      </p:sp>
      <p:pic>
        <p:nvPicPr>
          <p:cNvPr id="8" name="Image 0" descr="icons/storage-blue.png">    </p:cNvPr>
          <p:cNvPicPr>
            <a:picLocks noChangeAspect="1"/>
          </p:cNvPicPr>
          <p:nvPr/>
        </p:nvPicPr>
        <p:blipFill>
          <a:blip r:embed="rId1"/>
          <a:stretch>
            <a:fillRect/>
          </a:stretch>
        </p:blipFill>
        <p:spPr>
          <a:xfrm>
            <a:off x="643006" y="1987174"/>
            <a:ext cx="140452" cy="140452"/>
          </a:xfrm>
          <a:prstGeom prst="rect">
            <a:avLst/>
          </a:prstGeom>
        </p:spPr>
      </p:pic>
      <p:sp>
        <p:nvSpPr>
          <p:cNvPr id="9" name="Text 6"/>
          <p:cNvSpPr txBox="1"/>
          <p:nvPr/>
        </p:nvSpPr>
        <p:spPr>
          <a:xfrm>
            <a:off x="914400" y="1901952"/>
            <a:ext cx="1380744" cy="310896"/>
          </a:xfrm>
          <a:prstGeom prst="rect">
            <a:avLst/>
          </a:prstGeom>
          <a:noFill/>
          <a:ln/>
        </p:spPr>
        <p:txBody>
          <a:bodyPr wrap="square" lIns="0" tIns="0" rIns="0" bIns="0" rtlCol="0" anchor="ctr"/>
          <a:lstStyle/>
          <a:p>
            <a:pPr indent="0" marL="0">
              <a:buNone/>
            </a:pPr>
            <a:r>
              <a:rPr lang="en-US" sz="1300" b="1" dirty="0">
                <a:solidFill>
                  <a:srgbClr val="002663"/>
                </a:solidFill>
                <a:latin typeface="Arial" pitchFamily="34" charset="0"/>
                <a:ea typeface="Arial" pitchFamily="34" charset="-122"/>
                <a:cs typeface="Arial" pitchFamily="34" charset="-120"/>
              </a:rPr>
              <a:t>Sources</a:t>
            </a:r>
            <a:endParaRPr lang="en-US" sz="1300" dirty="0"/>
          </a:p>
        </p:txBody>
      </p:sp>
      <p:sp>
        <p:nvSpPr>
          <p:cNvPr id="10" name="Shape 7"/>
          <p:cNvSpPr/>
          <p:nvPr/>
        </p:nvSpPr>
        <p:spPr>
          <a:xfrm>
            <a:off x="457200" y="2395728"/>
            <a:ext cx="1965960" cy="566928"/>
          </a:xfrm>
          <a:prstGeom prst="roundRect">
            <a:avLst>
              <a:gd name="adj" fmla="val 8065"/>
            </a:avLst>
          </a:prstGeom>
          <a:solidFill>
            <a:srgbClr val="F7F9FB"/>
          </a:solidFill>
          <a:ln w="12700">
            <a:solidFill>
              <a:srgbClr val="DDE3EA"/>
            </a:solidFill>
            <a:prstDash val="solid"/>
          </a:ln>
        </p:spPr>
      </p:sp>
      <p:sp>
        <p:nvSpPr>
          <p:cNvPr id="11" name="Text 8"/>
          <p:cNvSpPr txBox="1"/>
          <p:nvPr/>
        </p:nvSpPr>
        <p:spPr>
          <a:xfrm>
            <a:off x="585216" y="2432304"/>
            <a:ext cx="1709928" cy="493776"/>
          </a:xfrm>
          <a:prstGeom prst="rect">
            <a:avLst/>
          </a:prstGeom>
          <a:noFill/>
          <a:ln/>
        </p:spPr>
        <p:txBody>
          <a:bodyPr wrap="square" lIns="0" tIns="0" rIns="0" bIns="0" rtlCol="0" anchor="ctr"/>
          <a:lstStyle/>
          <a:p>
            <a:pPr indent="0" marL="0">
              <a:lnSpc>
                <a:spcPct val="110000"/>
              </a:lnSpc>
              <a:buNone/>
            </a:pPr>
            <a:r>
              <a:rPr lang="en-US" sz="950" dirty="0">
                <a:solidFill>
                  <a:srgbClr val="1A2233"/>
                </a:solidFill>
                <a:latin typeface="Arial" pitchFamily="34" charset="0"/>
                <a:ea typeface="Arial" pitchFamily="34" charset="-122"/>
                <a:cs typeface="Arial" pitchFamily="34" charset="-120"/>
              </a:rPr>
              <a:t>Warehouse tables, columns, metadata</a:t>
            </a:r>
            <a:endParaRPr lang="en-US" sz="950" dirty="0"/>
          </a:p>
        </p:txBody>
      </p:sp>
      <p:sp>
        <p:nvSpPr>
          <p:cNvPr id="12" name="Shape 9"/>
          <p:cNvSpPr/>
          <p:nvPr/>
        </p:nvSpPr>
        <p:spPr>
          <a:xfrm>
            <a:off x="457200" y="3035808"/>
            <a:ext cx="1965960" cy="566928"/>
          </a:xfrm>
          <a:prstGeom prst="roundRect">
            <a:avLst>
              <a:gd name="adj" fmla="val 8065"/>
            </a:avLst>
          </a:prstGeom>
          <a:solidFill>
            <a:srgbClr val="F7F9FB"/>
          </a:solidFill>
          <a:ln w="12700">
            <a:solidFill>
              <a:srgbClr val="DDE3EA"/>
            </a:solidFill>
            <a:prstDash val="solid"/>
          </a:ln>
        </p:spPr>
      </p:sp>
      <p:sp>
        <p:nvSpPr>
          <p:cNvPr id="13" name="Text 10"/>
          <p:cNvSpPr txBox="1"/>
          <p:nvPr/>
        </p:nvSpPr>
        <p:spPr>
          <a:xfrm>
            <a:off x="585216" y="3072384"/>
            <a:ext cx="1709928" cy="493776"/>
          </a:xfrm>
          <a:prstGeom prst="rect">
            <a:avLst/>
          </a:prstGeom>
          <a:noFill/>
          <a:ln/>
        </p:spPr>
        <p:txBody>
          <a:bodyPr wrap="square" lIns="0" tIns="0" rIns="0" bIns="0" rtlCol="0" anchor="ctr"/>
          <a:lstStyle/>
          <a:p>
            <a:pPr indent="0" marL="0">
              <a:lnSpc>
                <a:spcPct val="110000"/>
              </a:lnSpc>
              <a:buNone/>
            </a:pPr>
            <a:r>
              <a:rPr lang="en-US" sz="950" dirty="0">
                <a:solidFill>
                  <a:srgbClr val="1A2233"/>
                </a:solidFill>
                <a:latin typeface="Arial" pitchFamily="34" charset="0"/>
                <a:ea typeface="Arial" pitchFamily="34" charset="-122"/>
                <a:cs typeface="Arial" pitchFamily="34" charset="-120"/>
              </a:rPr>
              <a:t>30 days of query history</a:t>
            </a:r>
            <a:endParaRPr lang="en-US" sz="950" dirty="0"/>
          </a:p>
        </p:txBody>
      </p:sp>
      <p:sp>
        <p:nvSpPr>
          <p:cNvPr id="14" name="Shape 11"/>
          <p:cNvSpPr/>
          <p:nvPr/>
        </p:nvSpPr>
        <p:spPr>
          <a:xfrm>
            <a:off x="457200" y="3675888"/>
            <a:ext cx="1965960" cy="566928"/>
          </a:xfrm>
          <a:prstGeom prst="roundRect">
            <a:avLst>
              <a:gd name="adj" fmla="val 8065"/>
            </a:avLst>
          </a:prstGeom>
          <a:solidFill>
            <a:srgbClr val="F7F9FB"/>
          </a:solidFill>
          <a:ln w="12700">
            <a:solidFill>
              <a:srgbClr val="DDE3EA"/>
            </a:solidFill>
            <a:prstDash val="solid"/>
          </a:ln>
        </p:spPr>
      </p:sp>
      <p:sp>
        <p:nvSpPr>
          <p:cNvPr id="15" name="Text 12"/>
          <p:cNvSpPr txBox="1"/>
          <p:nvPr/>
        </p:nvSpPr>
        <p:spPr>
          <a:xfrm>
            <a:off x="585216" y="3712464"/>
            <a:ext cx="1709928" cy="493776"/>
          </a:xfrm>
          <a:prstGeom prst="rect">
            <a:avLst/>
          </a:prstGeom>
          <a:noFill/>
          <a:ln/>
        </p:spPr>
        <p:txBody>
          <a:bodyPr wrap="square" lIns="0" tIns="0" rIns="0" bIns="0" rtlCol="0" anchor="ctr"/>
          <a:lstStyle/>
          <a:p>
            <a:pPr indent="0" marL="0">
              <a:lnSpc>
                <a:spcPct val="110000"/>
              </a:lnSpc>
              <a:buNone/>
            </a:pPr>
            <a:r>
              <a:rPr lang="en-US" sz="950" dirty="0">
                <a:solidFill>
                  <a:srgbClr val="1A2233"/>
                </a:solidFill>
                <a:latin typeface="Arial" pitchFamily="34" charset="0"/>
                <a:ea typeface="Arial" pitchFamily="34" charset="-122"/>
                <a:cs typeface="Arial" pitchFamily="34" charset="-120"/>
              </a:rPr>
              <a:t>Glossary, playbooks, proven SQL</a:t>
            </a:r>
            <a:endParaRPr lang="en-US" sz="950" dirty="0"/>
          </a:p>
        </p:txBody>
      </p:sp>
      <p:sp>
        <p:nvSpPr>
          <p:cNvPr id="16" name="Shape 13"/>
          <p:cNvSpPr/>
          <p:nvPr/>
        </p:nvSpPr>
        <p:spPr>
          <a:xfrm>
            <a:off x="2473452" y="1979676"/>
            <a:ext cx="260604" cy="155448"/>
          </a:xfrm>
          <a:prstGeom prst="rightArrow">
            <a:avLst/>
          </a:prstGeom>
          <a:solidFill>
            <a:srgbClr val="016FD0"/>
          </a:solidFill>
          <a:ln w="6350">
            <a:solidFill>
              <a:srgbClr val="016FD0"/>
            </a:solidFill>
            <a:prstDash val="solid"/>
          </a:ln>
        </p:spPr>
      </p:sp>
      <p:sp>
        <p:nvSpPr>
          <p:cNvPr id="17" name="Shape 14"/>
          <p:cNvSpPr/>
          <p:nvPr/>
        </p:nvSpPr>
        <p:spPr>
          <a:xfrm>
            <a:off x="2784348" y="1828800"/>
            <a:ext cx="1965960" cy="457200"/>
          </a:xfrm>
          <a:prstGeom prst="roundRect">
            <a:avLst>
              <a:gd name="adj" fmla="val 12000"/>
            </a:avLst>
          </a:prstGeom>
          <a:solidFill>
            <a:srgbClr val="F7F9FB"/>
          </a:solidFill>
          <a:ln w="12700">
            <a:solidFill>
              <a:srgbClr val="DDE3EA"/>
            </a:solidFill>
            <a:prstDash val="solid"/>
          </a:ln>
          <a:effectLst>
            <a:outerShdw sx="100000" sy="100000" kx="0" ky="0" algn="bl" rotWithShape="0" blurRad="114300" dist="25400" dir="5400000">
              <a:srgbClr val="7E8B9E">
                <a:alpha val="18000"/>
              </a:srgbClr>
            </a:outerShdw>
          </a:effectLst>
        </p:spPr>
      </p:sp>
      <p:sp>
        <p:nvSpPr>
          <p:cNvPr id="18" name="Shape 15"/>
          <p:cNvSpPr/>
          <p:nvPr/>
        </p:nvSpPr>
        <p:spPr>
          <a:xfrm>
            <a:off x="2894076" y="1911096"/>
            <a:ext cx="292608" cy="292608"/>
          </a:xfrm>
          <a:prstGeom prst="ellipse">
            <a:avLst/>
          </a:prstGeom>
          <a:solidFill>
            <a:srgbClr val="DCE7F7"/>
          </a:solidFill>
          <a:ln w="12700">
            <a:solidFill>
              <a:srgbClr val="C9D8F0"/>
            </a:solidFill>
            <a:prstDash val="solid"/>
          </a:ln>
        </p:spPr>
      </p:sp>
      <p:pic>
        <p:nvPicPr>
          <p:cNvPr id="19" name="Image 1" descr="icons/graph-blue.png">    </p:cNvPr>
          <p:cNvPicPr>
            <a:picLocks noChangeAspect="1"/>
          </p:cNvPicPr>
          <p:nvPr/>
        </p:nvPicPr>
        <p:blipFill>
          <a:blip r:embed="rId2"/>
          <a:stretch>
            <a:fillRect/>
          </a:stretch>
        </p:blipFill>
        <p:spPr>
          <a:xfrm>
            <a:off x="2970154" y="1987174"/>
            <a:ext cx="140452" cy="140452"/>
          </a:xfrm>
          <a:prstGeom prst="rect">
            <a:avLst/>
          </a:prstGeom>
        </p:spPr>
      </p:pic>
      <p:sp>
        <p:nvSpPr>
          <p:cNvPr id="20" name="Text 16"/>
          <p:cNvSpPr txBox="1"/>
          <p:nvPr/>
        </p:nvSpPr>
        <p:spPr>
          <a:xfrm>
            <a:off x="3241548" y="1901952"/>
            <a:ext cx="1380744" cy="310896"/>
          </a:xfrm>
          <a:prstGeom prst="rect">
            <a:avLst/>
          </a:prstGeom>
          <a:noFill/>
          <a:ln/>
        </p:spPr>
        <p:txBody>
          <a:bodyPr wrap="square" lIns="0" tIns="0" rIns="0" bIns="0" rtlCol="0" anchor="ctr"/>
          <a:lstStyle/>
          <a:p>
            <a:pPr indent="0" marL="0">
              <a:buNone/>
            </a:pPr>
            <a:r>
              <a:rPr lang="en-US" sz="1300" b="1" dirty="0">
                <a:solidFill>
                  <a:srgbClr val="002663"/>
                </a:solidFill>
                <a:latin typeface="Arial" pitchFamily="34" charset="0"/>
                <a:ea typeface="Arial" pitchFamily="34" charset="-122"/>
                <a:cs typeface="Arial" pitchFamily="34" charset="-120"/>
              </a:rPr>
              <a:t>Meaning</a:t>
            </a:r>
            <a:endParaRPr lang="en-US" sz="1300" dirty="0"/>
          </a:p>
        </p:txBody>
      </p:sp>
      <p:sp>
        <p:nvSpPr>
          <p:cNvPr id="21" name="Shape 17"/>
          <p:cNvSpPr/>
          <p:nvPr/>
        </p:nvSpPr>
        <p:spPr>
          <a:xfrm>
            <a:off x="2784348" y="2395728"/>
            <a:ext cx="1965960" cy="566928"/>
          </a:xfrm>
          <a:prstGeom prst="roundRect">
            <a:avLst>
              <a:gd name="adj" fmla="val 8065"/>
            </a:avLst>
          </a:prstGeom>
          <a:solidFill>
            <a:srgbClr val="F7F9FB"/>
          </a:solidFill>
          <a:ln w="12700">
            <a:solidFill>
              <a:srgbClr val="DDE3EA"/>
            </a:solidFill>
            <a:prstDash val="solid"/>
          </a:ln>
        </p:spPr>
      </p:sp>
      <p:sp>
        <p:nvSpPr>
          <p:cNvPr id="22" name="Text 18"/>
          <p:cNvSpPr txBox="1"/>
          <p:nvPr/>
        </p:nvSpPr>
        <p:spPr>
          <a:xfrm>
            <a:off x="2912364" y="2432304"/>
            <a:ext cx="1709928" cy="493776"/>
          </a:xfrm>
          <a:prstGeom prst="rect">
            <a:avLst/>
          </a:prstGeom>
          <a:noFill/>
          <a:ln/>
        </p:spPr>
        <p:txBody>
          <a:bodyPr wrap="square" lIns="0" tIns="0" rIns="0" bIns="0" rtlCol="0" anchor="ctr"/>
          <a:lstStyle/>
          <a:p>
            <a:pPr indent="0" marL="0">
              <a:lnSpc>
                <a:spcPct val="110000"/>
              </a:lnSpc>
              <a:buNone/>
            </a:pPr>
            <a:r>
              <a:rPr lang="en-US" sz="950" dirty="0">
                <a:solidFill>
                  <a:srgbClr val="1A2233"/>
                </a:solidFill>
                <a:latin typeface="Arial" pitchFamily="34" charset="0"/>
                <a:ea typeface="Arial" pitchFamily="34" charset="-122"/>
                <a:cs typeface="Arial" pitchFamily="34" charset="-120"/>
              </a:rPr>
              <a:t>Read in and normalised</a:t>
            </a:r>
            <a:endParaRPr lang="en-US" sz="950" dirty="0"/>
          </a:p>
        </p:txBody>
      </p:sp>
      <p:sp>
        <p:nvSpPr>
          <p:cNvPr id="23" name="Shape 19"/>
          <p:cNvSpPr/>
          <p:nvPr/>
        </p:nvSpPr>
        <p:spPr>
          <a:xfrm>
            <a:off x="2784348" y="3035808"/>
            <a:ext cx="1965960" cy="566928"/>
          </a:xfrm>
          <a:prstGeom prst="roundRect">
            <a:avLst>
              <a:gd name="adj" fmla="val 8065"/>
            </a:avLst>
          </a:prstGeom>
          <a:solidFill>
            <a:srgbClr val="F7F9FB"/>
          </a:solidFill>
          <a:ln w="12700">
            <a:solidFill>
              <a:srgbClr val="DDE3EA"/>
            </a:solidFill>
            <a:prstDash val="solid"/>
          </a:ln>
        </p:spPr>
      </p:sp>
      <p:sp>
        <p:nvSpPr>
          <p:cNvPr id="24" name="Text 20"/>
          <p:cNvSpPr txBox="1"/>
          <p:nvPr/>
        </p:nvSpPr>
        <p:spPr>
          <a:xfrm>
            <a:off x="2912364" y="3072384"/>
            <a:ext cx="1709928" cy="493776"/>
          </a:xfrm>
          <a:prstGeom prst="rect">
            <a:avLst/>
          </a:prstGeom>
          <a:noFill/>
          <a:ln/>
        </p:spPr>
        <p:txBody>
          <a:bodyPr wrap="square" lIns="0" tIns="0" rIns="0" bIns="0" rtlCol="0" anchor="ctr"/>
          <a:lstStyle/>
          <a:p>
            <a:pPr indent="0" marL="0">
              <a:lnSpc>
                <a:spcPct val="110000"/>
              </a:lnSpc>
              <a:buNone/>
            </a:pPr>
            <a:r>
              <a:rPr lang="en-US" sz="950" dirty="0">
                <a:solidFill>
                  <a:srgbClr val="1A2233"/>
                </a:solidFill>
                <a:latin typeface="Arial" pitchFamily="34" charset="0"/>
                <a:ea typeface="Arial" pitchFamily="34" charset="-122"/>
                <a:cs typeface="Arial" pitchFamily="34" charset="-120"/>
              </a:rPr>
              <a:t>Identity resolved before anything lands</a:t>
            </a:r>
            <a:endParaRPr lang="en-US" sz="950" dirty="0"/>
          </a:p>
        </p:txBody>
      </p:sp>
      <p:sp>
        <p:nvSpPr>
          <p:cNvPr id="25" name="Shape 21"/>
          <p:cNvSpPr/>
          <p:nvPr/>
        </p:nvSpPr>
        <p:spPr>
          <a:xfrm>
            <a:off x="2784348" y="3675888"/>
            <a:ext cx="1965960" cy="566928"/>
          </a:xfrm>
          <a:prstGeom prst="roundRect">
            <a:avLst>
              <a:gd name="adj" fmla="val 8065"/>
            </a:avLst>
          </a:prstGeom>
          <a:solidFill>
            <a:srgbClr val="F7F9FB"/>
          </a:solidFill>
          <a:ln w="12700">
            <a:solidFill>
              <a:srgbClr val="DDE3EA"/>
            </a:solidFill>
            <a:prstDash val="solid"/>
          </a:ln>
        </p:spPr>
      </p:sp>
      <p:sp>
        <p:nvSpPr>
          <p:cNvPr id="26" name="Text 22"/>
          <p:cNvSpPr txBox="1"/>
          <p:nvPr/>
        </p:nvSpPr>
        <p:spPr>
          <a:xfrm>
            <a:off x="2912364" y="3712464"/>
            <a:ext cx="1709928" cy="493776"/>
          </a:xfrm>
          <a:prstGeom prst="rect">
            <a:avLst/>
          </a:prstGeom>
          <a:noFill/>
          <a:ln/>
        </p:spPr>
        <p:txBody>
          <a:bodyPr wrap="square" lIns="0" tIns="0" rIns="0" bIns="0" rtlCol="0" anchor="ctr"/>
          <a:lstStyle/>
          <a:p>
            <a:pPr indent="0" marL="0">
              <a:lnSpc>
                <a:spcPct val="110000"/>
              </a:lnSpc>
              <a:buNone/>
            </a:pPr>
            <a:r>
              <a:rPr lang="en-US" sz="950" dirty="0">
                <a:solidFill>
                  <a:srgbClr val="1A2233"/>
                </a:solidFill>
                <a:latin typeface="Arial" pitchFamily="34" charset="0"/>
                <a:ea typeface="Arial" pitchFamily="34" charset="-122"/>
                <a:cs typeface="Arial" pitchFamily="34" charset="-120"/>
              </a:rPr>
              <a:t>Every statement keeps its evidence</a:t>
            </a:r>
            <a:endParaRPr lang="en-US" sz="950" dirty="0"/>
          </a:p>
        </p:txBody>
      </p:sp>
      <p:sp>
        <p:nvSpPr>
          <p:cNvPr id="27" name="Shape 23"/>
          <p:cNvSpPr/>
          <p:nvPr/>
        </p:nvSpPr>
        <p:spPr>
          <a:xfrm>
            <a:off x="4800600" y="1979676"/>
            <a:ext cx="260604" cy="155448"/>
          </a:xfrm>
          <a:prstGeom prst="rightArrow">
            <a:avLst/>
          </a:prstGeom>
          <a:solidFill>
            <a:srgbClr val="016FD0"/>
          </a:solidFill>
          <a:ln w="6350">
            <a:solidFill>
              <a:srgbClr val="016FD0"/>
            </a:solidFill>
            <a:prstDash val="solid"/>
          </a:ln>
        </p:spPr>
      </p:sp>
      <p:sp>
        <p:nvSpPr>
          <p:cNvPr id="28" name="Shape 24"/>
          <p:cNvSpPr/>
          <p:nvPr/>
        </p:nvSpPr>
        <p:spPr>
          <a:xfrm>
            <a:off x="5111496" y="1828800"/>
            <a:ext cx="1965960" cy="457200"/>
          </a:xfrm>
          <a:prstGeom prst="roundRect">
            <a:avLst>
              <a:gd name="adj" fmla="val 12000"/>
            </a:avLst>
          </a:prstGeom>
          <a:solidFill>
            <a:srgbClr val="002663"/>
          </a:solidFill>
          <a:ln w="17780">
            <a:solidFill>
              <a:srgbClr val="016FD0"/>
            </a:solidFill>
            <a:prstDash val="solid"/>
          </a:ln>
          <a:effectLst>
            <a:outerShdw sx="100000" sy="100000" kx="0" ky="0" algn="bl" rotWithShape="0" blurRad="114300" dist="25400" dir="5400000">
              <a:srgbClr val="7E8B9E">
                <a:alpha val="18000"/>
              </a:srgbClr>
            </a:outerShdw>
          </a:effectLst>
        </p:spPr>
      </p:sp>
      <p:sp>
        <p:nvSpPr>
          <p:cNvPr id="29" name="Shape 25"/>
          <p:cNvSpPr/>
          <p:nvPr/>
        </p:nvSpPr>
        <p:spPr>
          <a:xfrm>
            <a:off x="5221224" y="1911096"/>
            <a:ext cx="292608" cy="292608"/>
          </a:xfrm>
          <a:prstGeom prst="ellipse">
            <a:avLst/>
          </a:prstGeom>
          <a:solidFill>
            <a:srgbClr val="FFFFFF"/>
          </a:solidFill>
          <a:ln w="12700">
            <a:solidFill>
              <a:srgbClr val="FFFFFF"/>
            </a:solidFill>
            <a:prstDash val="solid"/>
          </a:ln>
        </p:spPr>
      </p:sp>
      <p:pic>
        <p:nvPicPr>
          <p:cNvPr id="30" name="Image 2" descr="icons/snapshot-navy.png">    </p:cNvPr>
          <p:cNvPicPr>
            <a:picLocks noChangeAspect="1"/>
          </p:cNvPicPr>
          <p:nvPr/>
        </p:nvPicPr>
        <p:blipFill>
          <a:blip r:embed="rId3"/>
          <a:stretch>
            <a:fillRect/>
          </a:stretch>
        </p:blipFill>
        <p:spPr>
          <a:xfrm>
            <a:off x="5297302" y="1987174"/>
            <a:ext cx="140452" cy="140452"/>
          </a:xfrm>
          <a:prstGeom prst="rect">
            <a:avLst/>
          </a:prstGeom>
        </p:spPr>
      </p:pic>
      <p:sp>
        <p:nvSpPr>
          <p:cNvPr id="31" name="Text 26"/>
          <p:cNvSpPr txBox="1"/>
          <p:nvPr/>
        </p:nvSpPr>
        <p:spPr>
          <a:xfrm>
            <a:off x="5568696" y="1901952"/>
            <a:ext cx="1380744" cy="310896"/>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Snapshot</a:t>
            </a:r>
            <a:endParaRPr lang="en-US" sz="1300" dirty="0"/>
          </a:p>
        </p:txBody>
      </p:sp>
      <p:sp>
        <p:nvSpPr>
          <p:cNvPr id="32" name="Shape 27"/>
          <p:cNvSpPr/>
          <p:nvPr/>
        </p:nvSpPr>
        <p:spPr>
          <a:xfrm>
            <a:off x="5111496" y="2395728"/>
            <a:ext cx="1965960" cy="566928"/>
          </a:xfrm>
          <a:prstGeom prst="roundRect">
            <a:avLst>
              <a:gd name="adj" fmla="val 8065"/>
            </a:avLst>
          </a:prstGeom>
          <a:solidFill>
            <a:srgbClr val="0A3A82"/>
          </a:solidFill>
          <a:ln w="12700">
            <a:solidFill>
              <a:srgbClr val="DDE3EA"/>
            </a:solidFill>
            <a:prstDash val="solid"/>
          </a:ln>
        </p:spPr>
      </p:sp>
      <p:sp>
        <p:nvSpPr>
          <p:cNvPr id="33" name="Text 28"/>
          <p:cNvSpPr txBox="1"/>
          <p:nvPr/>
        </p:nvSpPr>
        <p:spPr>
          <a:xfrm>
            <a:off x="5239512" y="2432304"/>
            <a:ext cx="1709928" cy="493776"/>
          </a:xfrm>
          <a:prstGeom prst="rect">
            <a:avLst/>
          </a:prstGeom>
          <a:noFill/>
          <a:ln/>
        </p:spPr>
        <p:txBody>
          <a:bodyPr wrap="square" lIns="0" tIns="0" rIns="0" bIns="0" rtlCol="0" anchor="ctr"/>
          <a:lstStyle/>
          <a:p>
            <a:pPr indent="0" marL="0">
              <a:lnSpc>
                <a:spcPct val="110000"/>
              </a:lnSpc>
              <a:buNone/>
            </a:pPr>
            <a:r>
              <a:rPr lang="en-US" sz="950" dirty="0">
                <a:solidFill>
                  <a:srgbClr val="C9D8F0"/>
                </a:solidFill>
                <a:latin typeface="Arial" pitchFamily="34" charset="0"/>
                <a:ea typeface="Arial" pitchFamily="34" charset="-122"/>
                <a:cs typeface="Arial" pitchFamily="34" charset="-120"/>
              </a:rPr>
              <a:t>Compiled as one unit</a:t>
            </a:r>
            <a:endParaRPr lang="en-US" sz="950" dirty="0"/>
          </a:p>
        </p:txBody>
      </p:sp>
      <p:sp>
        <p:nvSpPr>
          <p:cNvPr id="34" name="Shape 29"/>
          <p:cNvSpPr/>
          <p:nvPr/>
        </p:nvSpPr>
        <p:spPr>
          <a:xfrm>
            <a:off x="5111496" y="3035808"/>
            <a:ext cx="1965960" cy="566928"/>
          </a:xfrm>
          <a:prstGeom prst="roundRect">
            <a:avLst>
              <a:gd name="adj" fmla="val 8065"/>
            </a:avLst>
          </a:prstGeom>
          <a:solidFill>
            <a:srgbClr val="0A3A82"/>
          </a:solidFill>
          <a:ln w="12700">
            <a:solidFill>
              <a:srgbClr val="DDE3EA"/>
            </a:solidFill>
            <a:prstDash val="solid"/>
          </a:ln>
        </p:spPr>
      </p:sp>
      <p:sp>
        <p:nvSpPr>
          <p:cNvPr id="35" name="Text 30"/>
          <p:cNvSpPr txBox="1"/>
          <p:nvPr/>
        </p:nvSpPr>
        <p:spPr>
          <a:xfrm>
            <a:off x="5239512" y="3072384"/>
            <a:ext cx="1709928" cy="493776"/>
          </a:xfrm>
          <a:prstGeom prst="rect">
            <a:avLst/>
          </a:prstGeom>
          <a:noFill/>
          <a:ln/>
        </p:spPr>
        <p:txBody>
          <a:bodyPr wrap="square" lIns="0" tIns="0" rIns="0" bIns="0" rtlCol="0" anchor="ctr"/>
          <a:lstStyle/>
          <a:p>
            <a:pPr indent="0" marL="0">
              <a:lnSpc>
                <a:spcPct val="110000"/>
              </a:lnSpc>
              <a:buNone/>
            </a:pPr>
            <a:r>
              <a:rPr lang="en-US" sz="950" dirty="0">
                <a:solidFill>
                  <a:srgbClr val="C9D8F0"/>
                </a:solidFill>
                <a:latin typeface="Arial" pitchFamily="34" charset="0"/>
                <a:ea typeface="Arial" pitchFamily="34" charset="-122"/>
                <a:cs typeface="Arial" pitchFamily="34" charset="-120"/>
              </a:rPr>
              <a:t>Versioned and published whole</a:t>
            </a:r>
            <a:endParaRPr lang="en-US" sz="950" dirty="0"/>
          </a:p>
        </p:txBody>
      </p:sp>
      <p:sp>
        <p:nvSpPr>
          <p:cNvPr id="36" name="Shape 31"/>
          <p:cNvSpPr/>
          <p:nvPr/>
        </p:nvSpPr>
        <p:spPr>
          <a:xfrm>
            <a:off x="5111496" y="3675888"/>
            <a:ext cx="1965960" cy="566928"/>
          </a:xfrm>
          <a:prstGeom prst="roundRect">
            <a:avLst>
              <a:gd name="adj" fmla="val 8065"/>
            </a:avLst>
          </a:prstGeom>
          <a:solidFill>
            <a:srgbClr val="0A3A82"/>
          </a:solidFill>
          <a:ln w="12700">
            <a:solidFill>
              <a:srgbClr val="DDE3EA"/>
            </a:solidFill>
            <a:prstDash val="solid"/>
          </a:ln>
        </p:spPr>
      </p:sp>
      <p:sp>
        <p:nvSpPr>
          <p:cNvPr id="37" name="Text 32"/>
          <p:cNvSpPr txBox="1"/>
          <p:nvPr/>
        </p:nvSpPr>
        <p:spPr>
          <a:xfrm>
            <a:off x="5239512" y="3712464"/>
            <a:ext cx="1709928" cy="493776"/>
          </a:xfrm>
          <a:prstGeom prst="rect">
            <a:avLst/>
          </a:prstGeom>
          <a:noFill/>
          <a:ln/>
        </p:spPr>
        <p:txBody>
          <a:bodyPr wrap="square" lIns="0" tIns="0" rIns="0" bIns="0" rtlCol="0" anchor="ctr"/>
          <a:lstStyle/>
          <a:p>
            <a:pPr indent="0" marL="0">
              <a:lnSpc>
                <a:spcPct val="110000"/>
              </a:lnSpc>
              <a:buNone/>
            </a:pPr>
            <a:r>
              <a:rPr lang="en-US" sz="950" dirty="0">
                <a:solidFill>
                  <a:srgbClr val="C9D8F0"/>
                </a:solidFill>
                <a:latin typeface="Arial" pitchFamily="34" charset="0"/>
                <a:ea typeface="Arial" pitchFamily="34" charset="-122"/>
                <a:cs typeface="Arial" pitchFamily="34" charset="-120"/>
              </a:rPr>
              <a:t>A single read path downstream</a:t>
            </a:r>
            <a:endParaRPr lang="en-US" sz="950" dirty="0"/>
          </a:p>
        </p:txBody>
      </p:sp>
      <p:sp>
        <p:nvSpPr>
          <p:cNvPr id="38" name="Shape 33"/>
          <p:cNvSpPr/>
          <p:nvPr/>
        </p:nvSpPr>
        <p:spPr>
          <a:xfrm>
            <a:off x="7127748" y="1979676"/>
            <a:ext cx="260604" cy="155448"/>
          </a:xfrm>
          <a:prstGeom prst="rightArrow">
            <a:avLst/>
          </a:prstGeom>
          <a:solidFill>
            <a:srgbClr val="016FD0"/>
          </a:solidFill>
          <a:ln w="6350">
            <a:solidFill>
              <a:srgbClr val="016FD0"/>
            </a:solidFill>
            <a:prstDash val="solid"/>
          </a:ln>
        </p:spPr>
      </p:sp>
      <p:sp>
        <p:nvSpPr>
          <p:cNvPr id="39" name="Shape 34"/>
          <p:cNvSpPr/>
          <p:nvPr/>
        </p:nvSpPr>
        <p:spPr>
          <a:xfrm>
            <a:off x="7438644" y="1828800"/>
            <a:ext cx="1965960" cy="457200"/>
          </a:xfrm>
          <a:prstGeom prst="roundRect">
            <a:avLst>
              <a:gd name="adj" fmla="val 12000"/>
            </a:avLst>
          </a:prstGeom>
          <a:solidFill>
            <a:srgbClr val="FFFFFF"/>
          </a:solidFill>
          <a:ln w="17780">
            <a:solidFill>
              <a:srgbClr val="016FD0"/>
            </a:solidFill>
            <a:prstDash val="solid"/>
          </a:ln>
          <a:effectLst>
            <a:outerShdw sx="100000" sy="100000" kx="0" ky="0" algn="bl" rotWithShape="0" blurRad="114300" dist="25400" dir="5400000">
              <a:srgbClr val="7E8B9E">
                <a:alpha val="18000"/>
              </a:srgbClr>
            </a:outerShdw>
          </a:effectLst>
        </p:spPr>
      </p:sp>
      <p:sp>
        <p:nvSpPr>
          <p:cNvPr id="40" name="Shape 35"/>
          <p:cNvSpPr/>
          <p:nvPr/>
        </p:nvSpPr>
        <p:spPr>
          <a:xfrm>
            <a:off x="7548372" y="1911096"/>
            <a:ext cx="292608" cy="292608"/>
          </a:xfrm>
          <a:prstGeom prst="ellipse">
            <a:avLst/>
          </a:prstGeom>
          <a:solidFill>
            <a:srgbClr val="DCE7F7"/>
          </a:solidFill>
          <a:ln w="12700">
            <a:solidFill>
              <a:srgbClr val="C9D8F0"/>
            </a:solidFill>
            <a:prstDash val="solid"/>
          </a:ln>
        </p:spPr>
      </p:sp>
      <p:pic>
        <p:nvPicPr>
          <p:cNvPr id="41" name="Image 3" descr="icons/model-blue.png">    </p:cNvPr>
          <p:cNvPicPr>
            <a:picLocks noChangeAspect="1"/>
          </p:cNvPicPr>
          <p:nvPr/>
        </p:nvPicPr>
        <p:blipFill>
          <a:blip r:embed="rId4"/>
          <a:stretch>
            <a:fillRect/>
          </a:stretch>
        </p:blipFill>
        <p:spPr>
          <a:xfrm>
            <a:off x="7624450" y="1987174"/>
            <a:ext cx="140452" cy="140452"/>
          </a:xfrm>
          <a:prstGeom prst="rect">
            <a:avLst/>
          </a:prstGeom>
        </p:spPr>
      </p:pic>
      <p:sp>
        <p:nvSpPr>
          <p:cNvPr id="42" name="Text 36"/>
          <p:cNvSpPr txBox="1"/>
          <p:nvPr/>
        </p:nvSpPr>
        <p:spPr>
          <a:xfrm>
            <a:off x="7895844" y="1901952"/>
            <a:ext cx="1380744" cy="310896"/>
          </a:xfrm>
          <a:prstGeom prst="rect">
            <a:avLst/>
          </a:prstGeom>
          <a:noFill/>
          <a:ln/>
        </p:spPr>
        <p:txBody>
          <a:bodyPr wrap="square" lIns="0" tIns="0" rIns="0" bIns="0" rtlCol="0" anchor="ctr"/>
          <a:lstStyle/>
          <a:p>
            <a:pPr indent="0" marL="0">
              <a:buNone/>
            </a:pPr>
            <a:r>
              <a:rPr lang="en-US" sz="1300" b="1" dirty="0">
                <a:solidFill>
                  <a:srgbClr val="002663"/>
                </a:solidFill>
                <a:latin typeface="Arial" pitchFamily="34" charset="0"/>
                <a:ea typeface="Arial" pitchFamily="34" charset="-122"/>
                <a:cs typeface="Arial" pitchFamily="34" charset="-120"/>
              </a:rPr>
              <a:t>Harness</a:t>
            </a:r>
            <a:endParaRPr lang="en-US" sz="1300" dirty="0"/>
          </a:p>
        </p:txBody>
      </p:sp>
      <p:sp>
        <p:nvSpPr>
          <p:cNvPr id="43" name="Shape 37"/>
          <p:cNvSpPr/>
          <p:nvPr/>
        </p:nvSpPr>
        <p:spPr>
          <a:xfrm>
            <a:off x="7438644" y="2395728"/>
            <a:ext cx="1965960" cy="566928"/>
          </a:xfrm>
          <a:prstGeom prst="roundRect">
            <a:avLst>
              <a:gd name="adj" fmla="val 8065"/>
            </a:avLst>
          </a:prstGeom>
          <a:solidFill>
            <a:srgbClr val="F7F9FB"/>
          </a:solidFill>
          <a:ln w="12700">
            <a:solidFill>
              <a:srgbClr val="DDE3EA"/>
            </a:solidFill>
            <a:prstDash val="solid"/>
          </a:ln>
        </p:spPr>
      </p:sp>
      <p:sp>
        <p:nvSpPr>
          <p:cNvPr id="44" name="Text 38"/>
          <p:cNvSpPr txBox="1"/>
          <p:nvPr/>
        </p:nvSpPr>
        <p:spPr>
          <a:xfrm>
            <a:off x="7566660" y="2432304"/>
            <a:ext cx="1709928" cy="493776"/>
          </a:xfrm>
          <a:prstGeom prst="rect">
            <a:avLst/>
          </a:prstGeom>
          <a:noFill/>
          <a:ln/>
        </p:spPr>
        <p:txBody>
          <a:bodyPr wrap="square" lIns="0" tIns="0" rIns="0" bIns="0" rtlCol="0" anchor="ctr"/>
          <a:lstStyle/>
          <a:p>
            <a:pPr indent="0" marL="0">
              <a:lnSpc>
                <a:spcPct val="110000"/>
              </a:lnSpc>
              <a:buNone/>
            </a:pPr>
            <a:r>
              <a:rPr lang="en-US" sz="950" dirty="0">
                <a:solidFill>
                  <a:srgbClr val="1A2233"/>
                </a:solidFill>
                <a:latin typeface="Arial" pitchFamily="34" charset="0"/>
                <a:ea typeface="Arial" pitchFamily="34" charset="-122"/>
                <a:cs typeface="Arial" pitchFamily="34" charset="-120"/>
              </a:rPr>
              <a:t>A fixed path for a governed number</a:t>
            </a:r>
            <a:endParaRPr lang="en-US" sz="950" dirty="0"/>
          </a:p>
        </p:txBody>
      </p:sp>
      <p:sp>
        <p:nvSpPr>
          <p:cNvPr id="45" name="Shape 39"/>
          <p:cNvSpPr/>
          <p:nvPr/>
        </p:nvSpPr>
        <p:spPr>
          <a:xfrm>
            <a:off x="7438644" y="3035808"/>
            <a:ext cx="1965960" cy="566928"/>
          </a:xfrm>
          <a:prstGeom prst="roundRect">
            <a:avLst>
              <a:gd name="adj" fmla="val 8065"/>
            </a:avLst>
          </a:prstGeom>
          <a:solidFill>
            <a:srgbClr val="F7F9FB"/>
          </a:solidFill>
          <a:ln w="12700">
            <a:solidFill>
              <a:srgbClr val="DDE3EA"/>
            </a:solidFill>
            <a:prstDash val="solid"/>
          </a:ln>
        </p:spPr>
      </p:sp>
      <p:sp>
        <p:nvSpPr>
          <p:cNvPr id="46" name="Text 40"/>
          <p:cNvSpPr txBox="1"/>
          <p:nvPr/>
        </p:nvSpPr>
        <p:spPr>
          <a:xfrm>
            <a:off x="7566660" y="3072384"/>
            <a:ext cx="1709928" cy="493776"/>
          </a:xfrm>
          <a:prstGeom prst="rect">
            <a:avLst/>
          </a:prstGeom>
          <a:noFill/>
          <a:ln/>
        </p:spPr>
        <p:txBody>
          <a:bodyPr wrap="square" lIns="0" tIns="0" rIns="0" bIns="0" rtlCol="0" anchor="ctr"/>
          <a:lstStyle/>
          <a:p>
            <a:pPr indent="0" marL="0">
              <a:lnSpc>
                <a:spcPct val="110000"/>
              </a:lnSpc>
              <a:buNone/>
            </a:pPr>
            <a:r>
              <a:rPr lang="en-US" sz="950" dirty="0">
                <a:solidFill>
                  <a:srgbClr val="1A2233"/>
                </a:solidFill>
                <a:latin typeface="Arial" pitchFamily="34" charset="0"/>
                <a:ea typeface="Arial" pitchFamily="34" charset="-122"/>
                <a:cs typeface="Arial" pitchFamily="34" charset="-120"/>
              </a:rPr>
              <a:t>An open path for analysis</a:t>
            </a:r>
            <a:endParaRPr lang="en-US" sz="950" dirty="0"/>
          </a:p>
        </p:txBody>
      </p:sp>
      <p:sp>
        <p:nvSpPr>
          <p:cNvPr id="47" name="Shape 41"/>
          <p:cNvSpPr/>
          <p:nvPr/>
        </p:nvSpPr>
        <p:spPr>
          <a:xfrm>
            <a:off x="7438644" y="3675888"/>
            <a:ext cx="1965960" cy="566928"/>
          </a:xfrm>
          <a:prstGeom prst="roundRect">
            <a:avLst>
              <a:gd name="adj" fmla="val 8065"/>
            </a:avLst>
          </a:prstGeom>
          <a:solidFill>
            <a:srgbClr val="F7F9FB"/>
          </a:solidFill>
          <a:ln w="12700">
            <a:solidFill>
              <a:srgbClr val="DDE3EA"/>
            </a:solidFill>
            <a:prstDash val="solid"/>
          </a:ln>
        </p:spPr>
      </p:sp>
      <p:sp>
        <p:nvSpPr>
          <p:cNvPr id="48" name="Text 42"/>
          <p:cNvSpPr txBox="1"/>
          <p:nvPr/>
        </p:nvSpPr>
        <p:spPr>
          <a:xfrm>
            <a:off x="7566660" y="3712464"/>
            <a:ext cx="1709928" cy="493776"/>
          </a:xfrm>
          <a:prstGeom prst="rect">
            <a:avLst/>
          </a:prstGeom>
          <a:noFill/>
          <a:ln/>
        </p:spPr>
        <p:txBody>
          <a:bodyPr wrap="square" lIns="0" tIns="0" rIns="0" bIns="0" rtlCol="0" anchor="ctr"/>
          <a:lstStyle/>
          <a:p>
            <a:pPr indent="0" marL="0">
              <a:lnSpc>
                <a:spcPct val="110000"/>
              </a:lnSpc>
              <a:buNone/>
            </a:pPr>
            <a:r>
              <a:rPr lang="en-US" sz="950" dirty="0">
                <a:solidFill>
                  <a:srgbClr val="1A2233"/>
                </a:solidFill>
                <a:latin typeface="Arial" pitchFamily="34" charset="0"/>
                <a:ea typeface="Arial" pitchFamily="34" charset="-122"/>
                <a:cs typeface="Arial" pitchFamily="34" charset="-120"/>
              </a:rPr>
              <a:t>Checks and budgets around both</a:t>
            </a:r>
            <a:endParaRPr lang="en-US" sz="950" dirty="0"/>
          </a:p>
        </p:txBody>
      </p:sp>
      <p:sp>
        <p:nvSpPr>
          <p:cNvPr id="49" name="Shape 43"/>
          <p:cNvSpPr/>
          <p:nvPr/>
        </p:nvSpPr>
        <p:spPr>
          <a:xfrm>
            <a:off x="9454896" y="1979676"/>
            <a:ext cx="260604" cy="155448"/>
          </a:xfrm>
          <a:prstGeom prst="rightArrow">
            <a:avLst/>
          </a:prstGeom>
          <a:solidFill>
            <a:srgbClr val="016FD0"/>
          </a:solidFill>
          <a:ln w="6350">
            <a:solidFill>
              <a:srgbClr val="016FD0"/>
            </a:solidFill>
            <a:prstDash val="solid"/>
          </a:ln>
        </p:spPr>
      </p:sp>
      <p:sp>
        <p:nvSpPr>
          <p:cNvPr id="50" name="Shape 44"/>
          <p:cNvSpPr/>
          <p:nvPr/>
        </p:nvSpPr>
        <p:spPr>
          <a:xfrm>
            <a:off x="9765792" y="1828800"/>
            <a:ext cx="1965960" cy="457200"/>
          </a:xfrm>
          <a:prstGeom prst="roundRect">
            <a:avLst>
              <a:gd name="adj" fmla="val 12000"/>
            </a:avLst>
          </a:prstGeom>
          <a:solidFill>
            <a:srgbClr val="FFFFFF"/>
          </a:solidFill>
          <a:ln w="17780">
            <a:solidFill>
              <a:srgbClr val="016FD0"/>
            </a:solidFill>
            <a:prstDash val="solid"/>
          </a:ln>
          <a:effectLst>
            <a:outerShdw sx="100000" sy="100000" kx="0" ky="0" algn="bl" rotWithShape="0" blurRad="114300" dist="25400" dir="5400000">
              <a:srgbClr val="7E8B9E">
                <a:alpha val="18000"/>
              </a:srgbClr>
            </a:outerShdw>
          </a:effectLst>
        </p:spPr>
      </p:sp>
      <p:sp>
        <p:nvSpPr>
          <p:cNvPr id="51" name="Shape 45"/>
          <p:cNvSpPr/>
          <p:nvPr/>
        </p:nvSpPr>
        <p:spPr>
          <a:xfrm>
            <a:off x="9875520" y="1911096"/>
            <a:ext cx="292608" cy="292608"/>
          </a:xfrm>
          <a:prstGeom prst="ellipse">
            <a:avLst/>
          </a:prstGeom>
          <a:solidFill>
            <a:srgbClr val="DCE7F7"/>
          </a:solidFill>
          <a:ln w="12700">
            <a:solidFill>
              <a:srgbClr val="C9D8F0"/>
            </a:solidFill>
            <a:prstDash val="solid"/>
          </a:ln>
        </p:spPr>
      </p:sp>
      <p:pic>
        <p:nvPicPr>
          <p:cNvPr id="52" name="Image 4" descr="icons/chat-blue.png">    </p:cNvPr>
          <p:cNvPicPr>
            <a:picLocks noChangeAspect="1"/>
          </p:cNvPicPr>
          <p:nvPr/>
        </p:nvPicPr>
        <p:blipFill>
          <a:blip r:embed="rId5"/>
          <a:stretch>
            <a:fillRect/>
          </a:stretch>
        </p:blipFill>
        <p:spPr>
          <a:xfrm>
            <a:off x="9951598" y="1987174"/>
            <a:ext cx="140452" cy="140452"/>
          </a:xfrm>
          <a:prstGeom prst="rect">
            <a:avLst/>
          </a:prstGeom>
        </p:spPr>
      </p:pic>
      <p:sp>
        <p:nvSpPr>
          <p:cNvPr id="53" name="Text 46"/>
          <p:cNvSpPr txBox="1"/>
          <p:nvPr/>
        </p:nvSpPr>
        <p:spPr>
          <a:xfrm>
            <a:off x="10222992" y="1901952"/>
            <a:ext cx="1380744" cy="310896"/>
          </a:xfrm>
          <a:prstGeom prst="rect">
            <a:avLst/>
          </a:prstGeom>
          <a:noFill/>
          <a:ln/>
        </p:spPr>
        <p:txBody>
          <a:bodyPr wrap="square" lIns="0" tIns="0" rIns="0" bIns="0" rtlCol="0" anchor="ctr"/>
          <a:lstStyle/>
          <a:p>
            <a:pPr indent="0" marL="0">
              <a:buNone/>
            </a:pPr>
            <a:r>
              <a:rPr lang="en-US" sz="1300" b="1" dirty="0">
                <a:solidFill>
                  <a:srgbClr val="002663"/>
                </a:solidFill>
                <a:latin typeface="Arial" pitchFamily="34" charset="0"/>
                <a:ea typeface="Arial" pitchFamily="34" charset="-122"/>
                <a:cs typeface="Arial" pitchFamily="34" charset="-120"/>
              </a:rPr>
              <a:t>Surfaces</a:t>
            </a:r>
            <a:endParaRPr lang="en-US" sz="1300" dirty="0"/>
          </a:p>
        </p:txBody>
      </p:sp>
      <p:sp>
        <p:nvSpPr>
          <p:cNvPr id="54" name="Shape 47"/>
          <p:cNvSpPr/>
          <p:nvPr/>
        </p:nvSpPr>
        <p:spPr>
          <a:xfrm>
            <a:off x="9765792" y="2395728"/>
            <a:ext cx="1965960" cy="566928"/>
          </a:xfrm>
          <a:prstGeom prst="roundRect">
            <a:avLst>
              <a:gd name="adj" fmla="val 8065"/>
            </a:avLst>
          </a:prstGeom>
          <a:solidFill>
            <a:srgbClr val="F7F9FB"/>
          </a:solidFill>
          <a:ln w="12700">
            <a:solidFill>
              <a:srgbClr val="DDE3EA"/>
            </a:solidFill>
            <a:prstDash val="solid"/>
          </a:ln>
        </p:spPr>
      </p:sp>
      <p:sp>
        <p:nvSpPr>
          <p:cNvPr id="55" name="Text 48"/>
          <p:cNvSpPr txBox="1"/>
          <p:nvPr/>
        </p:nvSpPr>
        <p:spPr>
          <a:xfrm>
            <a:off x="9893808" y="2432304"/>
            <a:ext cx="1709928" cy="493776"/>
          </a:xfrm>
          <a:prstGeom prst="rect">
            <a:avLst/>
          </a:prstGeom>
          <a:noFill/>
          <a:ln/>
        </p:spPr>
        <p:txBody>
          <a:bodyPr wrap="square" lIns="0" tIns="0" rIns="0" bIns="0" rtlCol="0" anchor="ctr"/>
          <a:lstStyle/>
          <a:p>
            <a:pPr indent="0" marL="0">
              <a:lnSpc>
                <a:spcPct val="110000"/>
              </a:lnSpc>
              <a:buNone/>
            </a:pPr>
            <a:r>
              <a:rPr lang="en-US" sz="950" dirty="0">
                <a:solidFill>
                  <a:srgbClr val="1A2233"/>
                </a:solidFill>
                <a:latin typeface="Arial" pitchFamily="34" charset="0"/>
                <a:ea typeface="Arial" pitchFamily="34" charset="-122"/>
                <a:cs typeface="Arial" pitchFamily="34" charset="-120"/>
              </a:rPr>
              <a:t>Ask, in plain words</a:t>
            </a:r>
            <a:endParaRPr lang="en-US" sz="950" dirty="0"/>
          </a:p>
        </p:txBody>
      </p:sp>
      <p:sp>
        <p:nvSpPr>
          <p:cNvPr id="56" name="Shape 49"/>
          <p:cNvSpPr/>
          <p:nvPr/>
        </p:nvSpPr>
        <p:spPr>
          <a:xfrm>
            <a:off x="9765792" y="3035808"/>
            <a:ext cx="1965960" cy="566928"/>
          </a:xfrm>
          <a:prstGeom prst="roundRect">
            <a:avLst>
              <a:gd name="adj" fmla="val 8065"/>
            </a:avLst>
          </a:prstGeom>
          <a:solidFill>
            <a:srgbClr val="F7F9FB"/>
          </a:solidFill>
          <a:ln w="12700">
            <a:solidFill>
              <a:srgbClr val="DDE3EA"/>
            </a:solidFill>
            <a:prstDash val="solid"/>
          </a:ln>
        </p:spPr>
      </p:sp>
      <p:sp>
        <p:nvSpPr>
          <p:cNvPr id="57" name="Text 50"/>
          <p:cNvSpPr txBox="1"/>
          <p:nvPr/>
        </p:nvSpPr>
        <p:spPr>
          <a:xfrm>
            <a:off x="9893808" y="3072384"/>
            <a:ext cx="1709928" cy="493776"/>
          </a:xfrm>
          <a:prstGeom prst="rect">
            <a:avLst/>
          </a:prstGeom>
          <a:noFill/>
          <a:ln/>
        </p:spPr>
        <p:txBody>
          <a:bodyPr wrap="square" lIns="0" tIns="0" rIns="0" bIns="0" rtlCol="0" anchor="ctr"/>
          <a:lstStyle/>
          <a:p>
            <a:pPr indent="0" marL="0">
              <a:lnSpc>
                <a:spcPct val="110000"/>
              </a:lnSpc>
              <a:buNone/>
            </a:pPr>
            <a:r>
              <a:rPr lang="en-US" sz="950" dirty="0">
                <a:solidFill>
                  <a:srgbClr val="1A2233"/>
                </a:solidFill>
                <a:latin typeface="Arial" pitchFamily="34" charset="0"/>
                <a:ea typeface="Arial" pitchFamily="34" charset="-122"/>
                <a:cs typeface="Arial" pitchFamily="34" charset="-120"/>
              </a:rPr>
              <a:t>Explore the semantics</a:t>
            </a:r>
            <a:endParaRPr lang="en-US" sz="950" dirty="0"/>
          </a:p>
        </p:txBody>
      </p:sp>
      <p:sp>
        <p:nvSpPr>
          <p:cNvPr id="58" name="Shape 51"/>
          <p:cNvSpPr/>
          <p:nvPr/>
        </p:nvSpPr>
        <p:spPr>
          <a:xfrm>
            <a:off x="9765792" y="3675888"/>
            <a:ext cx="1965960" cy="566928"/>
          </a:xfrm>
          <a:prstGeom prst="roundRect">
            <a:avLst>
              <a:gd name="adj" fmla="val 8065"/>
            </a:avLst>
          </a:prstGeom>
          <a:solidFill>
            <a:srgbClr val="F7F9FB"/>
          </a:solidFill>
          <a:ln w="12700">
            <a:solidFill>
              <a:srgbClr val="DDE3EA"/>
            </a:solidFill>
            <a:prstDash val="solid"/>
          </a:ln>
        </p:spPr>
      </p:sp>
      <p:sp>
        <p:nvSpPr>
          <p:cNvPr id="59" name="Text 52"/>
          <p:cNvSpPr txBox="1"/>
          <p:nvPr/>
        </p:nvSpPr>
        <p:spPr>
          <a:xfrm>
            <a:off x="9893808" y="3712464"/>
            <a:ext cx="1709928" cy="493776"/>
          </a:xfrm>
          <a:prstGeom prst="rect">
            <a:avLst/>
          </a:prstGeom>
          <a:noFill/>
          <a:ln/>
        </p:spPr>
        <p:txBody>
          <a:bodyPr wrap="square" lIns="0" tIns="0" rIns="0" bIns="0" rtlCol="0" anchor="ctr"/>
          <a:lstStyle/>
          <a:p>
            <a:pPr indent="0" marL="0">
              <a:lnSpc>
                <a:spcPct val="110000"/>
              </a:lnSpc>
              <a:buNone/>
            </a:pPr>
            <a:r>
              <a:rPr lang="en-US" sz="950" dirty="0">
                <a:solidFill>
                  <a:srgbClr val="1A2233"/>
                </a:solidFill>
                <a:latin typeface="Arial" pitchFamily="34" charset="0"/>
                <a:ea typeface="Arial" pitchFamily="34" charset="-122"/>
                <a:cs typeface="Arial" pitchFamily="34" charset="-120"/>
              </a:rPr>
              <a:t>Steward and publish meaning</a:t>
            </a:r>
            <a:endParaRPr lang="en-US" sz="950" dirty="0"/>
          </a:p>
        </p:txBody>
      </p:sp>
      <p:sp>
        <p:nvSpPr>
          <p:cNvPr id="60" name="Text 53"/>
          <p:cNvSpPr txBox="1"/>
          <p:nvPr/>
        </p:nvSpPr>
        <p:spPr>
          <a:xfrm>
            <a:off x="457200" y="4370832"/>
            <a:ext cx="1965960" cy="219456"/>
          </a:xfrm>
          <a:prstGeom prst="rect">
            <a:avLst/>
          </a:prstGeom>
          <a:noFill/>
          <a:ln/>
        </p:spPr>
        <p:txBody>
          <a:bodyPr wrap="square" lIns="0" tIns="0" rIns="0" bIns="0" rtlCol="0" anchor="ctr"/>
          <a:lstStyle/>
          <a:p>
            <a:pPr indent="0" marL="0">
              <a:buNone/>
            </a:pPr>
            <a:r>
              <a:rPr lang="en-US" sz="950" b="1" spc="80" kern="0" dirty="0">
                <a:solidFill>
                  <a:srgbClr val="5A6472"/>
                </a:solidFill>
                <a:latin typeface="Arial" pitchFamily="34" charset="0"/>
                <a:ea typeface="Arial" pitchFamily="34" charset="-122"/>
                <a:cs typeface="Arial" pitchFamily="34" charset="-120"/>
              </a:rPr>
              <a:t>BOUNDARY CHECKS</a:t>
            </a:r>
            <a:endParaRPr lang="en-US" sz="950" dirty="0"/>
          </a:p>
        </p:txBody>
      </p:sp>
      <p:sp>
        <p:nvSpPr>
          <p:cNvPr id="61" name="Shape 54"/>
          <p:cNvSpPr/>
          <p:nvPr/>
        </p:nvSpPr>
        <p:spPr>
          <a:xfrm>
            <a:off x="1460754" y="4645152"/>
            <a:ext cx="2286000" cy="786384"/>
          </a:xfrm>
          <a:prstGeom prst="roundRect">
            <a:avLst>
              <a:gd name="adj" fmla="val 5814"/>
            </a:avLst>
          </a:prstGeom>
          <a:solidFill>
            <a:srgbClr val="F8F0E3"/>
          </a:solidFill>
          <a:ln w="12700">
            <a:solidFill>
              <a:srgbClr val="D8A94E"/>
            </a:solidFill>
            <a:prstDash val="solid"/>
          </a:ln>
        </p:spPr>
      </p:sp>
      <p:sp>
        <p:nvSpPr>
          <p:cNvPr id="62" name="Shape 55"/>
          <p:cNvSpPr/>
          <p:nvPr/>
        </p:nvSpPr>
        <p:spPr>
          <a:xfrm>
            <a:off x="1588770" y="4727448"/>
            <a:ext cx="274320" cy="274320"/>
          </a:xfrm>
          <a:prstGeom prst="ellipse">
            <a:avLst/>
          </a:prstGeom>
          <a:solidFill>
            <a:srgbClr val="F8F0E3"/>
          </a:solidFill>
          <a:ln w="12700">
            <a:solidFill>
              <a:srgbClr val="EFDDB6"/>
            </a:solidFill>
            <a:prstDash val="solid"/>
          </a:ln>
        </p:spPr>
      </p:sp>
      <p:pic>
        <p:nvPicPr>
          <p:cNvPr id="63" name="Image 5" descr="icons/fingerprint-amber.png">    </p:cNvPr>
          <p:cNvPicPr>
            <a:picLocks noChangeAspect="1"/>
          </p:cNvPicPr>
          <p:nvPr/>
        </p:nvPicPr>
        <p:blipFill>
          <a:blip r:embed="rId6"/>
          <a:stretch>
            <a:fillRect/>
          </a:stretch>
        </p:blipFill>
        <p:spPr>
          <a:xfrm>
            <a:off x="1660093" y="4798771"/>
            <a:ext cx="131674" cy="131674"/>
          </a:xfrm>
          <a:prstGeom prst="rect">
            <a:avLst/>
          </a:prstGeom>
        </p:spPr>
      </p:pic>
      <p:sp>
        <p:nvSpPr>
          <p:cNvPr id="64" name="Text 56"/>
          <p:cNvSpPr txBox="1"/>
          <p:nvPr/>
        </p:nvSpPr>
        <p:spPr>
          <a:xfrm>
            <a:off x="1936242" y="4736592"/>
            <a:ext cx="1682496" cy="256032"/>
          </a:xfrm>
          <a:prstGeom prst="rect">
            <a:avLst/>
          </a:prstGeom>
          <a:noFill/>
          <a:ln/>
        </p:spPr>
        <p:txBody>
          <a:bodyPr wrap="square" lIns="0" tIns="0" rIns="0" bIns="0" rtlCol="0" anchor="ctr"/>
          <a:lstStyle/>
          <a:p>
            <a:pPr indent="0" marL="0">
              <a:buNone/>
            </a:pPr>
            <a:r>
              <a:rPr lang="en-US" sz="1000" b="1" dirty="0">
                <a:solidFill>
                  <a:srgbClr val="B26A00"/>
                </a:solidFill>
                <a:latin typeface="Arial" pitchFamily="34" charset="0"/>
                <a:ea typeface="Arial" pitchFamily="34" charset="-122"/>
                <a:cs typeface="Arial" pitchFamily="34" charset="-120"/>
              </a:rPr>
              <a:t>Identity</a:t>
            </a:r>
            <a:endParaRPr lang="en-US" sz="1000" dirty="0"/>
          </a:p>
        </p:txBody>
      </p:sp>
      <p:sp>
        <p:nvSpPr>
          <p:cNvPr id="65" name="Text 57"/>
          <p:cNvSpPr txBox="1"/>
          <p:nvPr/>
        </p:nvSpPr>
        <p:spPr>
          <a:xfrm>
            <a:off x="1588770" y="5010912"/>
            <a:ext cx="2029968" cy="402336"/>
          </a:xfrm>
          <a:prstGeom prst="rect">
            <a:avLst/>
          </a:prstGeom>
          <a:noFill/>
          <a:ln/>
        </p:spPr>
        <p:txBody>
          <a:bodyPr wrap="square" lIns="0" tIns="0" rIns="0" bIns="0" rtlCol="0" anchor="ctr"/>
          <a:lstStyle/>
          <a:p>
            <a:pPr indent="0" marL="0">
              <a:lnSpc>
                <a:spcPct val="110000"/>
              </a:lnSpc>
              <a:buNone/>
            </a:pPr>
            <a:r>
              <a:rPr lang="en-US" sz="900" dirty="0">
                <a:solidFill>
                  <a:srgbClr val="5A4A26"/>
                </a:solidFill>
                <a:latin typeface="Arial" pitchFamily="34" charset="0"/>
                <a:ea typeface="Arial" pitchFamily="34" charset="-122"/>
                <a:cs typeface="Arial" pitchFamily="34" charset="-120"/>
              </a:rPr>
              <a:t>a record only lands if its table is confirmed</a:t>
            </a:r>
            <a:endParaRPr lang="en-US" sz="900" dirty="0"/>
          </a:p>
        </p:txBody>
      </p:sp>
      <p:sp>
        <p:nvSpPr>
          <p:cNvPr id="66" name="Shape 58"/>
          <p:cNvSpPr/>
          <p:nvPr/>
        </p:nvSpPr>
        <p:spPr>
          <a:xfrm>
            <a:off x="2603754" y="2057400"/>
            <a:ext cx="0" cy="2587752"/>
          </a:xfrm>
          <a:prstGeom prst="line">
            <a:avLst/>
          </a:prstGeom>
          <a:noFill/>
          <a:ln w="12700">
            <a:solidFill>
              <a:srgbClr val="D8A94E"/>
            </a:solidFill>
            <a:prstDash val="dash"/>
          </a:ln>
        </p:spPr>
      </p:sp>
      <p:sp>
        <p:nvSpPr>
          <p:cNvPr id="67" name="Shape 59"/>
          <p:cNvSpPr/>
          <p:nvPr/>
        </p:nvSpPr>
        <p:spPr>
          <a:xfrm>
            <a:off x="3787902" y="4645152"/>
            <a:ext cx="2286000" cy="786384"/>
          </a:xfrm>
          <a:prstGeom prst="roundRect">
            <a:avLst>
              <a:gd name="adj" fmla="val 5814"/>
            </a:avLst>
          </a:prstGeom>
          <a:solidFill>
            <a:srgbClr val="F8F0E3"/>
          </a:solidFill>
          <a:ln w="12700">
            <a:solidFill>
              <a:srgbClr val="D8A94E"/>
            </a:solidFill>
            <a:prstDash val="solid"/>
          </a:ln>
        </p:spPr>
      </p:sp>
      <p:sp>
        <p:nvSpPr>
          <p:cNvPr id="68" name="Shape 60"/>
          <p:cNvSpPr/>
          <p:nvPr/>
        </p:nvSpPr>
        <p:spPr>
          <a:xfrm>
            <a:off x="3915918" y="4727448"/>
            <a:ext cx="274320" cy="274320"/>
          </a:xfrm>
          <a:prstGeom prst="ellipse">
            <a:avLst/>
          </a:prstGeom>
          <a:solidFill>
            <a:srgbClr val="F8F0E3"/>
          </a:solidFill>
          <a:ln w="12700">
            <a:solidFill>
              <a:srgbClr val="EFDDB6"/>
            </a:solidFill>
            <a:prstDash val="solid"/>
          </a:ln>
        </p:spPr>
      </p:sp>
      <p:pic>
        <p:nvPicPr>
          <p:cNvPr id="69" name="Image 6" descr="icons/factcheck-amber.png">    </p:cNvPr>
          <p:cNvPicPr>
            <a:picLocks noChangeAspect="1"/>
          </p:cNvPicPr>
          <p:nvPr/>
        </p:nvPicPr>
        <p:blipFill>
          <a:blip r:embed="rId7"/>
          <a:stretch>
            <a:fillRect/>
          </a:stretch>
        </p:blipFill>
        <p:spPr>
          <a:xfrm>
            <a:off x="3987241" y="4798771"/>
            <a:ext cx="131674" cy="131674"/>
          </a:xfrm>
          <a:prstGeom prst="rect">
            <a:avLst/>
          </a:prstGeom>
        </p:spPr>
      </p:pic>
      <p:sp>
        <p:nvSpPr>
          <p:cNvPr id="70" name="Text 61"/>
          <p:cNvSpPr txBox="1"/>
          <p:nvPr/>
        </p:nvSpPr>
        <p:spPr>
          <a:xfrm>
            <a:off x="4263390" y="4736592"/>
            <a:ext cx="1682496" cy="256032"/>
          </a:xfrm>
          <a:prstGeom prst="rect">
            <a:avLst/>
          </a:prstGeom>
          <a:noFill/>
          <a:ln/>
        </p:spPr>
        <p:txBody>
          <a:bodyPr wrap="square" lIns="0" tIns="0" rIns="0" bIns="0" rtlCol="0" anchor="ctr"/>
          <a:lstStyle/>
          <a:p>
            <a:pPr indent="0" marL="0">
              <a:buNone/>
            </a:pPr>
            <a:r>
              <a:rPr lang="en-US" sz="1000" b="1" dirty="0">
                <a:solidFill>
                  <a:srgbClr val="B26A00"/>
                </a:solidFill>
                <a:latin typeface="Arial" pitchFamily="34" charset="0"/>
                <a:ea typeface="Arial" pitchFamily="34" charset="-122"/>
                <a:cs typeface="Arial" pitchFamily="34" charset="-120"/>
              </a:rPr>
              <a:t>Validation</a:t>
            </a:r>
            <a:endParaRPr lang="en-US" sz="1000" dirty="0"/>
          </a:p>
        </p:txBody>
      </p:sp>
      <p:sp>
        <p:nvSpPr>
          <p:cNvPr id="71" name="Text 62"/>
          <p:cNvSpPr txBox="1"/>
          <p:nvPr/>
        </p:nvSpPr>
        <p:spPr>
          <a:xfrm>
            <a:off x="3915918" y="5010912"/>
            <a:ext cx="2029968" cy="402336"/>
          </a:xfrm>
          <a:prstGeom prst="rect">
            <a:avLst/>
          </a:prstGeom>
          <a:noFill/>
          <a:ln/>
        </p:spPr>
        <p:txBody>
          <a:bodyPr wrap="square" lIns="0" tIns="0" rIns="0" bIns="0" rtlCol="0" anchor="ctr"/>
          <a:lstStyle/>
          <a:p>
            <a:pPr indent="0" marL="0">
              <a:lnSpc>
                <a:spcPct val="110000"/>
              </a:lnSpc>
              <a:buNone/>
            </a:pPr>
            <a:r>
              <a:rPr lang="en-US" sz="900" dirty="0">
                <a:solidFill>
                  <a:srgbClr val="5A4A26"/>
                </a:solidFill>
                <a:latin typeface="Arial" pitchFamily="34" charset="0"/>
                <a:ea typeface="Arial" pitchFamily="34" charset="-122"/>
                <a:cs typeface="Arial" pitchFamily="34" charset="-120"/>
              </a:rPr>
              <a:t>the graph must hold together, or nothing compiles</a:t>
            </a:r>
            <a:endParaRPr lang="en-US" sz="900" dirty="0"/>
          </a:p>
        </p:txBody>
      </p:sp>
      <p:sp>
        <p:nvSpPr>
          <p:cNvPr id="72" name="Shape 63"/>
          <p:cNvSpPr/>
          <p:nvPr/>
        </p:nvSpPr>
        <p:spPr>
          <a:xfrm>
            <a:off x="4930902" y="2057400"/>
            <a:ext cx="0" cy="2587752"/>
          </a:xfrm>
          <a:prstGeom prst="line">
            <a:avLst/>
          </a:prstGeom>
          <a:noFill/>
          <a:ln w="12700">
            <a:solidFill>
              <a:srgbClr val="D8A94E"/>
            </a:solidFill>
            <a:prstDash val="dash"/>
          </a:ln>
        </p:spPr>
      </p:sp>
      <p:sp>
        <p:nvSpPr>
          <p:cNvPr id="73" name="Shape 64"/>
          <p:cNvSpPr/>
          <p:nvPr/>
        </p:nvSpPr>
        <p:spPr>
          <a:xfrm>
            <a:off x="6115050" y="4645152"/>
            <a:ext cx="2286000" cy="786384"/>
          </a:xfrm>
          <a:prstGeom prst="roundRect">
            <a:avLst>
              <a:gd name="adj" fmla="val 5814"/>
            </a:avLst>
          </a:prstGeom>
          <a:solidFill>
            <a:srgbClr val="F8F0E3"/>
          </a:solidFill>
          <a:ln w="12700">
            <a:solidFill>
              <a:srgbClr val="D8A94E"/>
            </a:solidFill>
            <a:prstDash val="solid"/>
          </a:ln>
        </p:spPr>
      </p:sp>
      <p:sp>
        <p:nvSpPr>
          <p:cNvPr id="74" name="Shape 65"/>
          <p:cNvSpPr/>
          <p:nvPr/>
        </p:nvSpPr>
        <p:spPr>
          <a:xfrm>
            <a:off x="6243066" y="4727448"/>
            <a:ext cx="274320" cy="274320"/>
          </a:xfrm>
          <a:prstGeom prst="ellipse">
            <a:avLst/>
          </a:prstGeom>
          <a:solidFill>
            <a:srgbClr val="F8F0E3"/>
          </a:solidFill>
          <a:ln w="12700">
            <a:solidFill>
              <a:srgbClr val="EFDDB6"/>
            </a:solidFill>
            <a:prstDash val="solid"/>
          </a:ln>
        </p:spPr>
      </p:sp>
      <p:pic>
        <p:nvPicPr>
          <p:cNvPr id="75" name="Image 7" descr="icons/publish-amber.png">    </p:cNvPr>
          <p:cNvPicPr>
            <a:picLocks noChangeAspect="1"/>
          </p:cNvPicPr>
          <p:nvPr/>
        </p:nvPicPr>
        <p:blipFill>
          <a:blip r:embed="rId8"/>
          <a:stretch>
            <a:fillRect/>
          </a:stretch>
        </p:blipFill>
        <p:spPr>
          <a:xfrm>
            <a:off x="6314389" y="4798771"/>
            <a:ext cx="131674" cy="131674"/>
          </a:xfrm>
          <a:prstGeom prst="rect">
            <a:avLst/>
          </a:prstGeom>
        </p:spPr>
      </p:pic>
      <p:sp>
        <p:nvSpPr>
          <p:cNvPr id="76" name="Text 66"/>
          <p:cNvSpPr txBox="1"/>
          <p:nvPr/>
        </p:nvSpPr>
        <p:spPr>
          <a:xfrm>
            <a:off x="6590538" y="4736592"/>
            <a:ext cx="1682496" cy="256032"/>
          </a:xfrm>
          <a:prstGeom prst="rect">
            <a:avLst/>
          </a:prstGeom>
          <a:noFill/>
          <a:ln/>
        </p:spPr>
        <p:txBody>
          <a:bodyPr wrap="square" lIns="0" tIns="0" rIns="0" bIns="0" rtlCol="0" anchor="ctr"/>
          <a:lstStyle/>
          <a:p>
            <a:pPr indent="0" marL="0">
              <a:buNone/>
            </a:pPr>
            <a:r>
              <a:rPr lang="en-US" sz="1000" b="1" dirty="0">
                <a:solidFill>
                  <a:srgbClr val="B26A00"/>
                </a:solidFill>
                <a:latin typeface="Arial" pitchFamily="34" charset="0"/>
                <a:ea typeface="Arial" pitchFamily="34" charset="-122"/>
                <a:cs typeface="Arial" pitchFamily="34" charset="-120"/>
              </a:rPr>
              <a:t>Promotion</a:t>
            </a:r>
            <a:endParaRPr lang="en-US" sz="1000" dirty="0"/>
          </a:p>
        </p:txBody>
      </p:sp>
      <p:sp>
        <p:nvSpPr>
          <p:cNvPr id="77" name="Text 67"/>
          <p:cNvSpPr txBox="1"/>
          <p:nvPr/>
        </p:nvSpPr>
        <p:spPr>
          <a:xfrm>
            <a:off x="6243066" y="5010912"/>
            <a:ext cx="2029968" cy="402336"/>
          </a:xfrm>
          <a:prstGeom prst="rect">
            <a:avLst/>
          </a:prstGeom>
          <a:noFill/>
          <a:ln/>
        </p:spPr>
        <p:txBody>
          <a:bodyPr wrap="square" lIns="0" tIns="0" rIns="0" bIns="0" rtlCol="0" anchor="ctr"/>
          <a:lstStyle/>
          <a:p>
            <a:pPr indent="0" marL="0">
              <a:lnSpc>
                <a:spcPct val="110000"/>
              </a:lnSpc>
              <a:buNone/>
            </a:pPr>
            <a:r>
              <a:rPr lang="en-US" sz="900" dirty="0">
                <a:solidFill>
                  <a:srgbClr val="5A4A26"/>
                </a:solidFill>
                <a:latin typeface="Arial" pitchFamily="34" charset="0"/>
                <a:ea typeface="Arial" pitchFamily="34" charset="-122"/>
                <a:cs typeface="Arial" pitchFamily="34" charset="-120"/>
              </a:rPr>
              <a:t>a build is published only if every check passes</a:t>
            </a:r>
            <a:endParaRPr lang="en-US" sz="900" dirty="0"/>
          </a:p>
        </p:txBody>
      </p:sp>
      <p:sp>
        <p:nvSpPr>
          <p:cNvPr id="78" name="Shape 68"/>
          <p:cNvSpPr/>
          <p:nvPr/>
        </p:nvSpPr>
        <p:spPr>
          <a:xfrm>
            <a:off x="7258050" y="2057400"/>
            <a:ext cx="0" cy="2587752"/>
          </a:xfrm>
          <a:prstGeom prst="line">
            <a:avLst/>
          </a:prstGeom>
          <a:noFill/>
          <a:ln w="12700">
            <a:solidFill>
              <a:srgbClr val="D8A94E"/>
            </a:solidFill>
            <a:prstDash val="dash"/>
          </a:ln>
        </p:spPr>
      </p:sp>
      <p:sp>
        <p:nvSpPr>
          <p:cNvPr id="79" name="Shape 69"/>
          <p:cNvSpPr/>
          <p:nvPr/>
        </p:nvSpPr>
        <p:spPr>
          <a:xfrm>
            <a:off x="8442198" y="4645152"/>
            <a:ext cx="2286000" cy="786384"/>
          </a:xfrm>
          <a:prstGeom prst="roundRect">
            <a:avLst>
              <a:gd name="adj" fmla="val 5814"/>
            </a:avLst>
          </a:prstGeom>
          <a:solidFill>
            <a:srgbClr val="F8F0E3"/>
          </a:solidFill>
          <a:ln w="12700">
            <a:solidFill>
              <a:srgbClr val="D8A94E"/>
            </a:solidFill>
            <a:prstDash val="solid"/>
          </a:ln>
        </p:spPr>
      </p:sp>
      <p:sp>
        <p:nvSpPr>
          <p:cNvPr id="80" name="Shape 70"/>
          <p:cNvSpPr/>
          <p:nvPr/>
        </p:nvSpPr>
        <p:spPr>
          <a:xfrm>
            <a:off x="8570214" y="4727448"/>
            <a:ext cx="274320" cy="274320"/>
          </a:xfrm>
          <a:prstGeom prst="ellipse">
            <a:avLst/>
          </a:prstGeom>
          <a:solidFill>
            <a:srgbClr val="F8F0E3"/>
          </a:solidFill>
          <a:ln w="12700">
            <a:solidFill>
              <a:srgbClr val="EFDDB6"/>
            </a:solidFill>
            <a:prstDash val="solid"/>
          </a:ln>
        </p:spPr>
      </p:sp>
      <p:pic>
        <p:nvPicPr>
          <p:cNvPr id="81" name="Image 8" descr="icons/lock-amber.png">    </p:cNvPr>
          <p:cNvPicPr>
            <a:picLocks noChangeAspect="1"/>
          </p:cNvPicPr>
          <p:nvPr/>
        </p:nvPicPr>
        <p:blipFill>
          <a:blip r:embed="rId9"/>
          <a:stretch>
            <a:fillRect/>
          </a:stretch>
        </p:blipFill>
        <p:spPr>
          <a:xfrm>
            <a:off x="8641537" y="4798771"/>
            <a:ext cx="131674" cy="131674"/>
          </a:xfrm>
          <a:prstGeom prst="rect">
            <a:avLst/>
          </a:prstGeom>
        </p:spPr>
      </p:pic>
      <p:sp>
        <p:nvSpPr>
          <p:cNvPr id="82" name="Text 71"/>
          <p:cNvSpPr txBox="1"/>
          <p:nvPr/>
        </p:nvSpPr>
        <p:spPr>
          <a:xfrm>
            <a:off x="8917686" y="4736592"/>
            <a:ext cx="1682496" cy="256032"/>
          </a:xfrm>
          <a:prstGeom prst="rect">
            <a:avLst/>
          </a:prstGeom>
          <a:noFill/>
          <a:ln/>
        </p:spPr>
        <p:txBody>
          <a:bodyPr wrap="square" lIns="0" tIns="0" rIns="0" bIns="0" rtlCol="0" anchor="ctr"/>
          <a:lstStyle/>
          <a:p>
            <a:pPr indent="0" marL="0">
              <a:buNone/>
            </a:pPr>
            <a:r>
              <a:rPr lang="en-US" sz="1000" b="1" dirty="0">
                <a:solidFill>
                  <a:srgbClr val="B26A00"/>
                </a:solidFill>
                <a:latin typeface="Arial" pitchFamily="34" charset="0"/>
                <a:ea typeface="Arial" pitchFamily="34" charset="-122"/>
                <a:cs typeface="Arial" pitchFamily="34" charset="-120"/>
              </a:rPr>
              <a:t>Cost &amp; access</a:t>
            </a:r>
            <a:endParaRPr lang="en-US" sz="1000" dirty="0"/>
          </a:p>
        </p:txBody>
      </p:sp>
      <p:sp>
        <p:nvSpPr>
          <p:cNvPr id="83" name="Text 72"/>
          <p:cNvSpPr txBox="1"/>
          <p:nvPr/>
        </p:nvSpPr>
        <p:spPr>
          <a:xfrm>
            <a:off x="8570214" y="5010912"/>
            <a:ext cx="2029968" cy="402336"/>
          </a:xfrm>
          <a:prstGeom prst="rect">
            <a:avLst/>
          </a:prstGeom>
          <a:noFill/>
          <a:ln/>
        </p:spPr>
        <p:txBody>
          <a:bodyPr wrap="square" lIns="0" tIns="0" rIns="0" bIns="0" rtlCol="0" anchor="ctr"/>
          <a:lstStyle/>
          <a:p>
            <a:pPr indent="0" marL="0">
              <a:lnSpc>
                <a:spcPct val="110000"/>
              </a:lnSpc>
              <a:buNone/>
            </a:pPr>
            <a:r>
              <a:rPr lang="en-US" sz="900" dirty="0">
                <a:solidFill>
                  <a:srgbClr val="5A4A26"/>
                </a:solidFill>
                <a:latin typeface="Arial" pitchFamily="34" charset="0"/>
                <a:ea typeface="Arial" pitchFamily="34" charset="-122"/>
                <a:cs typeface="Arial" pitchFamily="34" charset="-120"/>
              </a:rPr>
              <a:t>every query priced and permission-checked first</a:t>
            </a:r>
            <a:endParaRPr lang="en-US" sz="900" dirty="0"/>
          </a:p>
        </p:txBody>
      </p:sp>
      <p:sp>
        <p:nvSpPr>
          <p:cNvPr id="84" name="Shape 73"/>
          <p:cNvSpPr/>
          <p:nvPr/>
        </p:nvSpPr>
        <p:spPr>
          <a:xfrm>
            <a:off x="9585198" y="2057400"/>
            <a:ext cx="0" cy="2587752"/>
          </a:xfrm>
          <a:prstGeom prst="line">
            <a:avLst/>
          </a:prstGeom>
          <a:noFill/>
          <a:ln w="12700">
            <a:solidFill>
              <a:srgbClr val="D8A94E"/>
            </a:solidFill>
            <a:prstDash val="dash"/>
          </a:ln>
        </p:spPr>
      </p:sp>
      <p:sp>
        <p:nvSpPr>
          <p:cNvPr id="85" name="Shape 74"/>
          <p:cNvSpPr/>
          <p:nvPr/>
        </p:nvSpPr>
        <p:spPr>
          <a:xfrm>
            <a:off x="457200" y="5650992"/>
            <a:ext cx="11274552" cy="822960"/>
          </a:xfrm>
          <a:prstGeom prst="roundRect">
            <a:avLst>
              <a:gd name="adj" fmla="val 6667"/>
            </a:avLst>
          </a:prstGeom>
          <a:solidFill>
            <a:srgbClr val="EDF1F6"/>
          </a:solidFill>
          <a:ln w="12700">
            <a:solidFill>
              <a:srgbClr val="DDE3EA"/>
            </a:solidFill>
            <a:prstDash val="solid"/>
          </a:ln>
        </p:spPr>
      </p:sp>
      <p:sp>
        <p:nvSpPr>
          <p:cNvPr id="86" name="Text 75"/>
          <p:cNvSpPr txBox="1"/>
          <p:nvPr/>
        </p:nvSpPr>
        <p:spPr>
          <a:xfrm>
            <a:off x="685800" y="5833872"/>
            <a:ext cx="1828800" cy="274320"/>
          </a:xfrm>
          <a:prstGeom prst="rect">
            <a:avLst/>
          </a:prstGeom>
          <a:noFill/>
          <a:ln/>
        </p:spPr>
        <p:txBody>
          <a:bodyPr wrap="square" lIns="0" tIns="0" rIns="0" bIns="0" rtlCol="0" anchor="ctr"/>
          <a:lstStyle/>
          <a:p>
            <a:pPr indent="0" marL="0">
              <a:buNone/>
            </a:pPr>
            <a:r>
              <a:rPr lang="en-US" sz="1050" b="1" spc="60" kern="0" dirty="0">
                <a:solidFill>
                  <a:srgbClr val="016FD0"/>
                </a:solidFill>
                <a:latin typeface="Arial" pitchFamily="34" charset="0"/>
                <a:ea typeface="Arial" pitchFamily="34" charset="-122"/>
                <a:cs typeface="Arial" pitchFamily="34" charset="-120"/>
              </a:rPr>
              <a:t>GOVERNED END TO END</a:t>
            </a:r>
            <a:endParaRPr lang="en-US" sz="1050" dirty="0"/>
          </a:p>
        </p:txBody>
      </p:sp>
      <p:sp>
        <p:nvSpPr>
          <p:cNvPr id="87" name="Text 76"/>
          <p:cNvSpPr txBox="1"/>
          <p:nvPr/>
        </p:nvSpPr>
        <p:spPr>
          <a:xfrm>
            <a:off x="2606040" y="5797296"/>
            <a:ext cx="8915400" cy="530352"/>
          </a:xfrm>
          <a:prstGeom prst="rect">
            <a:avLst/>
          </a:prstGeom>
          <a:noFill/>
          <a:ln/>
        </p:spPr>
        <p:txBody>
          <a:bodyPr wrap="square" lIns="0" tIns="0" rIns="0" bIns="0" rtlCol="0" anchor="ctr"/>
          <a:lstStyle/>
          <a:p>
            <a:pPr indent="0" marL="0">
              <a:buNone/>
            </a:pPr>
            <a:r>
              <a:rPr lang="en-US" sz="1100" dirty="0">
                <a:solidFill>
                  <a:srgbClr val="1A2233"/>
                </a:solidFill>
                <a:latin typeface="Arial" pitchFamily="34" charset="0"/>
                <a:ea typeface="Arial" pitchFamily="34" charset="-122"/>
                <a:cs typeface="Arial" pitchFamily="34" charset="-120"/>
              </a:rPr>
              <a:t>Nothing is answered from outside the snapshot, and what the business means is changed by people, on the record — the model can read it, never write it.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84048"/>
            <a:ext cx="9509760" cy="237744"/>
          </a:xfrm>
          <a:prstGeom prst="rect">
            <a:avLst/>
          </a:prstGeom>
          <a:noFill/>
          <a:ln/>
        </p:spPr>
        <p:txBody>
          <a:bodyPr wrap="square" lIns="0" tIns="0" rIns="0" bIns="0" rtlCol="0" anchor="ctr"/>
          <a:lstStyle/>
          <a:p>
            <a:pPr indent="0" marL="0">
              <a:buNone/>
            </a:pPr>
            <a:r>
              <a:rPr lang="en-US" sz="1050" b="1" spc="90" kern="0" dirty="0">
                <a:solidFill>
                  <a:srgbClr val="016FD0"/>
                </a:solidFill>
                <a:latin typeface="Arial" pitchFamily="34" charset="0"/>
                <a:ea typeface="Arial" pitchFamily="34" charset="-122"/>
                <a:cs typeface="Arial" pitchFamily="34" charset="-120"/>
              </a:rPr>
              <a:t>HOW IT RUNS</a:t>
            </a:r>
            <a:endParaRPr lang="en-US" sz="1050" dirty="0"/>
          </a:p>
        </p:txBody>
      </p:sp>
      <p:sp>
        <p:nvSpPr>
          <p:cNvPr id="3" name="Text 1"/>
          <p:cNvSpPr txBox="1"/>
          <p:nvPr/>
        </p:nvSpPr>
        <p:spPr>
          <a:xfrm>
            <a:off x="457200" y="658368"/>
            <a:ext cx="9509760" cy="548640"/>
          </a:xfrm>
          <a:prstGeom prst="rect">
            <a:avLst/>
          </a:prstGeom>
          <a:noFill/>
          <a:ln/>
        </p:spPr>
        <p:txBody>
          <a:bodyPr wrap="square" lIns="0" tIns="0" rIns="0" bIns="0" rtlCol="0" anchor="ctr"/>
          <a:lstStyle/>
          <a:p>
            <a:pPr indent="0" marL="0">
              <a:buNone/>
            </a:pPr>
            <a:r>
              <a:rPr lang="en-US" sz="2700" b="1" dirty="0">
                <a:solidFill>
                  <a:srgbClr val="002663"/>
                </a:solidFill>
                <a:latin typeface="Arial" pitchFamily="34" charset="0"/>
                <a:ea typeface="Arial" pitchFamily="34" charset="-122"/>
                <a:cs typeface="Arial" pitchFamily="34" charset="-120"/>
              </a:rPr>
              <a:t>What runs where</a:t>
            </a:r>
            <a:endParaRPr lang="en-US" sz="2700" dirty="0"/>
          </a:p>
        </p:txBody>
      </p:sp>
      <p:sp>
        <p:nvSpPr>
          <p:cNvPr id="4" name="Text 2"/>
          <p:cNvSpPr txBox="1"/>
          <p:nvPr/>
        </p:nvSpPr>
        <p:spPr>
          <a:xfrm>
            <a:off x="457200" y="1243584"/>
            <a:ext cx="10424160" cy="365760"/>
          </a:xfrm>
          <a:prstGeom prst="rect">
            <a:avLst/>
          </a:prstGeom>
          <a:noFill/>
          <a:ln/>
        </p:spPr>
        <p:txBody>
          <a:bodyPr wrap="square" lIns="0" tIns="0" rIns="0" bIns="0" rtlCol="0" anchor="ctr"/>
          <a:lstStyle/>
          <a:p>
            <a:pPr indent="0" marL="0">
              <a:buNone/>
            </a:pPr>
            <a:r>
              <a:rPr lang="en-US" sz="1350" dirty="0">
                <a:solidFill>
                  <a:srgbClr val="1A2233"/>
                </a:solidFill>
                <a:latin typeface="Arial" pitchFamily="34" charset="0"/>
                <a:ea typeface="Arial" pitchFamily="34" charset="-122"/>
                <a:cs typeface="Arial" pitchFamily="34" charset="-120"/>
              </a:rPr>
              <a:t>Six steps, left to right. Everything inside the boundary is managed Google Cloud.</a:t>
            </a:r>
            <a:endParaRPr lang="en-US" sz="1350" dirty="0"/>
          </a:p>
        </p:txBody>
      </p:sp>
      <p:sp>
        <p:nvSpPr>
          <p:cNvPr id="5" name="Shape 3"/>
          <p:cNvSpPr/>
          <p:nvPr/>
        </p:nvSpPr>
        <p:spPr>
          <a:xfrm>
            <a:off x="457200" y="1783080"/>
            <a:ext cx="9464040" cy="3246120"/>
          </a:xfrm>
          <a:prstGeom prst="roundRect">
            <a:avLst>
              <a:gd name="adj" fmla="val 1408"/>
            </a:avLst>
          </a:prstGeom>
          <a:solidFill>
            <a:srgbClr val="FFFFFF"/>
          </a:solidFill>
          <a:ln w="15875">
            <a:solidFill>
              <a:srgbClr val="016FD0"/>
            </a:solidFill>
            <a:prstDash val="solid"/>
          </a:ln>
        </p:spPr>
      </p:sp>
      <p:sp>
        <p:nvSpPr>
          <p:cNvPr id="6" name="Text 4"/>
          <p:cNvSpPr txBox="1"/>
          <p:nvPr/>
        </p:nvSpPr>
        <p:spPr>
          <a:xfrm>
            <a:off x="658368" y="1856232"/>
            <a:ext cx="2011680" cy="237744"/>
          </a:xfrm>
          <a:prstGeom prst="rect">
            <a:avLst/>
          </a:prstGeom>
          <a:noFill/>
          <a:ln/>
        </p:spPr>
        <p:txBody>
          <a:bodyPr wrap="square" lIns="0" tIns="0" rIns="0" bIns="0" rtlCol="0" anchor="ctr"/>
          <a:lstStyle/>
          <a:p>
            <a:pPr indent="0" marL="0">
              <a:buNone/>
            </a:pPr>
            <a:r>
              <a:rPr lang="en-US" sz="1000" b="1" spc="50" kern="0" dirty="0">
                <a:solidFill>
                  <a:srgbClr val="016FD0"/>
                </a:solidFill>
                <a:latin typeface="Arial" pitchFamily="34" charset="0"/>
                <a:ea typeface="Arial" pitchFamily="34" charset="-122"/>
                <a:cs typeface="Arial" pitchFamily="34" charset="-120"/>
              </a:rPr>
              <a:t>Google Cloud</a:t>
            </a:r>
            <a:endParaRPr lang="en-US" sz="1000" dirty="0"/>
          </a:p>
        </p:txBody>
      </p:sp>
      <p:sp>
        <p:nvSpPr>
          <p:cNvPr id="7" name="Shape 5"/>
          <p:cNvSpPr/>
          <p:nvPr/>
        </p:nvSpPr>
        <p:spPr>
          <a:xfrm>
            <a:off x="685800" y="2240280"/>
            <a:ext cx="2743200" cy="2606040"/>
          </a:xfrm>
          <a:prstGeom prst="roundRect">
            <a:avLst>
              <a:gd name="adj" fmla="val 1754"/>
            </a:avLst>
          </a:prstGeom>
          <a:solidFill>
            <a:srgbClr val="F7F9FB"/>
          </a:solidFill>
          <a:ln w="12700">
            <a:solidFill>
              <a:srgbClr val="DDE3EA"/>
            </a:solidFill>
            <a:prstDash val="dash"/>
          </a:ln>
        </p:spPr>
      </p:sp>
      <p:sp>
        <p:nvSpPr>
          <p:cNvPr id="8" name="Text 6"/>
          <p:cNvSpPr txBox="1"/>
          <p:nvPr/>
        </p:nvSpPr>
        <p:spPr>
          <a:xfrm>
            <a:off x="850392" y="2350008"/>
            <a:ext cx="2414016" cy="219456"/>
          </a:xfrm>
          <a:prstGeom prst="rect">
            <a:avLst/>
          </a:prstGeom>
          <a:noFill/>
          <a:ln/>
        </p:spPr>
        <p:txBody>
          <a:bodyPr wrap="square" lIns="0" tIns="0" rIns="0" bIns="0" rtlCol="0" anchor="ctr"/>
          <a:lstStyle/>
          <a:p>
            <a:pPr indent="0" marL="0">
              <a:buNone/>
            </a:pPr>
            <a:r>
              <a:rPr lang="en-US" sz="950" b="1" spc="90" kern="0" dirty="0">
                <a:solidFill>
                  <a:srgbClr val="5A6472"/>
                </a:solidFill>
                <a:latin typeface="Arial" pitchFamily="34" charset="0"/>
                <a:ea typeface="Arial" pitchFamily="34" charset="-122"/>
                <a:cs typeface="Arial" pitchFamily="34" charset="-120"/>
              </a:rPr>
              <a:t>SOURCES</a:t>
            </a:r>
            <a:endParaRPr lang="en-US" sz="950" dirty="0"/>
          </a:p>
        </p:txBody>
      </p:sp>
      <p:sp>
        <p:nvSpPr>
          <p:cNvPr id="9" name="Shape 7"/>
          <p:cNvSpPr/>
          <p:nvPr/>
        </p:nvSpPr>
        <p:spPr>
          <a:xfrm>
            <a:off x="850392" y="2660904"/>
            <a:ext cx="2414016" cy="603504"/>
          </a:xfrm>
          <a:prstGeom prst="roundRect">
            <a:avLst>
              <a:gd name="adj" fmla="val 7576"/>
            </a:avLst>
          </a:prstGeom>
          <a:solidFill>
            <a:srgbClr val="FFFFFF"/>
          </a:solidFill>
          <a:ln w="12700">
            <a:solidFill>
              <a:srgbClr val="DDE3EA"/>
            </a:solidFill>
            <a:prstDash val="solid"/>
          </a:ln>
        </p:spPr>
      </p:sp>
      <p:pic>
        <p:nvPicPr>
          <p:cNvPr id="10" name="Image 0" descr="glyphs/bq.png">    </p:cNvPr>
          <p:cNvPicPr>
            <a:picLocks noChangeAspect="1"/>
          </p:cNvPicPr>
          <p:nvPr/>
        </p:nvPicPr>
        <p:blipFill>
          <a:blip r:embed="rId1"/>
          <a:stretch>
            <a:fillRect/>
          </a:stretch>
        </p:blipFill>
        <p:spPr>
          <a:xfrm>
            <a:off x="978408" y="2834640"/>
            <a:ext cx="256032" cy="256032"/>
          </a:xfrm>
          <a:prstGeom prst="rect">
            <a:avLst/>
          </a:prstGeom>
        </p:spPr>
      </p:pic>
      <p:sp>
        <p:nvSpPr>
          <p:cNvPr id="11" name="Text 8"/>
          <p:cNvSpPr txBox="1"/>
          <p:nvPr/>
        </p:nvSpPr>
        <p:spPr>
          <a:xfrm>
            <a:off x="1325880" y="2715768"/>
            <a:ext cx="1847088" cy="493776"/>
          </a:xfrm>
          <a:prstGeom prst="rect">
            <a:avLst/>
          </a:prstGeom>
          <a:noFill/>
          <a:ln/>
        </p:spPr>
        <p:txBody>
          <a:bodyPr wrap="square" lIns="0" tIns="0" rIns="0" bIns="0" rtlCol="0" anchor="ctr"/>
          <a:lstStyle/>
          <a:p>
            <a:pPr indent="0" marL="0">
              <a:buNone/>
            </a:pPr>
            <a:r>
              <a:rPr lang="en-US" sz="1100" b="1" dirty="0">
                <a:solidFill>
                  <a:srgbClr val="002663"/>
                </a:solidFill>
                <a:latin typeface="Arial" pitchFamily="34" charset="0"/>
                <a:ea typeface="Arial" pitchFamily="34" charset="-122"/>
                <a:cs typeface="Arial" pitchFamily="34" charset="-120"/>
              </a:rPr>
              <a:t>BigQuery</a:t>
            </a:r>
            <a:endParaRPr lang="en-US" sz="1100" dirty="0"/>
          </a:p>
        </p:txBody>
      </p:sp>
      <p:sp>
        <p:nvSpPr>
          <p:cNvPr id="12" name="Shape 9"/>
          <p:cNvSpPr/>
          <p:nvPr/>
        </p:nvSpPr>
        <p:spPr>
          <a:xfrm>
            <a:off x="850392" y="3374136"/>
            <a:ext cx="2414016" cy="603504"/>
          </a:xfrm>
          <a:prstGeom prst="roundRect">
            <a:avLst>
              <a:gd name="adj" fmla="val 7576"/>
            </a:avLst>
          </a:prstGeom>
          <a:solidFill>
            <a:srgbClr val="FFFFFF"/>
          </a:solidFill>
          <a:ln w="12700">
            <a:solidFill>
              <a:srgbClr val="DDE3EA"/>
            </a:solidFill>
            <a:prstDash val="solid"/>
          </a:ln>
        </p:spPr>
      </p:sp>
      <p:pic>
        <p:nvPicPr>
          <p:cNvPr id="13" name="Image 1" descr="glyphs/kc.png">    </p:cNvPr>
          <p:cNvPicPr>
            <a:picLocks noChangeAspect="1"/>
          </p:cNvPicPr>
          <p:nvPr/>
        </p:nvPicPr>
        <p:blipFill>
          <a:blip r:embed="rId2"/>
          <a:stretch>
            <a:fillRect/>
          </a:stretch>
        </p:blipFill>
        <p:spPr>
          <a:xfrm>
            <a:off x="978408" y="3547872"/>
            <a:ext cx="256032" cy="256032"/>
          </a:xfrm>
          <a:prstGeom prst="rect">
            <a:avLst/>
          </a:prstGeom>
        </p:spPr>
      </p:pic>
      <p:sp>
        <p:nvSpPr>
          <p:cNvPr id="14" name="Text 10"/>
          <p:cNvSpPr txBox="1"/>
          <p:nvPr/>
        </p:nvSpPr>
        <p:spPr>
          <a:xfrm>
            <a:off x="1325880" y="3429000"/>
            <a:ext cx="1847088" cy="493776"/>
          </a:xfrm>
          <a:prstGeom prst="rect">
            <a:avLst/>
          </a:prstGeom>
          <a:noFill/>
          <a:ln/>
        </p:spPr>
        <p:txBody>
          <a:bodyPr wrap="square" lIns="0" tIns="0" rIns="0" bIns="0" rtlCol="0" anchor="ctr"/>
          <a:lstStyle/>
          <a:p>
            <a:pPr indent="0" marL="0">
              <a:buNone/>
            </a:pPr>
            <a:r>
              <a:rPr lang="en-US" sz="1100" b="1" dirty="0">
                <a:solidFill>
                  <a:srgbClr val="002663"/>
                </a:solidFill>
                <a:latin typeface="Arial" pitchFamily="34" charset="0"/>
                <a:ea typeface="Arial" pitchFamily="34" charset="-122"/>
                <a:cs typeface="Arial" pitchFamily="34" charset="-120"/>
              </a:rPr>
              <a:t>Knowledge Catalog</a:t>
            </a:r>
            <a:endParaRPr lang="en-US" sz="1100" dirty="0"/>
          </a:p>
        </p:txBody>
      </p:sp>
      <p:sp>
        <p:nvSpPr>
          <p:cNvPr id="15" name="Shape 11"/>
          <p:cNvSpPr/>
          <p:nvPr/>
        </p:nvSpPr>
        <p:spPr>
          <a:xfrm>
            <a:off x="850392" y="4087368"/>
            <a:ext cx="2414016" cy="603504"/>
          </a:xfrm>
          <a:prstGeom prst="roundRect">
            <a:avLst>
              <a:gd name="adj" fmla="val 7576"/>
            </a:avLst>
          </a:prstGeom>
          <a:solidFill>
            <a:srgbClr val="FFFFFF"/>
          </a:solidFill>
          <a:ln w="12700">
            <a:solidFill>
              <a:srgbClr val="DDE3EA"/>
            </a:solidFill>
            <a:prstDash val="solid"/>
          </a:ln>
        </p:spPr>
      </p:sp>
      <p:pic>
        <p:nvPicPr>
          <p:cNvPr id="16" name="Image 2" descr="glyphs/looker.png">    </p:cNvPr>
          <p:cNvPicPr>
            <a:picLocks noChangeAspect="1"/>
          </p:cNvPicPr>
          <p:nvPr/>
        </p:nvPicPr>
        <p:blipFill>
          <a:blip r:embed="rId3"/>
          <a:stretch>
            <a:fillRect/>
          </a:stretch>
        </p:blipFill>
        <p:spPr>
          <a:xfrm>
            <a:off x="978408" y="4261104"/>
            <a:ext cx="256032" cy="256032"/>
          </a:xfrm>
          <a:prstGeom prst="rect">
            <a:avLst/>
          </a:prstGeom>
        </p:spPr>
      </p:pic>
      <p:sp>
        <p:nvSpPr>
          <p:cNvPr id="17" name="Text 12"/>
          <p:cNvSpPr txBox="1"/>
          <p:nvPr/>
        </p:nvSpPr>
        <p:spPr>
          <a:xfrm>
            <a:off x="1325880" y="4142232"/>
            <a:ext cx="1847088" cy="493776"/>
          </a:xfrm>
          <a:prstGeom prst="rect">
            <a:avLst/>
          </a:prstGeom>
          <a:noFill/>
          <a:ln/>
        </p:spPr>
        <p:txBody>
          <a:bodyPr wrap="square" lIns="0" tIns="0" rIns="0" bIns="0" rtlCol="0" anchor="ctr"/>
          <a:lstStyle/>
          <a:p>
            <a:pPr indent="0" marL="0">
              <a:buNone/>
            </a:pPr>
            <a:r>
              <a:rPr lang="en-US" sz="1100" b="1" dirty="0">
                <a:solidFill>
                  <a:srgbClr val="002663"/>
                </a:solidFill>
                <a:latin typeface="Arial" pitchFamily="34" charset="0"/>
                <a:ea typeface="Arial" pitchFamily="34" charset="-122"/>
                <a:cs typeface="Arial" pitchFamily="34" charset="-120"/>
              </a:rPr>
              <a:t>Looker</a:t>
            </a:r>
            <a:endParaRPr lang="en-US" sz="1100" dirty="0"/>
          </a:p>
        </p:txBody>
      </p:sp>
      <p:sp>
        <p:nvSpPr>
          <p:cNvPr id="18" name="Shape 13"/>
          <p:cNvSpPr/>
          <p:nvPr/>
        </p:nvSpPr>
        <p:spPr>
          <a:xfrm>
            <a:off x="3813048" y="2240280"/>
            <a:ext cx="2743200" cy="2606040"/>
          </a:xfrm>
          <a:prstGeom prst="roundRect">
            <a:avLst>
              <a:gd name="adj" fmla="val 1754"/>
            </a:avLst>
          </a:prstGeom>
          <a:solidFill>
            <a:srgbClr val="F7F9FB"/>
          </a:solidFill>
          <a:ln w="12700">
            <a:solidFill>
              <a:srgbClr val="DDE3EA"/>
            </a:solidFill>
            <a:prstDash val="dash"/>
          </a:ln>
        </p:spPr>
      </p:sp>
      <p:sp>
        <p:nvSpPr>
          <p:cNvPr id="19" name="Text 14"/>
          <p:cNvSpPr txBox="1"/>
          <p:nvPr/>
        </p:nvSpPr>
        <p:spPr>
          <a:xfrm>
            <a:off x="3977640" y="2350008"/>
            <a:ext cx="2414016" cy="219456"/>
          </a:xfrm>
          <a:prstGeom prst="rect">
            <a:avLst/>
          </a:prstGeom>
          <a:noFill/>
          <a:ln/>
        </p:spPr>
        <p:txBody>
          <a:bodyPr wrap="square" lIns="0" tIns="0" rIns="0" bIns="0" rtlCol="0" anchor="ctr"/>
          <a:lstStyle/>
          <a:p>
            <a:pPr indent="0" marL="0">
              <a:buNone/>
            </a:pPr>
            <a:r>
              <a:rPr lang="en-US" sz="950" b="1" spc="90" kern="0" dirty="0">
                <a:solidFill>
                  <a:srgbClr val="5A6472"/>
                </a:solidFill>
                <a:latin typeface="Arial" pitchFamily="34" charset="0"/>
                <a:ea typeface="Arial" pitchFamily="34" charset="-122"/>
                <a:cs typeface="Arial" pitchFamily="34" charset="-120"/>
              </a:rPr>
              <a:t>COMPILE</a:t>
            </a:r>
            <a:endParaRPr lang="en-US" sz="950" dirty="0"/>
          </a:p>
        </p:txBody>
      </p:sp>
      <p:sp>
        <p:nvSpPr>
          <p:cNvPr id="20" name="Shape 15"/>
          <p:cNvSpPr/>
          <p:nvPr/>
        </p:nvSpPr>
        <p:spPr>
          <a:xfrm>
            <a:off x="3977640" y="2660904"/>
            <a:ext cx="2414016" cy="603504"/>
          </a:xfrm>
          <a:prstGeom prst="roundRect">
            <a:avLst>
              <a:gd name="adj" fmla="val 7576"/>
            </a:avLst>
          </a:prstGeom>
          <a:solidFill>
            <a:srgbClr val="FFFFFF"/>
          </a:solidFill>
          <a:ln w="12700">
            <a:solidFill>
              <a:srgbClr val="DDE3EA"/>
            </a:solidFill>
            <a:prstDash val="solid"/>
          </a:ln>
        </p:spPr>
      </p:sp>
      <p:sp>
        <p:nvSpPr>
          <p:cNvPr id="21" name="Shape 16"/>
          <p:cNvSpPr/>
          <p:nvPr/>
        </p:nvSpPr>
        <p:spPr>
          <a:xfrm>
            <a:off x="4105656" y="2843784"/>
            <a:ext cx="237744" cy="237744"/>
          </a:xfrm>
          <a:prstGeom prst="ellipse">
            <a:avLst/>
          </a:prstGeom>
          <a:solidFill>
            <a:srgbClr val="016FD0"/>
          </a:solidFill>
          <a:ln w="6350">
            <a:solidFill>
              <a:srgbClr val="016FD0"/>
            </a:solidFill>
            <a:prstDash val="solid"/>
          </a:ln>
        </p:spPr>
      </p:sp>
      <p:sp>
        <p:nvSpPr>
          <p:cNvPr id="22" name="Text 17"/>
          <p:cNvSpPr txBox="1"/>
          <p:nvPr/>
        </p:nvSpPr>
        <p:spPr>
          <a:xfrm>
            <a:off x="4105656" y="2857500"/>
            <a:ext cx="237744"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3" name="Text 18"/>
          <p:cNvSpPr txBox="1"/>
          <p:nvPr/>
        </p:nvSpPr>
        <p:spPr>
          <a:xfrm>
            <a:off x="4453128" y="2715768"/>
            <a:ext cx="1847088" cy="493776"/>
          </a:xfrm>
          <a:prstGeom prst="rect">
            <a:avLst/>
          </a:prstGeom>
          <a:noFill/>
          <a:ln/>
        </p:spPr>
        <p:txBody>
          <a:bodyPr wrap="square" lIns="0" tIns="0" rIns="0" bIns="0" rtlCol="0" anchor="ctr"/>
          <a:lstStyle/>
          <a:p>
            <a:pPr indent="0" marL="0">
              <a:buNone/>
            </a:pPr>
            <a:r>
              <a:rPr lang="en-US" sz="1100" b="1" dirty="0">
                <a:solidFill>
                  <a:srgbClr val="002663"/>
                </a:solidFill>
                <a:latin typeface="Arial" pitchFamily="34" charset="0"/>
                <a:ea typeface="Arial" pitchFamily="34" charset="-122"/>
                <a:cs typeface="Arial" pitchFamily="34" charset="-120"/>
              </a:rPr>
              <a:t>Read the sources</a:t>
            </a:r>
            <a:endParaRPr lang="en-US" sz="1100" dirty="0"/>
          </a:p>
        </p:txBody>
      </p:sp>
      <p:sp>
        <p:nvSpPr>
          <p:cNvPr id="24" name="Shape 19"/>
          <p:cNvSpPr/>
          <p:nvPr/>
        </p:nvSpPr>
        <p:spPr>
          <a:xfrm>
            <a:off x="3977640" y="3374136"/>
            <a:ext cx="2414016" cy="603504"/>
          </a:xfrm>
          <a:prstGeom prst="roundRect">
            <a:avLst>
              <a:gd name="adj" fmla="val 7576"/>
            </a:avLst>
          </a:prstGeom>
          <a:solidFill>
            <a:srgbClr val="FFFFFF"/>
          </a:solidFill>
          <a:ln w="12700">
            <a:solidFill>
              <a:srgbClr val="DDE3EA"/>
            </a:solidFill>
            <a:prstDash val="solid"/>
          </a:ln>
        </p:spPr>
      </p:sp>
      <p:sp>
        <p:nvSpPr>
          <p:cNvPr id="25" name="Shape 20"/>
          <p:cNvSpPr/>
          <p:nvPr/>
        </p:nvSpPr>
        <p:spPr>
          <a:xfrm>
            <a:off x="4105656" y="3557016"/>
            <a:ext cx="237744" cy="237744"/>
          </a:xfrm>
          <a:prstGeom prst="ellipse">
            <a:avLst/>
          </a:prstGeom>
          <a:solidFill>
            <a:srgbClr val="016FD0"/>
          </a:solidFill>
          <a:ln w="6350">
            <a:solidFill>
              <a:srgbClr val="016FD0"/>
            </a:solidFill>
            <a:prstDash val="solid"/>
          </a:ln>
        </p:spPr>
      </p:sp>
      <p:sp>
        <p:nvSpPr>
          <p:cNvPr id="26" name="Text 21"/>
          <p:cNvSpPr txBox="1"/>
          <p:nvPr/>
        </p:nvSpPr>
        <p:spPr>
          <a:xfrm>
            <a:off x="4105656" y="3570732"/>
            <a:ext cx="237744"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7" name="Text 22"/>
          <p:cNvSpPr txBox="1"/>
          <p:nvPr/>
        </p:nvSpPr>
        <p:spPr>
          <a:xfrm>
            <a:off x="4453128" y="3429000"/>
            <a:ext cx="1847088" cy="493776"/>
          </a:xfrm>
          <a:prstGeom prst="rect">
            <a:avLst/>
          </a:prstGeom>
          <a:noFill/>
          <a:ln/>
        </p:spPr>
        <p:txBody>
          <a:bodyPr wrap="square" lIns="0" tIns="0" rIns="0" bIns="0" rtlCol="0" anchor="ctr"/>
          <a:lstStyle/>
          <a:p>
            <a:pPr indent="0" marL="0">
              <a:buNone/>
            </a:pPr>
            <a:r>
              <a:rPr lang="en-US" sz="1100" b="1" dirty="0">
                <a:solidFill>
                  <a:srgbClr val="002663"/>
                </a:solidFill>
                <a:latin typeface="Arial" pitchFamily="34" charset="0"/>
                <a:ea typeface="Arial" pitchFamily="34" charset="-122"/>
                <a:cs typeface="Arial" pitchFamily="34" charset="-120"/>
              </a:rPr>
              <a:t>Resolve and extract</a:t>
            </a:r>
            <a:endParaRPr lang="en-US" sz="1100" dirty="0"/>
          </a:p>
        </p:txBody>
      </p:sp>
      <p:sp>
        <p:nvSpPr>
          <p:cNvPr id="28" name="Shape 23"/>
          <p:cNvSpPr/>
          <p:nvPr/>
        </p:nvSpPr>
        <p:spPr>
          <a:xfrm>
            <a:off x="3977640" y="4087368"/>
            <a:ext cx="2414016" cy="603504"/>
          </a:xfrm>
          <a:prstGeom prst="roundRect">
            <a:avLst>
              <a:gd name="adj" fmla="val 7576"/>
            </a:avLst>
          </a:prstGeom>
          <a:solidFill>
            <a:srgbClr val="FFFFFF"/>
          </a:solidFill>
          <a:ln w="12700">
            <a:solidFill>
              <a:srgbClr val="DDE3EA"/>
            </a:solidFill>
            <a:prstDash val="solid"/>
          </a:ln>
        </p:spPr>
      </p:sp>
      <p:sp>
        <p:nvSpPr>
          <p:cNvPr id="29" name="Shape 24"/>
          <p:cNvSpPr/>
          <p:nvPr/>
        </p:nvSpPr>
        <p:spPr>
          <a:xfrm>
            <a:off x="4105656" y="4270248"/>
            <a:ext cx="237744" cy="237744"/>
          </a:xfrm>
          <a:prstGeom prst="ellipse">
            <a:avLst/>
          </a:prstGeom>
          <a:solidFill>
            <a:srgbClr val="016FD0"/>
          </a:solidFill>
          <a:ln w="6350">
            <a:solidFill>
              <a:srgbClr val="016FD0"/>
            </a:solidFill>
            <a:prstDash val="solid"/>
          </a:ln>
        </p:spPr>
      </p:sp>
      <p:sp>
        <p:nvSpPr>
          <p:cNvPr id="30" name="Text 25"/>
          <p:cNvSpPr txBox="1"/>
          <p:nvPr/>
        </p:nvSpPr>
        <p:spPr>
          <a:xfrm>
            <a:off x="4105656" y="4283964"/>
            <a:ext cx="237744"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31" name="Text 26"/>
          <p:cNvSpPr txBox="1"/>
          <p:nvPr/>
        </p:nvSpPr>
        <p:spPr>
          <a:xfrm>
            <a:off x="4453128" y="4142232"/>
            <a:ext cx="1847088" cy="493776"/>
          </a:xfrm>
          <a:prstGeom prst="rect">
            <a:avLst/>
          </a:prstGeom>
          <a:noFill/>
          <a:ln/>
        </p:spPr>
        <p:txBody>
          <a:bodyPr wrap="square" lIns="0" tIns="0" rIns="0" bIns="0" rtlCol="0" anchor="ctr"/>
          <a:lstStyle/>
          <a:p>
            <a:pPr indent="0" marL="0">
              <a:buNone/>
            </a:pPr>
            <a:r>
              <a:rPr lang="en-US" sz="1100" b="1" dirty="0">
                <a:solidFill>
                  <a:srgbClr val="002663"/>
                </a:solidFill>
                <a:latin typeface="Arial" pitchFamily="34" charset="0"/>
                <a:ea typeface="Arial" pitchFamily="34" charset="-122"/>
                <a:cs typeface="Arial" pitchFamily="34" charset="-120"/>
              </a:rPr>
              <a:t>Compile and validate</a:t>
            </a:r>
            <a:endParaRPr lang="en-US" sz="1100" dirty="0"/>
          </a:p>
        </p:txBody>
      </p:sp>
      <p:sp>
        <p:nvSpPr>
          <p:cNvPr id="32" name="Shape 27"/>
          <p:cNvSpPr/>
          <p:nvPr/>
        </p:nvSpPr>
        <p:spPr>
          <a:xfrm>
            <a:off x="6940296" y="2240280"/>
            <a:ext cx="2743200" cy="2606040"/>
          </a:xfrm>
          <a:prstGeom prst="roundRect">
            <a:avLst>
              <a:gd name="adj" fmla="val 1754"/>
            </a:avLst>
          </a:prstGeom>
          <a:solidFill>
            <a:srgbClr val="F7F9FB"/>
          </a:solidFill>
          <a:ln w="12700">
            <a:solidFill>
              <a:srgbClr val="DDE3EA"/>
            </a:solidFill>
            <a:prstDash val="dash"/>
          </a:ln>
        </p:spPr>
      </p:sp>
      <p:sp>
        <p:nvSpPr>
          <p:cNvPr id="33" name="Text 28"/>
          <p:cNvSpPr txBox="1"/>
          <p:nvPr/>
        </p:nvSpPr>
        <p:spPr>
          <a:xfrm>
            <a:off x="7104888" y="2350008"/>
            <a:ext cx="2414016" cy="219456"/>
          </a:xfrm>
          <a:prstGeom prst="rect">
            <a:avLst/>
          </a:prstGeom>
          <a:noFill/>
          <a:ln/>
        </p:spPr>
        <p:txBody>
          <a:bodyPr wrap="square" lIns="0" tIns="0" rIns="0" bIns="0" rtlCol="0" anchor="ctr"/>
          <a:lstStyle/>
          <a:p>
            <a:pPr indent="0" marL="0">
              <a:buNone/>
            </a:pPr>
            <a:r>
              <a:rPr lang="en-US" sz="950" b="1" spc="90" kern="0" dirty="0">
                <a:solidFill>
                  <a:srgbClr val="5A6472"/>
                </a:solidFill>
                <a:latin typeface="Arial" pitchFamily="34" charset="0"/>
                <a:ea typeface="Arial" pitchFamily="34" charset="-122"/>
                <a:cs typeface="Arial" pitchFamily="34" charset="-120"/>
              </a:rPr>
              <a:t>SERVE</a:t>
            </a:r>
            <a:endParaRPr lang="en-US" sz="950" dirty="0"/>
          </a:p>
        </p:txBody>
      </p:sp>
      <p:sp>
        <p:nvSpPr>
          <p:cNvPr id="34" name="Shape 29"/>
          <p:cNvSpPr/>
          <p:nvPr/>
        </p:nvSpPr>
        <p:spPr>
          <a:xfrm>
            <a:off x="7104888" y="2660904"/>
            <a:ext cx="2414016" cy="603504"/>
          </a:xfrm>
          <a:prstGeom prst="roundRect">
            <a:avLst>
              <a:gd name="adj" fmla="val 7576"/>
            </a:avLst>
          </a:prstGeom>
          <a:solidFill>
            <a:srgbClr val="002663"/>
          </a:solidFill>
          <a:ln w="12700">
            <a:solidFill>
              <a:srgbClr val="002663"/>
            </a:solidFill>
            <a:prstDash val="solid"/>
          </a:ln>
        </p:spPr>
      </p:sp>
      <p:sp>
        <p:nvSpPr>
          <p:cNvPr id="35" name="Shape 30"/>
          <p:cNvSpPr/>
          <p:nvPr/>
        </p:nvSpPr>
        <p:spPr>
          <a:xfrm>
            <a:off x="7232904" y="2843784"/>
            <a:ext cx="237744" cy="237744"/>
          </a:xfrm>
          <a:prstGeom prst="ellipse">
            <a:avLst/>
          </a:prstGeom>
          <a:solidFill>
            <a:srgbClr val="FFFFFF"/>
          </a:solidFill>
          <a:ln w="6350">
            <a:solidFill>
              <a:srgbClr val="FFFFFF"/>
            </a:solidFill>
            <a:prstDash val="solid"/>
          </a:ln>
        </p:spPr>
      </p:sp>
      <p:sp>
        <p:nvSpPr>
          <p:cNvPr id="36" name="Text 31"/>
          <p:cNvSpPr txBox="1"/>
          <p:nvPr/>
        </p:nvSpPr>
        <p:spPr>
          <a:xfrm>
            <a:off x="7232904" y="2857500"/>
            <a:ext cx="237744" cy="219456"/>
          </a:xfrm>
          <a:prstGeom prst="rect">
            <a:avLst/>
          </a:prstGeom>
          <a:noFill/>
          <a:ln/>
        </p:spPr>
        <p:txBody>
          <a:bodyPr wrap="square" lIns="0" tIns="0" rIns="0" bIns="0" rtlCol="0" anchor="ctr"/>
          <a:lstStyle/>
          <a:p>
            <a:pPr algn="ctr" indent="0" marL="0">
              <a:buNone/>
            </a:pPr>
            <a:r>
              <a:rPr lang="en-US" sz="1100" b="1" dirty="0">
                <a:solidFill>
                  <a:srgbClr val="002663"/>
                </a:solidFill>
                <a:latin typeface="Arial" pitchFamily="34" charset="0"/>
                <a:ea typeface="Arial" pitchFamily="34" charset="-122"/>
                <a:cs typeface="Arial" pitchFamily="34" charset="-120"/>
              </a:rPr>
              <a:t>4</a:t>
            </a:r>
            <a:endParaRPr lang="en-US" sz="1100" dirty="0"/>
          </a:p>
        </p:txBody>
      </p:sp>
      <p:pic>
        <p:nvPicPr>
          <p:cNvPr id="37" name="Image 3" descr="glyphs/radixgraphW.png">    </p:cNvPr>
          <p:cNvPicPr>
            <a:picLocks noChangeAspect="1"/>
          </p:cNvPicPr>
          <p:nvPr/>
        </p:nvPicPr>
        <p:blipFill>
          <a:blip r:embed="rId4"/>
          <a:stretch>
            <a:fillRect/>
          </a:stretch>
        </p:blipFill>
        <p:spPr>
          <a:xfrm>
            <a:off x="7580376" y="2834640"/>
            <a:ext cx="256032" cy="256032"/>
          </a:xfrm>
          <a:prstGeom prst="rect">
            <a:avLst/>
          </a:prstGeom>
        </p:spPr>
      </p:pic>
      <p:sp>
        <p:nvSpPr>
          <p:cNvPr id="38" name="Text 32"/>
          <p:cNvSpPr txBox="1"/>
          <p:nvPr/>
        </p:nvSpPr>
        <p:spPr>
          <a:xfrm>
            <a:off x="7927848" y="2715768"/>
            <a:ext cx="1499616" cy="493776"/>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Versioned snapshot</a:t>
            </a:r>
            <a:endParaRPr lang="en-US" sz="1100" dirty="0"/>
          </a:p>
        </p:txBody>
      </p:sp>
      <p:sp>
        <p:nvSpPr>
          <p:cNvPr id="39" name="Shape 33"/>
          <p:cNvSpPr/>
          <p:nvPr/>
        </p:nvSpPr>
        <p:spPr>
          <a:xfrm>
            <a:off x="7104888" y="3374136"/>
            <a:ext cx="2414016" cy="603504"/>
          </a:xfrm>
          <a:prstGeom prst="roundRect">
            <a:avLst>
              <a:gd name="adj" fmla="val 7576"/>
            </a:avLst>
          </a:prstGeom>
          <a:solidFill>
            <a:srgbClr val="FFFFFF"/>
          </a:solidFill>
          <a:ln w="12700">
            <a:solidFill>
              <a:srgbClr val="DDE3EA"/>
            </a:solidFill>
            <a:prstDash val="solid"/>
          </a:ln>
        </p:spPr>
      </p:sp>
      <p:sp>
        <p:nvSpPr>
          <p:cNvPr id="40" name="Shape 34"/>
          <p:cNvSpPr/>
          <p:nvPr/>
        </p:nvSpPr>
        <p:spPr>
          <a:xfrm>
            <a:off x="7232904" y="3557016"/>
            <a:ext cx="237744" cy="237744"/>
          </a:xfrm>
          <a:prstGeom prst="ellipse">
            <a:avLst/>
          </a:prstGeom>
          <a:solidFill>
            <a:srgbClr val="016FD0"/>
          </a:solidFill>
          <a:ln w="6350">
            <a:solidFill>
              <a:srgbClr val="016FD0"/>
            </a:solidFill>
            <a:prstDash val="solid"/>
          </a:ln>
        </p:spPr>
      </p:sp>
      <p:sp>
        <p:nvSpPr>
          <p:cNvPr id="41" name="Text 35"/>
          <p:cNvSpPr txBox="1"/>
          <p:nvPr/>
        </p:nvSpPr>
        <p:spPr>
          <a:xfrm>
            <a:off x="7232904" y="3570732"/>
            <a:ext cx="237744"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pic>
        <p:nvPicPr>
          <p:cNvPr id="42" name="Image 4" descr="glyphs/gemini.png">    </p:cNvPr>
          <p:cNvPicPr>
            <a:picLocks noChangeAspect="1"/>
          </p:cNvPicPr>
          <p:nvPr/>
        </p:nvPicPr>
        <p:blipFill>
          <a:blip r:embed="rId5"/>
          <a:stretch>
            <a:fillRect/>
          </a:stretch>
        </p:blipFill>
        <p:spPr>
          <a:xfrm>
            <a:off x="7580376" y="3547872"/>
            <a:ext cx="256032" cy="256032"/>
          </a:xfrm>
          <a:prstGeom prst="rect">
            <a:avLst/>
          </a:prstGeom>
        </p:spPr>
      </p:pic>
      <p:sp>
        <p:nvSpPr>
          <p:cNvPr id="43" name="Text 36"/>
          <p:cNvSpPr txBox="1"/>
          <p:nvPr/>
        </p:nvSpPr>
        <p:spPr>
          <a:xfrm>
            <a:off x="7927848" y="3429000"/>
            <a:ext cx="1499616" cy="493776"/>
          </a:xfrm>
          <a:prstGeom prst="rect">
            <a:avLst/>
          </a:prstGeom>
          <a:noFill/>
          <a:ln/>
        </p:spPr>
        <p:txBody>
          <a:bodyPr wrap="square" lIns="0" tIns="0" rIns="0" bIns="0" rtlCol="0" anchor="ctr"/>
          <a:lstStyle/>
          <a:p>
            <a:pPr indent="0" marL="0">
              <a:buNone/>
            </a:pPr>
            <a:r>
              <a:rPr lang="en-US" sz="1100" b="1" dirty="0">
                <a:solidFill>
                  <a:srgbClr val="002663"/>
                </a:solidFill>
                <a:latin typeface="Arial" pitchFamily="34" charset="0"/>
                <a:ea typeface="Arial" pitchFamily="34" charset="-122"/>
                <a:cs typeface="Arial" pitchFamily="34" charset="-120"/>
              </a:rPr>
              <a:t>Harness + Gemini</a:t>
            </a:r>
            <a:endParaRPr lang="en-US" sz="1100" dirty="0"/>
          </a:p>
        </p:txBody>
      </p:sp>
      <p:sp>
        <p:nvSpPr>
          <p:cNvPr id="44" name="Shape 37"/>
          <p:cNvSpPr/>
          <p:nvPr/>
        </p:nvSpPr>
        <p:spPr>
          <a:xfrm>
            <a:off x="7104888" y="4087368"/>
            <a:ext cx="2414016" cy="603504"/>
          </a:xfrm>
          <a:prstGeom prst="roundRect">
            <a:avLst>
              <a:gd name="adj" fmla="val 7576"/>
            </a:avLst>
          </a:prstGeom>
          <a:solidFill>
            <a:srgbClr val="FFFFFF"/>
          </a:solidFill>
          <a:ln w="12700">
            <a:solidFill>
              <a:srgbClr val="DDE3EA"/>
            </a:solidFill>
            <a:prstDash val="solid"/>
          </a:ln>
        </p:spPr>
      </p:sp>
      <p:sp>
        <p:nvSpPr>
          <p:cNvPr id="45" name="Shape 38"/>
          <p:cNvSpPr/>
          <p:nvPr/>
        </p:nvSpPr>
        <p:spPr>
          <a:xfrm>
            <a:off x="7232904" y="4270248"/>
            <a:ext cx="237744" cy="237744"/>
          </a:xfrm>
          <a:prstGeom prst="ellipse">
            <a:avLst/>
          </a:prstGeom>
          <a:solidFill>
            <a:srgbClr val="016FD0"/>
          </a:solidFill>
          <a:ln w="6350">
            <a:solidFill>
              <a:srgbClr val="016FD0"/>
            </a:solidFill>
            <a:prstDash val="solid"/>
          </a:ln>
        </p:spPr>
      </p:sp>
      <p:sp>
        <p:nvSpPr>
          <p:cNvPr id="46" name="Text 39"/>
          <p:cNvSpPr txBox="1"/>
          <p:nvPr/>
        </p:nvSpPr>
        <p:spPr>
          <a:xfrm>
            <a:off x="7232904" y="4283964"/>
            <a:ext cx="237744"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pic>
        <p:nvPicPr>
          <p:cNvPr id="47" name="Image 5" descr="glyphs/lumi.png">    </p:cNvPr>
          <p:cNvPicPr>
            <a:picLocks noChangeAspect="1"/>
          </p:cNvPicPr>
          <p:nvPr/>
        </p:nvPicPr>
        <p:blipFill>
          <a:blip r:embed="rId6"/>
          <a:stretch>
            <a:fillRect/>
          </a:stretch>
        </p:blipFill>
        <p:spPr>
          <a:xfrm>
            <a:off x="7580376" y="4261104"/>
            <a:ext cx="256032" cy="256032"/>
          </a:xfrm>
          <a:prstGeom prst="rect">
            <a:avLst/>
          </a:prstGeom>
        </p:spPr>
      </p:pic>
      <p:sp>
        <p:nvSpPr>
          <p:cNvPr id="48" name="Text 40"/>
          <p:cNvSpPr txBox="1"/>
          <p:nvPr/>
        </p:nvSpPr>
        <p:spPr>
          <a:xfrm>
            <a:off x="7927848" y="4142232"/>
            <a:ext cx="1499616" cy="493776"/>
          </a:xfrm>
          <a:prstGeom prst="rect">
            <a:avLst/>
          </a:prstGeom>
          <a:noFill/>
          <a:ln/>
        </p:spPr>
        <p:txBody>
          <a:bodyPr wrap="square" lIns="0" tIns="0" rIns="0" bIns="0" rtlCol="0" anchor="ctr"/>
          <a:lstStyle/>
          <a:p>
            <a:pPr indent="0" marL="0">
              <a:buNone/>
            </a:pPr>
            <a:r>
              <a:rPr lang="en-US" sz="1100" b="1" dirty="0">
                <a:solidFill>
                  <a:srgbClr val="002663"/>
                </a:solidFill>
                <a:latin typeface="Arial" pitchFamily="34" charset="0"/>
                <a:ea typeface="Arial" pitchFamily="34" charset="-122"/>
                <a:cs typeface="Arial" pitchFamily="34" charset="-120"/>
              </a:rPr>
              <a:t>Surfaces</a:t>
            </a:r>
            <a:endParaRPr lang="en-US" sz="1100" dirty="0"/>
          </a:p>
        </p:txBody>
      </p:sp>
      <p:sp>
        <p:nvSpPr>
          <p:cNvPr id="49" name="Shape 41"/>
          <p:cNvSpPr/>
          <p:nvPr/>
        </p:nvSpPr>
        <p:spPr>
          <a:xfrm>
            <a:off x="3502152" y="3465576"/>
            <a:ext cx="274320" cy="155448"/>
          </a:xfrm>
          <a:prstGeom prst="rightArrow">
            <a:avLst/>
          </a:prstGeom>
          <a:solidFill>
            <a:srgbClr val="016FD0"/>
          </a:solidFill>
          <a:ln w="6350">
            <a:solidFill>
              <a:srgbClr val="016FD0"/>
            </a:solidFill>
            <a:prstDash val="solid"/>
          </a:ln>
        </p:spPr>
      </p:sp>
      <p:sp>
        <p:nvSpPr>
          <p:cNvPr id="50" name="Shape 42"/>
          <p:cNvSpPr/>
          <p:nvPr/>
        </p:nvSpPr>
        <p:spPr>
          <a:xfrm>
            <a:off x="6629400" y="3465576"/>
            <a:ext cx="274320" cy="155448"/>
          </a:xfrm>
          <a:prstGeom prst="rightArrow">
            <a:avLst/>
          </a:prstGeom>
          <a:solidFill>
            <a:srgbClr val="016FD0"/>
          </a:solidFill>
          <a:ln w="6350">
            <a:solidFill>
              <a:srgbClr val="016FD0"/>
            </a:solidFill>
            <a:prstDash val="solid"/>
          </a:ln>
        </p:spPr>
      </p:sp>
      <p:sp>
        <p:nvSpPr>
          <p:cNvPr id="51" name="Shape 43"/>
          <p:cNvSpPr/>
          <p:nvPr/>
        </p:nvSpPr>
        <p:spPr>
          <a:xfrm>
            <a:off x="9994392" y="3465576"/>
            <a:ext cx="274320" cy="155448"/>
          </a:xfrm>
          <a:prstGeom prst="rightArrow">
            <a:avLst/>
          </a:prstGeom>
          <a:solidFill>
            <a:srgbClr val="016FD0"/>
          </a:solidFill>
          <a:ln w="6350">
            <a:solidFill>
              <a:srgbClr val="016FD0"/>
            </a:solidFill>
            <a:prstDash val="solid"/>
          </a:ln>
        </p:spPr>
      </p:sp>
      <p:sp>
        <p:nvSpPr>
          <p:cNvPr id="52" name="Shape 44"/>
          <p:cNvSpPr/>
          <p:nvPr/>
        </p:nvSpPr>
        <p:spPr>
          <a:xfrm>
            <a:off x="10378440" y="2240280"/>
            <a:ext cx="1353312" cy="2606040"/>
          </a:xfrm>
          <a:prstGeom prst="roundRect">
            <a:avLst>
              <a:gd name="adj" fmla="val 3378"/>
            </a:avLst>
          </a:prstGeom>
          <a:solidFill>
            <a:srgbClr val="EDF1F6"/>
          </a:solidFill>
          <a:ln w="12700">
            <a:solidFill>
              <a:srgbClr val="DDE3EA"/>
            </a:solidFill>
            <a:prstDash val="dash"/>
          </a:ln>
        </p:spPr>
      </p:sp>
      <p:sp>
        <p:nvSpPr>
          <p:cNvPr id="53" name="Text 45"/>
          <p:cNvSpPr txBox="1"/>
          <p:nvPr/>
        </p:nvSpPr>
        <p:spPr>
          <a:xfrm>
            <a:off x="10515600" y="2350008"/>
            <a:ext cx="1097280" cy="219456"/>
          </a:xfrm>
          <a:prstGeom prst="rect">
            <a:avLst/>
          </a:prstGeom>
          <a:noFill/>
          <a:ln/>
        </p:spPr>
        <p:txBody>
          <a:bodyPr wrap="square" lIns="0" tIns="0" rIns="0" bIns="0" rtlCol="0" anchor="ctr"/>
          <a:lstStyle/>
          <a:p>
            <a:pPr indent="0" marL="0">
              <a:buNone/>
            </a:pPr>
            <a:r>
              <a:rPr lang="en-US" sz="950" b="1" spc="90" kern="0" dirty="0">
                <a:solidFill>
                  <a:srgbClr val="5A6472"/>
                </a:solidFill>
                <a:latin typeface="Arial" pitchFamily="34" charset="0"/>
                <a:ea typeface="Arial" pitchFamily="34" charset="-122"/>
                <a:cs typeface="Arial" pitchFamily="34" charset="-120"/>
              </a:rPr>
              <a:t>PEOPLE</a:t>
            </a:r>
            <a:endParaRPr lang="en-US" sz="950" dirty="0"/>
          </a:p>
        </p:txBody>
      </p:sp>
      <p:sp>
        <p:nvSpPr>
          <p:cNvPr id="54" name="Shape 46"/>
          <p:cNvSpPr/>
          <p:nvPr/>
        </p:nvSpPr>
        <p:spPr>
          <a:xfrm>
            <a:off x="10515600" y="2660904"/>
            <a:ext cx="1078992" cy="603504"/>
          </a:xfrm>
          <a:prstGeom prst="roundRect">
            <a:avLst>
              <a:gd name="adj" fmla="val 7576"/>
            </a:avLst>
          </a:prstGeom>
          <a:solidFill>
            <a:srgbClr val="FFFFFF"/>
          </a:solidFill>
          <a:ln w="12700">
            <a:solidFill>
              <a:srgbClr val="DDE3EA"/>
            </a:solidFill>
            <a:prstDash val="solid"/>
          </a:ln>
        </p:spPr>
      </p:sp>
      <p:sp>
        <p:nvSpPr>
          <p:cNvPr id="55" name="Text 47"/>
          <p:cNvSpPr txBox="1"/>
          <p:nvPr/>
        </p:nvSpPr>
        <p:spPr>
          <a:xfrm>
            <a:off x="10607040" y="2715768"/>
            <a:ext cx="914400" cy="493776"/>
          </a:xfrm>
          <a:prstGeom prst="rect">
            <a:avLst/>
          </a:prstGeom>
          <a:noFill/>
          <a:ln/>
        </p:spPr>
        <p:txBody>
          <a:bodyPr wrap="square" lIns="0" tIns="0" rIns="0" bIns="0" rtlCol="0" anchor="ctr"/>
          <a:lstStyle/>
          <a:p>
            <a:pPr indent="0" marL="0">
              <a:buNone/>
            </a:pPr>
            <a:r>
              <a:rPr lang="en-US" sz="1100" b="1" dirty="0">
                <a:solidFill>
                  <a:srgbClr val="002663"/>
                </a:solidFill>
                <a:latin typeface="Arial" pitchFamily="34" charset="0"/>
                <a:ea typeface="Arial" pitchFamily="34" charset="-122"/>
                <a:cs typeface="Arial" pitchFamily="34" charset="-120"/>
              </a:rPr>
              <a:t>Analyst</a:t>
            </a:r>
            <a:endParaRPr lang="en-US" sz="1100" dirty="0"/>
          </a:p>
        </p:txBody>
      </p:sp>
      <p:sp>
        <p:nvSpPr>
          <p:cNvPr id="56" name="Shape 48"/>
          <p:cNvSpPr/>
          <p:nvPr/>
        </p:nvSpPr>
        <p:spPr>
          <a:xfrm>
            <a:off x="10515600" y="3374136"/>
            <a:ext cx="1078992" cy="603504"/>
          </a:xfrm>
          <a:prstGeom prst="roundRect">
            <a:avLst>
              <a:gd name="adj" fmla="val 7576"/>
            </a:avLst>
          </a:prstGeom>
          <a:solidFill>
            <a:srgbClr val="FFFFFF"/>
          </a:solidFill>
          <a:ln w="12700">
            <a:solidFill>
              <a:srgbClr val="DDE3EA"/>
            </a:solidFill>
            <a:prstDash val="solid"/>
          </a:ln>
        </p:spPr>
      </p:sp>
      <p:sp>
        <p:nvSpPr>
          <p:cNvPr id="57" name="Text 49"/>
          <p:cNvSpPr txBox="1"/>
          <p:nvPr/>
        </p:nvSpPr>
        <p:spPr>
          <a:xfrm>
            <a:off x="10607040" y="3429000"/>
            <a:ext cx="914400" cy="493776"/>
          </a:xfrm>
          <a:prstGeom prst="rect">
            <a:avLst/>
          </a:prstGeom>
          <a:noFill/>
          <a:ln/>
        </p:spPr>
        <p:txBody>
          <a:bodyPr wrap="square" lIns="0" tIns="0" rIns="0" bIns="0" rtlCol="0" anchor="ctr"/>
          <a:lstStyle/>
          <a:p>
            <a:pPr indent="0" marL="0">
              <a:buNone/>
            </a:pPr>
            <a:r>
              <a:rPr lang="en-US" sz="1100" b="1" dirty="0">
                <a:solidFill>
                  <a:srgbClr val="002663"/>
                </a:solidFill>
                <a:latin typeface="Arial" pitchFamily="34" charset="0"/>
                <a:ea typeface="Arial" pitchFamily="34" charset="-122"/>
                <a:cs typeface="Arial" pitchFamily="34" charset="-120"/>
              </a:rPr>
              <a:t>Leader</a:t>
            </a:r>
            <a:endParaRPr lang="en-US" sz="1100" dirty="0"/>
          </a:p>
        </p:txBody>
      </p:sp>
      <p:sp>
        <p:nvSpPr>
          <p:cNvPr id="58" name="Shape 50"/>
          <p:cNvSpPr/>
          <p:nvPr/>
        </p:nvSpPr>
        <p:spPr>
          <a:xfrm>
            <a:off x="10515600" y="4087368"/>
            <a:ext cx="1078992" cy="603504"/>
          </a:xfrm>
          <a:prstGeom prst="roundRect">
            <a:avLst>
              <a:gd name="adj" fmla="val 7576"/>
            </a:avLst>
          </a:prstGeom>
          <a:solidFill>
            <a:srgbClr val="FFFFFF"/>
          </a:solidFill>
          <a:ln w="12700">
            <a:solidFill>
              <a:srgbClr val="DDE3EA"/>
            </a:solidFill>
            <a:prstDash val="solid"/>
          </a:ln>
        </p:spPr>
      </p:sp>
      <p:sp>
        <p:nvSpPr>
          <p:cNvPr id="59" name="Text 51"/>
          <p:cNvSpPr txBox="1"/>
          <p:nvPr/>
        </p:nvSpPr>
        <p:spPr>
          <a:xfrm>
            <a:off x="10607040" y="4142232"/>
            <a:ext cx="914400" cy="493776"/>
          </a:xfrm>
          <a:prstGeom prst="rect">
            <a:avLst/>
          </a:prstGeom>
          <a:noFill/>
          <a:ln/>
        </p:spPr>
        <p:txBody>
          <a:bodyPr wrap="square" lIns="0" tIns="0" rIns="0" bIns="0" rtlCol="0" anchor="ctr"/>
          <a:lstStyle/>
          <a:p>
            <a:pPr indent="0" marL="0">
              <a:buNone/>
            </a:pPr>
            <a:r>
              <a:rPr lang="en-US" sz="1100" b="1" dirty="0">
                <a:solidFill>
                  <a:srgbClr val="002663"/>
                </a:solidFill>
                <a:latin typeface="Arial" pitchFamily="34" charset="0"/>
                <a:ea typeface="Arial" pitchFamily="34" charset="-122"/>
                <a:cs typeface="Arial" pitchFamily="34" charset="-120"/>
              </a:rPr>
              <a:t>Steward</a:t>
            </a:r>
            <a:endParaRPr lang="en-US" sz="1100" dirty="0"/>
          </a:p>
        </p:txBody>
      </p:sp>
      <p:sp>
        <p:nvSpPr>
          <p:cNvPr id="60" name="Shape 52"/>
          <p:cNvSpPr/>
          <p:nvPr/>
        </p:nvSpPr>
        <p:spPr>
          <a:xfrm>
            <a:off x="457200" y="5230368"/>
            <a:ext cx="237744" cy="237744"/>
          </a:xfrm>
          <a:prstGeom prst="ellipse">
            <a:avLst/>
          </a:prstGeom>
          <a:solidFill>
            <a:srgbClr val="016FD0"/>
          </a:solidFill>
          <a:ln w="6350">
            <a:solidFill>
              <a:srgbClr val="016FD0"/>
            </a:solidFill>
            <a:prstDash val="solid"/>
          </a:ln>
        </p:spPr>
      </p:sp>
      <p:sp>
        <p:nvSpPr>
          <p:cNvPr id="61" name="Text 53"/>
          <p:cNvSpPr txBox="1"/>
          <p:nvPr/>
        </p:nvSpPr>
        <p:spPr>
          <a:xfrm>
            <a:off x="457200" y="5244084"/>
            <a:ext cx="237744"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62" name="Text 54"/>
          <p:cNvSpPr txBox="1"/>
          <p:nvPr/>
        </p:nvSpPr>
        <p:spPr>
          <a:xfrm>
            <a:off x="786384" y="5193792"/>
            <a:ext cx="3182112" cy="384048"/>
          </a:xfrm>
          <a:prstGeom prst="rect">
            <a:avLst/>
          </a:prstGeom>
          <a:noFill/>
          <a:ln/>
        </p:spPr>
        <p:txBody>
          <a:bodyPr wrap="square" lIns="0" tIns="0" rIns="0" bIns="0" rtlCol="0" anchor="ctr"/>
          <a:lstStyle/>
          <a:p>
            <a:pPr indent="0" marL="0">
              <a:buNone/>
            </a:pPr>
            <a:r>
              <a:rPr lang="en-US" sz="1050" dirty="0">
                <a:solidFill>
                  <a:srgbClr val="1A2233"/>
                </a:solidFill>
                <a:latin typeface="Arial" pitchFamily="34" charset="0"/>
                <a:ea typeface="Arial" pitchFamily="34" charset="-122"/>
                <a:cs typeface="Arial" pitchFamily="34" charset="-120"/>
              </a:rPr>
              <a:t>Read what the team already produces.</a:t>
            </a:r>
            <a:endParaRPr lang="en-US" sz="1050" dirty="0"/>
          </a:p>
        </p:txBody>
      </p:sp>
      <p:sp>
        <p:nvSpPr>
          <p:cNvPr id="63" name="Shape 55"/>
          <p:cNvSpPr/>
          <p:nvPr/>
        </p:nvSpPr>
        <p:spPr>
          <a:xfrm>
            <a:off x="4334256" y="5230368"/>
            <a:ext cx="237744" cy="237744"/>
          </a:xfrm>
          <a:prstGeom prst="ellipse">
            <a:avLst/>
          </a:prstGeom>
          <a:solidFill>
            <a:srgbClr val="016FD0"/>
          </a:solidFill>
          <a:ln w="6350">
            <a:solidFill>
              <a:srgbClr val="016FD0"/>
            </a:solidFill>
            <a:prstDash val="solid"/>
          </a:ln>
        </p:spPr>
      </p:sp>
      <p:sp>
        <p:nvSpPr>
          <p:cNvPr id="64" name="Text 56"/>
          <p:cNvSpPr txBox="1"/>
          <p:nvPr/>
        </p:nvSpPr>
        <p:spPr>
          <a:xfrm>
            <a:off x="4334256" y="5244084"/>
            <a:ext cx="237744"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65" name="Text 57"/>
          <p:cNvSpPr txBox="1"/>
          <p:nvPr/>
        </p:nvSpPr>
        <p:spPr>
          <a:xfrm>
            <a:off x="4663440" y="5193792"/>
            <a:ext cx="3182112" cy="384048"/>
          </a:xfrm>
          <a:prstGeom prst="rect">
            <a:avLst/>
          </a:prstGeom>
          <a:noFill/>
          <a:ln/>
        </p:spPr>
        <p:txBody>
          <a:bodyPr wrap="square" lIns="0" tIns="0" rIns="0" bIns="0" rtlCol="0" anchor="ctr"/>
          <a:lstStyle/>
          <a:p>
            <a:pPr indent="0" marL="0">
              <a:buNone/>
            </a:pPr>
            <a:r>
              <a:rPr lang="en-US" sz="1050" dirty="0">
                <a:solidFill>
                  <a:srgbClr val="1A2233"/>
                </a:solidFill>
                <a:latin typeface="Arial" pitchFamily="34" charset="0"/>
                <a:ea typeface="Arial" pitchFamily="34" charset="-122"/>
                <a:cs typeface="Arial" pitchFamily="34" charset="-120"/>
              </a:rPr>
              <a:t>Resolve identity, then extract meaning with its evidence.</a:t>
            </a:r>
            <a:endParaRPr lang="en-US" sz="1050" dirty="0"/>
          </a:p>
        </p:txBody>
      </p:sp>
      <p:sp>
        <p:nvSpPr>
          <p:cNvPr id="66" name="Shape 58"/>
          <p:cNvSpPr/>
          <p:nvPr/>
        </p:nvSpPr>
        <p:spPr>
          <a:xfrm>
            <a:off x="8211312" y="5230368"/>
            <a:ext cx="237744" cy="237744"/>
          </a:xfrm>
          <a:prstGeom prst="ellipse">
            <a:avLst/>
          </a:prstGeom>
          <a:solidFill>
            <a:srgbClr val="016FD0"/>
          </a:solidFill>
          <a:ln w="6350">
            <a:solidFill>
              <a:srgbClr val="016FD0"/>
            </a:solidFill>
            <a:prstDash val="solid"/>
          </a:ln>
        </p:spPr>
      </p:sp>
      <p:sp>
        <p:nvSpPr>
          <p:cNvPr id="67" name="Text 59"/>
          <p:cNvSpPr txBox="1"/>
          <p:nvPr/>
        </p:nvSpPr>
        <p:spPr>
          <a:xfrm>
            <a:off x="8211312" y="5244084"/>
            <a:ext cx="237744"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68" name="Text 60"/>
          <p:cNvSpPr txBox="1"/>
          <p:nvPr/>
        </p:nvSpPr>
        <p:spPr>
          <a:xfrm>
            <a:off x="8540496" y="5193792"/>
            <a:ext cx="3182112" cy="384048"/>
          </a:xfrm>
          <a:prstGeom prst="rect">
            <a:avLst/>
          </a:prstGeom>
          <a:noFill/>
          <a:ln/>
        </p:spPr>
        <p:txBody>
          <a:bodyPr wrap="square" lIns="0" tIns="0" rIns="0" bIns="0" rtlCol="0" anchor="ctr"/>
          <a:lstStyle/>
          <a:p>
            <a:pPr indent="0" marL="0">
              <a:buNone/>
            </a:pPr>
            <a:r>
              <a:rPr lang="en-US" sz="1050" dirty="0">
                <a:solidFill>
                  <a:srgbClr val="1A2233"/>
                </a:solidFill>
                <a:latin typeface="Arial" pitchFamily="34" charset="0"/>
                <a:ea typeface="Arial" pitchFamily="34" charset="-122"/>
                <a:cs typeface="Arial" pitchFamily="34" charset="-120"/>
              </a:rPr>
              <a:t>Compile as one unit; publish only if every check passes.</a:t>
            </a:r>
            <a:endParaRPr lang="en-US" sz="1050" dirty="0"/>
          </a:p>
        </p:txBody>
      </p:sp>
      <p:sp>
        <p:nvSpPr>
          <p:cNvPr id="69" name="Shape 61"/>
          <p:cNvSpPr/>
          <p:nvPr/>
        </p:nvSpPr>
        <p:spPr>
          <a:xfrm>
            <a:off x="457200" y="5797296"/>
            <a:ext cx="237744" cy="237744"/>
          </a:xfrm>
          <a:prstGeom prst="ellipse">
            <a:avLst/>
          </a:prstGeom>
          <a:solidFill>
            <a:srgbClr val="016FD0"/>
          </a:solidFill>
          <a:ln w="6350">
            <a:solidFill>
              <a:srgbClr val="016FD0"/>
            </a:solidFill>
            <a:prstDash val="solid"/>
          </a:ln>
        </p:spPr>
      </p:sp>
      <p:sp>
        <p:nvSpPr>
          <p:cNvPr id="70" name="Text 62"/>
          <p:cNvSpPr txBox="1"/>
          <p:nvPr/>
        </p:nvSpPr>
        <p:spPr>
          <a:xfrm>
            <a:off x="457200" y="5811012"/>
            <a:ext cx="237744"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71" name="Text 63"/>
          <p:cNvSpPr txBox="1"/>
          <p:nvPr/>
        </p:nvSpPr>
        <p:spPr>
          <a:xfrm>
            <a:off x="786384" y="5760720"/>
            <a:ext cx="3182112" cy="384048"/>
          </a:xfrm>
          <a:prstGeom prst="rect">
            <a:avLst/>
          </a:prstGeom>
          <a:noFill/>
          <a:ln/>
        </p:spPr>
        <p:txBody>
          <a:bodyPr wrap="square" lIns="0" tIns="0" rIns="0" bIns="0" rtlCol="0" anchor="ctr"/>
          <a:lstStyle/>
          <a:p>
            <a:pPr indent="0" marL="0">
              <a:buNone/>
            </a:pPr>
            <a:r>
              <a:rPr lang="en-US" sz="1050" dirty="0">
                <a:solidFill>
                  <a:srgbClr val="1A2233"/>
                </a:solidFill>
                <a:latin typeface="Arial" pitchFamily="34" charset="0"/>
                <a:ea typeface="Arial" pitchFamily="34" charset="-122"/>
                <a:cs typeface="Arial" pitchFamily="34" charset="-120"/>
              </a:rPr>
              <a:t>One versioned snapshot — the single thing everything reads.</a:t>
            </a:r>
            <a:endParaRPr lang="en-US" sz="1050" dirty="0"/>
          </a:p>
        </p:txBody>
      </p:sp>
      <p:sp>
        <p:nvSpPr>
          <p:cNvPr id="72" name="Shape 64"/>
          <p:cNvSpPr/>
          <p:nvPr/>
        </p:nvSpPr>
        <p:spPr>
          <a:xfrm>
            <a:off x="4334256" y="5797296"/>
            <a:ext cx="237744" cy="237744"/>
          </a:xfrm>
          <a:prstGeom prst="ellipse">
            <a:avLst/>
          </a:prstGeom>
          <a:solidFill>
            <a:srgbClr val="016FD0"/>
          </a:solidFill>
          <a:ln w="6350">
            <a:solidFill>
              <a:srgbClr val="016FD0"/>
            </a:solidFill>
            <a:prstDash val="solid"/>
          </a:ln>
        </p:spPr>
      </p:sp>
      <p:sp>
        <p:nvSpPr>
          <p:cNvPr id="73" name="Text 65"/>
          <p:cNvSpPr txBox="1"/>
          <p:nvPr/>
        </p:nvSpPr>
        <p:spPr>
          <a:xfrm>
            <a:off x="4334256" y="5811012"/>
            <a:ext cx="237744"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74" name="Text 66"/>
          <p:cNvSpPr txBox="1"/>
          <p:nvPr/>
        </p:nvSpPr>
        <p:spPr>
          <a:xfrm>
            <a:off x="4663440" y="5760720"/>
            <a:ext cx="3182112" cy="384048"/>
          </a:xfrm>
          <a:prstGeom prst="rect">
            <a:avLst/>
          </a:prstGeom>
          <a:noFill/>
          <a:ln/>
        </p:spPr>
        <p:txBody>
          <a:bodyPr wrap="square" lIns="0" tIns="0" rIns="0" bIns="0" rtlCol="0" anchor="ctr"/>
          <a:lstStyle/>
          <a:p>
            <a:pPr indent="0" marL="0">
              <a:buNone/>
            </a:pPr>
            <a:r>
              <a:rPr lang="en-US" sz="1050" dirty="0">
                <a:solidFill>
                  <a:srgbClr val="1A2233"/>
                </a:solidFill>
                <a:latin typeface="Arial" pitchFamily="34" charset="0"/>
                <a:ea typeface="Arial" pitchFamily="34" charset="-122"/>
                <a:cs typeface="Arial" pitchFamily="34" charset="-120"/>
              </a:rPr>
              <a:t>Gemini answers through the harness, never from free recall.</a:t>
            </a:r>
            <a:endParaRPr lang="en-US" sz="1050" dirty="0"/>
          </a:p>
        </p:txBody>
      </p:sp>
      <p:sp>
        <p:nvSpPr>
          <p:cNvPr id="75" name="Shape 67"/>
          <p:cNvSpPr/>
          <p:nvPr/>
        </p:nvSpPr>
        <p:spPr>
          <a:xfrm>
            <a:off x="8211312" y="5797296"/>
            <a:ext cx="237744" cy="237744"/>
          </a:xfrm>
          <a:prstGeom prst="ellipse">
            <a:avLst/>
          </a:prstGeom>
          <a:solidFill>
            <a:srgbClr val="016FD0"/>
          </a:solidFill>
          <a:ln w="6350">
            <a:solidFill>
              <a:srgbClr val="016FD0"/>
            </a:solidFill>
            <a:prstDash val="solid"/>
          </a:ln>
        </p:spPr>
      </p:sp>
      <p:sp>
        <p:nvSpPr>
          <p:cNvPr id="76" name="Text 68"/>
          <p:cNvSpPr txBox="1"/>
          <p:nvPr/>
        </p:nvSpPr>
        <p:spPr>
          <a:xfrm>
            <a:off x="8211312" y="5811012"/>
            <a:ext cx="237744"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77" name="Text 69"/>
          <p:cNvSpPr txBox="1"/>
          <p:nvPr/>
        </p:nvSpPr>
        <p:spPr>
          <a:xfrm>
            <a:off x="8540496" y="5760720"/>
            <a:ext cx="3182112" cy="384048"/>
          </a:xfrm>
          <a:prstGeom prst="rect">
            <a:avLst/>
          </a:prstGeom>
          <a:noFill/>
          <a:ln/>
        </p:spPr>
        <p:txBody>
          <a:bodyPr wrap="square" lIns="0" tIns="0" rIns="0" bIns="0" rtlCol="0" anchor="ctr"/>
          <a:lstStyle/>
          <a:p>
            <a:pPr indent="0" marL="0">
              <a:buNone/>
            </a:pPr>
            <a:r>
              <a:rPr lang="en-US" sz="1050" dirty="0">
                <a:solidFill>
                  <a:srgbClr val="1A2233"/>
                </a:solidFill>
                <a:latin typeface="Arial" pitchFamily="34" charset="0"/>
                <a:ea typeface="Arial" pitchFamily="34" charset="-122"/>
                <a:cs typeface="Arial" pitchFamily="34" charset="-120"/>
              </a:rPr>
              <a:t>People ask, explore and steward. Numbers carry definitions.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84048"/>
            <a:ext cx="9509760" cy="237744"/>
          </a:xfrm>
          <a:prstGeom prst="rect">
            <a:avLst/>
          </a:prstGeom>
          <a:noFill/>
          <a:ln/>
        </p:spPr>
        <p:txBody>
          <a:bodyPr wrap="square" lIns="0" tIns="0" rIns="0" bIns="0" rtlCol="0" anchor="ctr"/>
          <a:lstStyle/>
          <a:p>
            <a:pPr indent="0" marL="0">
              <a:buNone/>
            </a:pPr>
            <a:r>
              <a:rPr lang="en-US" sz="1050" b="1" spc="90" kern="0" dirty="0">
                <a:solidFill>
                  <a:srgbClr val="016FD0"/>
                </a:solidFill>
                <a:latin typeface="Arial" pitchFamily="34" charset="0"/>
                <a:ea typeface="Arial" pitchFamily="34" charset="-122"/>
                <a:cs typeface="Arial" pitchFamily="34" charset="-120"/>
              </a:rPr>
              <a:t>WHY YOU CAN TRUST IT</a:t>
            </a:r>
            <a:endParaRPr lang="en-US" sz="1050" dirty="0"/>
          </a:p>
        </p:txBody>
      </p:sp>
      <p:sp>
        <p:nvSpPr>
          <p:cNvPr id="3" name="Text 1"/>
          <p:cNvSpPr txBox="1"/>
          <p:nvPr/>
        </p:nvSpPr>
        <p:spPr>
          <a:xfrm>
            <a:off x="457200" y="658368"/>
            <a:ext cx="9509760" cy="548640"/>
          </a:xfrm>
          <a:prstGeom prst="rect">
            <a:avLst/>
          </a:prstGeom>
          <a:noFill/>
          <a:ln/>
        </p:spPr>
        <p:txBody>
          <a:bodyPr wrap="square" lIns="0" tIns="0" rIns="0" bIns="0" rtlCol="0" anchor="ctr"/>
          <a:lstStyle/>
          <a:p>
            <a:pPr indent="0" marL="0">
              <a:buNone/>
            </a:pPr>
            <a:r>
              <a:rPr lang="en-US" sz="2700" b="1" dirty="0">
                <a:solidFill>
                  <a:srgbClr val="002663"/>
                </a:solidFill>
                <a:latin typeface="Arial" pitchFamily="34" charset="0"/>
                <a:ea typeface="Arial" pitchFamily="34" charset="-122"/>
                <a:cs typeface="Arial" pitchFamily="34" charset="-120"/>
              </a:rPr>
              <a:t>It would rather say nothing than guess</a:t>
            </a:r>
            <a:endParaRPr lang="en-US" sz="2700" dirty="0"/>
          </a:p>
        </p:txBody>
      </p:sp>
      <p:sp>
        <p:nvSpPr>
          <p:cNvPr id="4" name="Text 2"/>
          <p:cNvSpPr txBox="1"/>
          <p:nvPr/>
        </p:nvSpPr>
        <p:spPr>
          <a:xfrm>
            <a:off x="457200" y="1243584"/>
            <a:ext cx="10424160" cy="365760"/>
          </a:xfrm>
          <a:prstGeom prst="rect">
            <a:avLst/>
          </a:prstGeom>
          <a:noFill/>
          <a:ln/>
        </p:spPr>
        <p:txBody>
          <a:bodyPr wrap="square" lIns="0" tIns="0" rIns="0" bIns="0" rtlCol="0" anchor="ctr"/>
          <a:lstStyle/>
          <a:p>
            <a:pPr indent="0" marL="0">
              <a:buNone/>
            </a:pPr>
            <a:r>
              <a:rPr lang="en-US" sz="1350" dirty="0">
                <a:solidFill>
                  <a:srgbClr val="1A2233"/>
                </a:solidFill>
                <a:latin typeface="Arial" pitchFamily="34" charset="0"/>
                <a:ea typeface="Arial" pitchFamily="34" charset="-122"/>
                <a:cs typeface="Arial" pitchFamily="34" charset="-120"/>
              </a:rPr>
              <a:t>Three things it will not do. Each one is a reason to believe the answers it does give.</a:t>
            </a:r>
            <a:endParaRPr lang="en-US" sz="1350" dirty="0"/>
          </a:p>
        </p:txBody>
      </p:sp>
      <p:sp>
        <p:nvSpPr>
          <p:cNvPr id="5" name="Shape 3"/>
          <p:cNvSpPr/>
          <p:nvPr/>
        </p:nvSpPr>
        <p:spPr>
          <a:xfrm>
            <a:off x="457200" y="1874520"/>
            <a:ext cx="3520440" cy="3145536"/>
          </a:xfrm>
          <a:prstGeom prst="roundRect">
            <a:avLst>
              <a:gd name="adj" fmla="val 1744"/>
            </a:avLst>
          </a:prstGeom>
          <a:solidFill>
            <a:srgbClr val="FFFFFF"/>
          </a:solidFill>
          <a:ln w="20320">
            <a:solidFill>
              <a:srgbClr val="016FD0"/>
            </a:solidFill>
            <a:prstDash val="solid"/>
          </a:ln>
          <a:effectLst>
            <a:outerShdw sx="100000" sy="100000" kx="0" ky="0" algn="bl" rotWithShape="0" blurRad="114300" dist="25400" dir="5400000">
              <a:srgbClr val="7E8B9E">
                <a:alpha val="18000"/>
              </a:srgbClr>
            </a:outerShdw>
          </a:effectLst>
        </p:spPr>
      </p:sp>
      <p:sp>
        <p:nvSpPr>
          <p:cNvPr id="6" name="Shape 4"/>
          <p:cNvSpPr/>
          <p:nvPr/>
        </p:nvSpPr>
        <p:spPr>
          <a:xfrm>
            <a:off x="713232" y="2066544"/>
            <a:ext cx="512064" cy="512064"/>
          </a:xfrm>
          <a:prstGeom prst="ellipse">
            <a:avLst/>
          </a:prstGeom>
          <a:solidFill>
            <a:srgbClr val="DCE7F7"/>
          </a:solidFill>
          <a:ln w="12700">
            <a:solidFill>
              <a:srgbClr val="C9D8F0"/>
            </a:solidFill>
            <a:prstDash val="solid"/>
          </a:ln>
        </p:spPr>
      </p:sp>
      <p:pic>
        <p:nvPicPr>
          <p:cNvPr id="7" name="Image 0" descr="icons/help-blue.png">    </p:cNvPr>
          <p:cNvPicPr>
            <a:picLocks noChangeAspect="1"/>
          </p:cNvPicPr>
          <p:nvPr/>
        </p:nvPicPr>
        <p:blipFill>
          <a:blip r:embed="rId1"/>
          <a:stretch>
            <a:fillRect/>
          </a:stretch>
        </p:blipFill>
        <p:spPr>
          <a:xfrm>
            <a:off x="846369" y="2199681"/>
            <a:ext cx="245791" cy="245791"/>
          </a:xfrm>
          <a:prstGeom prst="rect">
            <a:avLst/>
          </a:prstGeom>
        </p:spPr>
      </p:pic>
      <p:sp>
        <p:nvSpPr>
          <p:cNvPr id="8" name="Text 5"/>
          <p:cNvSpPr txBox="1"/>
          <p:nvPr/>
        </p:nvSpPr>
        <p:spPr>
          <a:xfrm>
            <a:off x="713232" y="2706624"/>
            <a:ext cx="3008376" cy="713232"/>
          </a:xfrm>
          <a:prstGeom prst="rect">
            <a:avLst/>
          </a:prstGeom>
          <a:noFill/>
          <a:ln/>
        </p:spPr>
        <p:txBody>
          <a:bodyPr wrap="square" lIns="0" tIns="0" rIns="0" bIns="0" rtlCol="0" anchor="ctr"/>
          <a:lstStyle/>
          <a:p>
            <a:pPr indent="0" marL="0">
              <a:lnSpc>
                <a:spcPct val="110000"/>
              </a:lnSpc>
              <a:buNone/>
            </a:pPr>
            <a:r>
              <a:rPr lang="en-US" sz="1700" b="1" dirty="0">
                <a:solidFill>
                  <a:srgbClr val="002663"/>
                </a:solidFill>
                <a:latin typeface="Arial" pitchFamily="34" charset="0"/>
                <a:ea typeface="Arial" pitchFamily="34" charset="-122"/>
                <a:cs typeface="Arial" pitchFamily="34" charset="-120"/>
              </a:rPr>
              <a:t>“Nobody has agreed this one yet.”</a:t>
            </a:r>
            <a:endParaRPr lang="en-US" sz="1700" dirty="0"/>
          </a:p>
        </p:txBody>
      </p:sp>
      <p:sp>
        <p:nvSpPr>
          <p:cNvPr id="9" name="Text 6"/>
          <p:cNvSpPr txBox="1"/>
          <p:nvPr/>
        </p:nvSpPr>
        <p:spPr>
          <a:xfrm>
            <a:off x="713232" y="3529584"/>
            <a:ext cx="3008376" cy="1316736"/>
          </a:xfrm>
          <a:prstGeom prst="rect">
            <a:avLst/>
          </a:prstGeom>
          <a:noFill/>
          <a:ln/>
        </p:spPr>
        <p:txBody>
          <a:bodyPr wrap="square" lIns="0" tIns="0" rIns="0" bIns="0" rtlCol="0" anchor="ctr"/>
          <a:lstStyle/>
          <a:p>
            <a:pPr indent="0" marL="0">
              <a:lnSpc>
                <a:spcPct val="112000"/>
              </a:lnSpc>
              <a:spcAft>
                <a:spcPts val="900"/>
              </a:spcAft>
              <a:buNone/>
            </a:pPr>
            <a:r>
              <a:rPr lang="en-US" sz="1200" dirty="0">
                <a:solidFill>
                  <a:srgbClr val="1A2233"/>
                </a:solidFill>
                <a:latin typeface="Arial" pitchFamily="34" charset="0"/>
                <a:ea typeface="Arial" pitchFamily="34" charset="-122"/>
                <a:cs typeface="Arial" pitchFamily="34" charset="-120"/>
              </a:rPr>
              <a:t>No certified definition exists for this metric, so it will not hand you a number as though one did.</a:t>
            </a:r>
            <a:endParaRPr lang="en-US" sz="1200" dirty="0"/>
          </a:p>
          <a:p>
            <a:pPr indent="0" marL="0">
              <a:lnSpc>
                <a:spcPct val="112000"/>
              </a:lnSpc>
              <a:spcAft>
                <a:spcPts val="900"/>
              </a:spcAft>
              <a:buNone/>
            </a:pPr>
            <a:r>
              <a:rPr lang="en-US" sz="1200" dirty="0">
                <a:solidFill>
                  <a:srgbClr val="1A2233"/>
                </a:solidFill>
                <a:latin typeface="Arial" pitchFamily="34" charset="0"/>
                <a:ea typeface="Arial" pitchFamily="34" charset="-122"/>
                <a:cs typeface="Arial" pitchFamily="34" charset="-120"/>
              </a:rPr>
              <a:t>It shows you what it found and who would need to sign it.</a:t>
            </a:r>
            <a:endParaRPr lang="en-US" sz="1200" dirty="0"/>
          </a:p>
        </p:txBody>
      </p:sp>
      <p:sp>
        <p:nvSpPr>
          <p:cNvPr id="10" name="Text 7"/>
          <p:cNvSpPr txBox="1"/>
          <p:nvPr/>
        </p:nvSpPr>
        <p:spPr>
          <a:xfrm>
            <a:off x="713232" y="4645152"/>
            <a:ext cx="3008376" cy="274320"/>
          </a:xfrm>
          <a:prstGeom prst="rect">
            <a:avLst/>
          </a:prstGeom>
          <a:noFill/>
          <a:ln/>
        </p:spPr>
        <p:txBody>
          <a:bodyPr wrap="square" lIns="0" tIns="0" rIns="0" bIns="0" rtlCol="0" anchor="ctr"/>
          <a:lstStyle/>
          <a:p>
            <a:pPr indent="0" marL="0">
              <a:buNone/>
            </a:pPr>
            <a:r>
              <a:rPr lang="en-US" sz="1000" i="1" dirty="0">
                <a:solidFill>
                  <a:srgbClr val="5A6472"/>
                </a:solidFill>
                <a:latin typeface="Arial" pitchFamily="34" charset="0"/>
                <a:ea typeface="Arial" pitchFamily="34" charset="-122"/>
                <a:cs typeface="Arial" pitchFamily="34" charset="-120"/>
              </a:rPr>
              <a:t>a gap, stated</a:t>
            </a:r>
            <a:endParaRPr lang="en-US" sz="1000" dirty="0"/>
          </a:p>
        </p:txBody>
      </p:sp>
      <p:sp>
        <p:nvSpPr>
          <p:cNvPr id="11" name="Shape 8"/>
          <p:cNvSpPr/>
          <p:nvPr/>
        </p:nvSpPr>
        <p:spPr>
          <a:xfrm>
            <a:off x="4219956" y="1874520"/>
            <a:ext cx="3520440" cy="3145536"/>
          </a:xfrm>
          <a:prstGeom prst="roundRect">
            <a:avLst>
              <a:gd name="adj" fmla="val 1744"/>
            </a:avLst>
          </a:prstGeom>
          <a:solidFill>
            <a:srgbClr val="FFFFFF"/>
          </a:solidFill>
          <a:ln w="20320">
            <a:solidFill>
              <a:srgbClr val="016FD0"/>
            </a:solidFill>
            <a:prstDash val="solid"/>
          </a:ln>
          <a:effectLst>
            <a:outerShdw sx="100000" sy="100000" kx="0" ky="0" algn="bl" rotWithShape="0" blurRad="114300" dist="25400" dir="5400000">
              <a:srgbClr val="7E8B9E">
                <a:alpha val="18000"/>
              </a:srgbClr>
            </a:outerShdw>
          </a:effectLst>
        </p:spPr>
      </p:sp>
      <p:sp>
        <p:nvSpPr>
          <p:cNvPr id="12" name="Shape 9"/>
          <p:cNvSpPr/>
          <p:nvPr/>
        </p:nvSpPr>
        <p:spPr>
          <a:xfrm>
            <a:off x="4475988" y="2066544"/>
            <a:ext cx="512064" cy="512064"/>
          </a:xfrm>
          <a:prstGeom prst="ellipse">
            <a:avLst/>
          </a:prstGeom>
          <a:solidFill>
            <a:srgbClr val="DCE7F7"/>
          </a:solidFill>
          <a:ln w="12700">
            <a:solidFill>
              <a:srgbClr val="C9D8F0"/>
            </a:solidFill>
            <a:prstDash val="solid"/>
          </a:ln>
        </p:spPr>
      </p:sp>
      <p:pic>
        <p:nvPicPr>
          <p:cNvPr id="13" name="Image 1" descr="icons/block-blue.png">    </p:cNvPr>
          <p:cNvPicPr>
            <a:picLocks noChangeAspect="1"/>
          </p:cNvPicPr>
          <p:nvPr/>
        </p:nvPicPr>
        <p:blipFill>
          <a:blip r:embed="rId2"/>
          <a:stretch>
            <a:fillRect/>
          </a:stretch>
        </p:blipFill>
        <p:spPr>
          <a:xfrm>
            <a:off x="4609125" y="2199681"/>
            <a:ext cx="245791" cy="245791"/>
          </a:xfrm>
          <a:prstGeom prst="rect">
            <a:avLst/>
          </a:prstGeom>
        </p:spPr>
      </p:pic>
      <p:sp>
        <p:nvSpPr>
          <p:cNvPr id="14" name="Text 10"/>
          <p:cNvSpPr txBox="1"/>
          <p:nvPr/>
        </p:nvSpPr>
        <p:spPr>
          <a:xfrm>
            <a:off x="4475988" y="2706624"/>
            <a:ext cx="3008376" cy="713232"/>
          </a:xfrm>
          <a:prstGeom prst="rect">
            <a:avLst/>
          </a:prstGeom>
          <a:noFill/>
          <a:ln/>
        </p:spPr>
        <p:txBody>
          <a:bodyPr wrap="square" lIns="0" tIns="0" rIns="0" bIns="0" rtlCol="0" anchor="ctr"/>
          <a:lstStyle/>
          <a:p>
            <a:pPr indent="0" marL="0">
              <a:lnSpc>
                <a:spcPct val="110000"/>
              </a:lnSpc>
              <a:buNone/>
            </a:pPr>
            <a:r>
              <a:rPr lang="en-US" sz="1700" b="1" dirty="0">
                <a:solidFill>
                  <a:srgbClr val="002663"/>
                </a:solidFill>
                <a:latin typeface="Arial" pitchFamily="34" charset="0"/>
                <a:ea typeface="Arial" pitchFamily="34" charset="-122"/>
                <a:cs typeface="Arial" pitchFamily="34" charset="-120"/>
              </a:rPr>
              <a:t>“That is outside the snapshot.”</a:t>
            </a:r>
            <a:endParaRPr lang="en-US" sz="1700" dirty="0"/>
          </a:p>
        </p:txBody>
      </p:sp>
      <p:sp>
        <p:nvSpPr>
          <p:cNvPr id="15" name="Text 11"/>
          <p:cNvSpPr txBox="1"/>
          <p:nvPr/>
        </p:nvSpPr>
        <p:spPr>
          <a:xfrm>
            <a:off x="4475988" y="3529584"/>
            <a:ext cx="3008376" cy="1316736"/>
          </a:xfrm>
          <a:prstGeom prst="rect">
            <a:avLst/>
          </a:prstGeom>
          <a:noFill/>
          <a:ln/>
        </p:spPr>
        <p:txBody>
          <a:bodyPr wrap="square" lIns="0" tIns="0" rIns="0" bIns="0" rtlCol="0" anchor="ctr"/>
          <a:lstStyle/>
          <a:p>
            <a:pPr indent="0" marL="0">
              <a:lnSpc>
                <a:spcPct val="112000"/>
              </a:lnSpc>
              <a:spcAft>
                <a:spcPts val="900"/>
              </a:spcAft>
              <a:buNone/>
            </a:pPr>
            <a:r>
              <a:rPr lang="en-US" sz="1200" dirty="0">
                <a:solidFill>
                  <a:srgbClr val="1A2233"/>
                </a:solidFill>
                <a:latin typeface="Arial" pitchFamily="34" charset="0"/>
                <a:ea typeface="Arial" pitchFamily="34" charset="-122"/>
                <a:cs typeface="Arial" pitchFamily="34" charset="-120"/>
              </a:rPr>
              <a:t>If something is not in the compiled picture, it does not get answered from the model's memory.</a:t>
            </a:r>
            <a:endParaRPr lang="en-US" sz="1200" dirty="0"/>
          </a:p>
          <a:p>
            <a:pPr indent="0" marL="0">
              <a:lnSpc>
                <a:spcPct val="112000"/>
              </a:lnSpc>
              <a:spcAft>
                <a:spcPts val="900"/>
              </a:spcAft>
              <a:buNone/>
            </a:pPr>
            <a:r>
              <a:rPr lang="en-US" sz="1200" dirty="0">
                <a:solidFill>
                  <a:srgbClr val="1A2233"/>
                </a:solidFill>
                <a:latin typeface="Arial" pitchFamily="34" charset="0"/>
                <a:ea typeface="Arial" pitchFamily="34" charset="-122"/>
                <a:cs typeface="Arial" pitchFamily="34" charset="-120"/>
              </a:rPr>
              <a:t>No plausible-sounding invention, ever.</a:t>
            </a:r>
            <a:endParaRPr lang="en-US" sz="1200" dirty="0"/>
          </a:p>
        </p:txBody>
      </p:sp>
      <p:sp>
        <p:nvSpPr>
          <p:cNvPr id="16" name="Text 12"/>
          <p:cNvSpPr txBox="1"/>
          <p:nvPr/>
        </p:nvSpPr>
        <p:spPr>
          <a:xfrm>
            <a:off x="4475988" y="4645152"/>
            <a:ext cx="3008376" cy="274320"/>
          </a:xfrm>
          <a:prstGeom prst="rect">
            <a:avLst/>
          </a:prstGeom>
          <a:noFill/>
          <a:ln/>
        </p:spPr>
        <p:txBody>
          <a:bodyPr wrap="square" lIns="0" tIns="0" rIns="0" bIns="0" rtlCol="0" anchor="ctr"/>
          <a:lstStyle/>
          <a:p>
            <a:pPr indent="0" marL="0">
              <a:buNone/>
            </a:pPr>
            <a:r>
              <a:rPr lang="en-US" sz="1000" i="1" dirty="0">
                <a:solidFill>
                  <a:srgbClr val="5A6472"/>
                </a:solidFill>
                <a:latin typeface="Arial" pitchFamily="34" charset="0"/>
                <a:ea typeface="Arial" pitchFamily="34" charset="-122"/>
                <a:cs typeface="Arial" pitchFamily="34" charset="-120"/>
              </a:rPr>
              <a:t>no answers from nowhere</a:t>
            </a:r>
            <a:endParaRPr lang="en-US" sz="1000" dirty="0"/>
          </a:p>
        </p:txBody>
      </p:sp>
      <p:sp>
        <p:nvSpPr>
          <p:cNvPr id="17" name="Shape 13"/>
          <p:cNvSpPr/>
          <p:nvPr/>
        </p:nvSpPr>
        <p:spPr>
          <a:xfrm>
            <a:off x="7982712" y="1874520"/>
            <a:ext cx="3520440" cy="3145536"/>
          </a:xfrm>
          <a:prstGeom prst="roundRect">
            <a:avLst>
              <a:gd name="adj" fmla="val 1744"/>
            </a:avLst>
          </a:prstGeom>
          <a:solidFill>
            <a:srgbClr val="FFFFFF"/>
          </a:solidFill>
          <a:ln w="20320">
            <a:solidFill>
              <a:srgbClr val="016FD0"/>
            </a:solidFill>
            <a:prstDash val="solid"/>
          </a:ln>
          <a:effectLst>
            <a:outerShdw sx="100000" sy="100000" kx="0" ky="0" algn="bl" rotWithShape="0" blurRad="114300" dist="25400" dir="5400000">
              <a:srgbClr val="7E8B9E">
                <a:alpha val="18000"/>
              </a:srgbClr>
            </a:outerShdw>
          </a:effectLst>
        </p:spPr>
      </p:sp>
      <p:sp>
        <p:nvSpPr>
          <p:cNvPr id="18" name="Shape 14"/>
          <p:cNvSpPr/>
          <p:nvPr/>
        </p:nvSpPr>
        <p:spPr>
          <a:xfrm>
            <a:off x="8238744" y="2066544"/>
            <a:ext cx="512064" cy="512064"/>
          </a:xfrm>
          <a:prstGeom prst="ellipse">
            <a:avLst/>
          </a:prstGeom>
          <a:solidFill>
            <a:srgbClr val="DCE7F7"/>
          </a:solidFill>
          <a:ln w="12700">
            <a:solidFill>
              <a:srgbClr val="C9D8F0"/>
            </a:solidFill>
            <a:prstDash val="solid"/>
          </a:ln>
        </p:spPr>
      </p:sp>
      <p:pic>
        <p:nvPicPr>
          <p:cNvPr id="19" name="Image 2" descr="icons/science-blue.png">    </p:cNvPr>
          <p:cNvPicPr>
            <a:picLocks noChangeAspect="1"/>
          </p:cNvPicPr>
          <p:nvPr/>
        </p:nvPicPr>
        <p:blipFill>
          <a:blip r:embed="rId3"/>
          <a:stretch>
            <a:fillRect/>
          </a:stretch>
        </p:blipFill>
        <p:spPr>
          <a:xfrm>
            <a:off x="8371881" y="2199681"/>
            <a:ext cx="245791" cy="245791"/>
          </a:xfrm>
          <a:prstGeom prst="rect">
            <a:avLst/>
          </a:prstGeom>
        </p:spPr>
      </p:pic>
      <p:sp>
        <p:nvSpPr>
          <p:cNvPr id="20" name="Text 15"/>
          <p:cNvSpPr txBox="1"/>
          <p:nvPr/>
        </p:nvSpPr>
        <p:spPr>
          <a:xfrm>
            <a:off x="8238744" y="2706624"/>
            <a:ext cx="3008376" cy="713232"/>
          </a:xfrm>
          <a:prstGeom prst="rect">
            <a:avLst/>
          </a:prstGeom>
          <a:noFill/>
          <a:ln/>
        </p:spPr>
        <p:txBody>
          <a:bodyPr wrap="square" lIns="0" tIns="0" rIns="0" bIns="0" rtlCol="0" anchor="ctr"/>
          <a:lstStyle/>
          <a:p>
            <a:pPr indent="0" marL="0">
              <a:lnSpc>
                <a:spcPct val="110000"/>
              </a:lnSpc>
              <a:buNone/>
            </a:pPr>
            <a:r>
              <a:rPr lang="en-US" sz="1700" b="1" dirty="0">
                <a:solidFill>
                  <a:srgbClr val="002663"/>
                </a:solidFill>
                <a:latin typeface="Arial" pitchFamily="34" charset="0"/>
                <a:ea typeface="Arial" pitchFamily="34" charset="-122"/>
                <a:cs typeface="Arial" pitchFamily="34" charset="-120"/>
              </a:rPr>
              <a:t>“This one is still exploratory.”</a:t>
            </a:r>
            <a:endParaRPr lang="en-US" sz="1700" dirty="0"/>
          </a:p>
        </p:txBody>
      </p:sp>
      <p:sp>
        <p:nvSpPr>
          <p:cNvPr id="21" name="Text 16"/>
          <p:cNvSpPr txBox="1"/>
          <p:nvPr/>
        </p:nvSpPr>
        <p:spPr>
          <a:xfrm>
            <a:off x="8238744" y="3529584"/>
            <a:ext cx="3008376" cy="1316736"/>
          </a:xfrm>
          <a:prstGeom prst="rect">
            <a:avLst/>
          </a:prstGeom>
          <a:noFill/>
          <a:ln/>
        </p:spPr>
        <p:txBody>
          <a:bodyPr wrap="square" lIns="0" tIns="0" rIns="0" bIns="0" rtlCol="0" anchor="ctr"/>
          <a:lstStyle/>
          <a:p>
            <a:pPr indent="0" marL="0">
              <a:lnSpc>
                <a:spcPct val="112000"/>
              </a:lnSpc>
              <a:spcAft>
                <a:spcPts val="900"/>
              </a:spcAft>
              <a:buNone/>
            </a:pPr>
            <a:r>
              <a:rPr lang="en-US" sz="1200" dirty="0">
                <a:solidFill>
                  <a:srgbClr val="1A2233"/>
                </a:solidFill>
                <a:latin typeface="Arial" pitchFamily="34" charset="0"/>
                <a:ea typeface="Arial" pitchFamily="34" charset="-122"/>
                <a:cs typeface="Arial" pitchFamily="34" charset="-120"/>
              </a:rPr>
              <a:t>A figure it assembled from parts carries that mark until a check clears it.</a:t>
            </a:r>
            <a:endParaRPr lang="en-US" sz="1200" dirty="0"/>
          </a:p>
          <a:p>
            <a:pPr indent="0" marL="0">
              <a:lnSpc>
                <a:spcPct val="112000"/>
              </a:lnSpc>
              <a:spcAft>
                <a:spcPts val="900"/>
              </a:spcAft>
              <a:buNone/>
            </a:pPr>
            <a:r>
              <a:rPr lang="en-US" sz="1200" dirty="0">
                <a:solidFill>
                  <a:srgbClr val="1A2233"/>
                </a:solidFill>
                <a:latin typeface="Arial" pitchFamily="34" charset="0"/>
                <a:ea typeface="Arial" pitchFamily="34" charset="-122"/>
                <a:cs typeface="Arial" pitchFamily="34" charset="-120"/>
              </a:rPr>
              <a:t>You always know which kind of number you are looking at.</a:t>
            </a:r>
            <a:endParaRPr lang="en-US" sz="1200" dirty="0"/>
          </a:p>
        </p:txBody>
      </p:sp>
      <p:sp>
        <p:nvSpPr>
          <p:cNvPr id="22" name="Text 17"/>
          <p:cNvSpPr txBox="1"/>
          <p:nvPr/>
        </p:nvSpPr>
        <p:spPr>
          <a:xfrm>
            <a:off x="8238744" y="4645152"/>
            <a:ext cx="3008376" cy="274320"/>
          </a:xfrm>
          <a:prstGeom prst="rect">
            <a:avLst/>
          </a:prstGeom>
          <a:noFill/>
          <a:ln/>
        </p:spPr>
        <p:txBody>
          <a:bodyPr wrap="square" lIns="0" tIns="0" rIns="0" bIns="0" rtlCol="0" anchor="ctr"/>
          <a:lstStyle/>
          <a:p>
            <a:pPr indent="0" marL="0">
              <a:buNone/>
            </a:pPr>
            <a:r>
              <a:rPr lang="en-US" sz="1000" i="1" dirty="0">
                <a:solidFill>
                  <a:srgbClr val="5A6472"/>
                </a:solidFill>
                <a:latin typeface="Arial" pitchFamily="34" charset="0"/>
                <a:ea typeface="Arial" pitchFamily="34" charset="-122"/>
                <a:cs typeface="Arial" pitchFamily="34" charset="-120"/>
              </a:rPr>
              <a:t>marked until proven</a:t>
            </a:r>
            <a:endParaRPr lang="en-US" sz="1000" dirty="0"/>
          </a:p>
        </p:txBody>
      </p:sp>
      <p:sp>
        <p:nvSpPr>
          <p:cNvPr id="23" name="Text 18"/>
          <p:cNvSpPr txBox="1"/>
          <p:nvPr/>
        </p:nvSpPr>
        <p:spPr>
          <a:xfrm>
            <a:off x="457200" y="5376672"/>
            <a:ext cx="10881360" cy="457200"/>
          </a:xfrm>
          <a:prstGeom prst="rect">
            <a:avLst/>
          </a:prstGeom>
          <a:noFill/>
          <a:ln/>
        </p:spPr>
        <p:txBody>
          <a:bodyPr wrap="square" lIns="0" tIns="0" rIns="0" bIns="0" rtlCol="0" anchor="ctr"/>
          <a:lstStyle/>
          <a:p>
            <a:pPr indent="0" marL="0">
              <a:buNone/>
            </a:pPr>
            <a:r>
              <a:rPr lang="en-US" sz="1600" dirty="0">
                <a:solidFill>
                  <a:srgbClr val="5A6472"/>
                </a:solidFill>
                <a:latin typeface="Arial" pitchFamily="34" charset="0"/>
                <a:ea typeface="Arial" pitchFamily="34" charset="-122"/>
                <a:cs typeface="Arial" pitchFamily="34" charset="-120"/>
              </a:rPr>
              <a:t>Anyone can build something that always answers. </a:t>
            </a:r>
            <a:pPr indent="0" marL="0">
              <a:buNone/>
            </a:pPr>
            <a:r>
              <a:rPr lang="en-US" sz="1600" b="1" dirty="0">
                <a:solidFill>
                  <a:srgbClr val="002663"/>
                </a:solidFill>
                <a:latin typeface="Arial" pitchFamily="34" charset="0"/>
                <a:ea typeface="Arial" pitchFamily="34" charset="-122"/>
                <a:cs typeface="Arial" pitchFamily="34" charset="-120"/>
              </a:rPr>
              <a:t>A system that will admit a gap is the only kind you can act on without checking.</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84048"/>
            <a:ext cx="9509760" cy="237744"/>
          </a:xfrm>
          <a:prstGeom prst="rect">
            <a:avLst/>
          </a:prstGeom>
          <a:noFill/>
          <a:ln/>
        </p:spPr>
        <p:txBody>
          <a:bodyPr wrap="square" lIns="0" tIns="0" rIns="0" bIns="0" rtlCol="0" anchor="ctr"/>
          <a:lstStyle/>
          <a:p>
            <a:pPr indent="0" marL="0">
              <a:buNone/>
            </a:pPr>
            <a:r>
              <a:rPr lang="en-US" sz="1050" b="1" spc="90" kern="0" dirty="0">
                <a:solidFill>
                  <a:srgbClr val="016FD0"/>
                </a:solidFill>
                <a:latin typeface="Arial" pitchFamily="34" charset="0"/>
                <a:ea typeface="Arial" pitchFamily="34" charset="-122"/>
                <a:cs typeface="Arial" pitchFamily="34" charset="-120"/>
              </a:rPr>
              <a:t>WHAT CHANGES FOR YOU</a:t>
            </a:r>
            <a:endParaRPr lang="en-US" sz="1050" dirty="0"/>
          </a:p>
        </p:txBody>
      </p:sp>
      <p:sp>
        <p:nvSpPr>
          <p:cNvPr id="3" name="Text 1"/>
          <p:cNvSpPr txBox="1"/>
          <p:nvPr/>
        </p:nvSpPr>
        <p:spPr>
          <a:xfrm>
            <a:off x="457200" y="658368"/>
            <a:ext cx="9509760" cy="548640"/>
          </a:xfrm>
          <a:prstGeom prst="rect">
            <a:avLst/>
          </a:prstGeom>
          <a:noFill/>
          <a:ln/>
        </p:spPr>
        <p:txBody>
          <a:bodyPr wrap="square" lIns="0" tIns="0" rIns="0" bIns="0" rtlCol="0" anchor="ctr"/>
          <a:lstStyle/>
          <a:p>
            <a:pPr indent="0" marL="0">
              <a:buNone/>
            </a:pPr>
            <a:r>
              <a:rPr lang="en-US" sz="2700" b="1" dirty="0">
                <a:solidFill>
                  <a:srgbClr val="002663"/>
                </a:solidFill>
                <a:latin typeface="Arial" pitchFamily="34" charset="0"/>
                <a:ea typeface="Arial" pitchFamily="34" charset="-122"/>
                <a:cs typeface="Arial" pitchFamily="34" charset="-120"/>
              </a:rPr>
              <a:t>Four people, the same Monday</a:t>
            </a:r>
            <a:endParaRPr lang="en-US" sz="2700" dirty="0"/>
          </a:p>
        </p:txBody>
      </p:sp>
      <p:sp>
        <p:nvSpPr>
          <p:cNvPr id="4" name="Text 2"/>
          <p:cNvSpPr txBox="1"/>
          <p:nvPr/>
        </p:nvSpPr>
        <p:spPr>
          <a:xfrm>
            <a:off x="457200" y="1243584"/>
            <a:ext cx="10424160" cy="365760"/>
          </a:xfrm>
          <a:prstGeom prst="rect">
            <a:avLst/>
          </a:prstGeom>
          <a:noFill/>
          <a:ln/>
        </p:spPr>
        <p:txBody>
          <a:bodyPr wrap="square" lIns="0" tIns="0" rIns="0" bIns="0" rtlCol="0" anchor="ctr"/>
          <a:lstStyle/>
          <a:p>
            <a:pPr indent="0" marL="0">
              <a:buNone/>
            </a:pPr>
            <a:r>
              <a:rPr lang="en-US" sz="1350" dirty="0">
                <a:solidFill>
                  <a:srgbClr val="1A2233"/>
                </a:solidFill>
                <a:latin typeface="Arial" pitchFamily="34" charset="0"/>
                <a:ea typeface="Arial" pitchFamily="34" charset="-122"/>
                <a:cs typeface="Arial" pitchFamily="34" charset="-120"/>
              </a:rPr>
              <a:t>Nothing here needs a new tool on anybody's desk, or a new process to follow.</a:t>
            </a:r>
            <a:endParaRPr lang="en-US" sz="1350" dirty="0"/>
          </a:p>
        </p:txBody>
      </p:sp>
      <p:sp>
        <p:nvSpPr>
          <p:cNvPr id="5" name="Shape 3"/>
          <p:cNvSpPr/>
          <p:nvPr/>
        </p:nvSpPr>
        <p:spPr>
          <a:xfrm>
            <a:off x="457200" y="1920240"/>
            <a:ext cx="11274552" cy="731520"/>
          </a:xfrm>
          <a:prstGeom prst="roundRect">
            <a:avLst>
              <a:gd name="adj" fmla="val 7500"/>
            </a:avLst>
          </a:prstGeom>
          <a:solidFill>
            <a:srgbClr val="F7F9FB"/>
          </a:solidFill>
          <a:ln w="12700">
            <a:solidFill>
              <a:srgbClr val="DDE3EA"/>
            </a:solidFill>
            <a:prstDash val="solid"/>
          </a:ln>
          <a:effectLst>
            <a:outerShdw sx="100000" sy="100000" kx="0" ky="0" algn="bl" rotWithShape="0" blurRad="114300" dist="25400" dir="5400000">
              <a:srgbClr val="7E8B9E">
                <a:alpha val="18000"/>
              </a:srgbClr>
            </a:outerShdw>
          </a:effectLst>
        </p:spPr>
      </p:sp>
      <p:sp>
        <p:nvSpPr>
          <p:cNvPr id="6" name="Shape 4"/>
          <p:cNvSpPr/>
          <p:nvPr/>
        </p:nvSpPr>
        <p:spPr>
          <a:xfrm>
            <a:off x="713232" y="2066544"/>
            <a:ext cx="438912" cy="438912"/>
          </a:xfrm>
          <a:prstGeom prst="ellipse">
            <a:avLst/>
          </a:prstGeom>
          <a:solidFill>
            <a:srgbClr val="DCE7F7"/>
          </a:solidFill>
          <a:ln w="12700">
            <a:solidFill>
              <a:srgbClr val="C9D8F0"/>
            </a:solidFill>
            <a:prstDash val="solid"/>
          </a:ln>
        </p:spPr>
      </p:sp>
      <p:pic>
        <p:nvPicPr>
          <p:cNvPr id="7" name="Image 0" descr="icons/analyst-blue.png">    </p:cNvPr>
          <p:cNvPicPr>
            <a:picLocks noChangeAspect="1"/>
          </p:cNvPicPr>
          <p:nvPr/>
        </p:nvPicPr>
        <p:blipFill>
          <a:blip r:embed="rId1"/>
          <a:stretch>
            <a:fillRect/>
          </a:stretch>
        </p:blipFill>
        <p:spPr>
          <a:xfrm>
            <a:off x="827349" y="2180661"/>
            <a:ext cx="210678" cy="210678"/>
          </a:xfrm>
          <a:prstGeom prst="rect">
            <a:avLst/>
          </a:prstGeom>
        </p:spPr>
      </p:pic>
      <p:sp>
        <p:nvSpPr>
          <p:cNvPr id="8" name="Text 5"/>
          <p:cNvSpPr txBox="1"/>
          <p:nvPr/>
        </p:nvSpPr>
        <p:spPr>
          <a:xfrm>
            <a:off x="1298448" y="1956816"/>
            <a:ext cx="1737360" cy="658368"/>
          </a:xfrm>
          <a:prstGeom prst="rect">
            <a:avLst/>
          </a:prstGeom>
          <a:noFill/>
          <a:ln/>
        </p:spPr>
        <p:txBody>
          <a:bodyPr wrap="square" lIns="0" tIns="0" rIns="0" bIns="0" rtlCol="0" anchor="ctr"/>
          <a:lstStyle/>
          <a:p>
            <a:pPr indent="0" marL="0">
              <a:buNone/>
            </a:pPr>
            <a:r>
              <a:rPr lang="en-US" sz="1350" b="1" dirty="0">
                <a:solidFill>
                  <a:srgbClr val="002663"/>
                </a:solidFill>
                <a:latin typeface="Arial" pitchFamily="34" charset="0"/>
                <a:ea typeface="Arial" pitchFamily="34" charset="-122"/>
                <a:cs typeface="Arial" pitchFamily="34" charset="-120"/>
              </a:rPr>
              <a:t>The analyst</a:t>
            </a:r>
            <a:endParaRPr lang="en-US" sz="1350" dirty="0"/>
          </a:p>
        </p:txBody>
      </p:sp>
      <p:sp>
        <p:nvSpPr>
          <p:cNvPr id="9" name="Text 6"/>
          <p:cNvSpPr txBox="1"/>
          <p:nvPr/>
        </p:nvSpPr>
        <p:spPr>
          <a:xfrm>
            <a:off x="3108960" y="1956816"/>
            <a:ext cx="3657600" cy="658368"/>
          </a:xfrm>
          <a:prstGeom prst="rect">
            <a:avLst/>
          </a:prstGeom>
          <a:noFill/>
          <a:ln/>
        </p:spPr>
        <p:txBody>
          <a:bodyPr wrap="square" lIns="0" tIns="0" rIns="0" bIns="0" rtlCol="0" anchor="ctr"/>
          <a:lstStyle/>
          <a:p>
            <a:pPr indent="0" marL="0">
              <a:buNone/>
            </a:pPr>
            <a:r>
              <a:rPr lang="en-US" sz="1200" dirty="0">
                <a:solidFill>
                  <a:srgbClr val="5A6472"/>
                </a:solidFill>
                <a:latin typeface="Arial" pitchFamily="34" charset="0"/>
                <a:ea typeface="Arial" pitchFamily="34" charset="-122"/>
                <a:cs typeface="Arial" pitchFamily="34" charset="-120"/>
              </a:rPr>
              <a:t>rebuilds the same query for the fifth time</a:t>
            </a:r>
            <a:endParaRPr lang="en-US" sz="1200" dirty="0"/>
          </a:p>
        </p:txBody>
      </p:sp>
      <p:sp>
        <p:nvSpPr>
          <p:cNvPr id="10" name="Shape 7"/>
          <p:cNvSpPr/>
          <p:nvPr/>
        </p:nvSpPr>
        <p:spPr>
          <a:xfrm>
            <a:off x="6876288" y="2208276"/>
            <a:ext cx="384048" cy="155448"/>
          </a:xfrm>
          <a:prstGeom prst="rightArrow">
            <a:avLst/>
          </a:prstGeom>
          <a:solidFill>
            <a:srgbClr val="016FD0"/>
          </a:solidFill>
          <a:ln w="6350">
            <a:solidFill>
              <a:srgbClr val="016FD0"/>
            </a:solidFill>
            <a:prstDash val="solid"/>
          </a:ln>
        </p:spPr>
      </p:sp>
      <p:sp>
        <p:nvSpPr>
          <p:cNvPr id="11" name="Text 8"/>
          <p:cNvSpPr txBox="1"/>
          <p:nvPr/>
        </p:nvSpPr>
        <p:spPr>
          <a:xfrm>
            <a:off x="7498080" y="1956816"/>
            <a:ext cx="3931920" cy="658368"/>
          </a:xfrm>
          <a:prstGeom prst="rect">
            <a:avLst/>
          </a:prstGeom>
          <a:noFill/>
          <a:ln/>
        </p:spPr>
        <p:txBody>
          <a:bodyPr wrap="square" lIns="0" tIns="0" rIns="0" bIns="0" rtlCol="0" anchor="ctr"/>
          <a:lstStyle/>
          <a:p>
            <a:pPr indent="0" marL="0">
              <a:buNone/>
            </a:pPr>
            <a:r>
              <a:rPr lang="en-US" sz="1200" b="1" dirty="0">
                <a:solidFill>
                  <a:srgbClr val="1A2233"/>
                </a:solidFill>
                <a:latin typeface="Arial" pitchFamily="34" charset="0"/>
                <a:ea typeface="Arial" pitchFamily="34" charset="-122"/>
                <a:cs typeface="Arial" pitchFamily="34" charset="-120"/>
              </a:rPr>
              <a:t>starts from the definition everyone already agreed</a:t>
            </a:r>
            <a:endParaRPr lang="en-US" sz="1200" dirty="0"/>
          </a:p>
        </p:txBody>
      </p:sp>
      <p:sp>
        <p:nvSpPr>
          <p:cNvPr id="12" name="Shape 9"/>
          <p:cNvSpPr/>
          <p:nvPr/>
        </p:nvSpPr>
        <p:spPr>
          <a:xfrm>
            <a:off x="457200" y="2788920"/>
            <a:ext cx="11274552" cy="731520"/>
          </a:xfrm>
          <a:prstGeom prst="roundRect">
            <a:avLst>
              <a:gd name="adj" fmla="val 7500"/>
            </a:avLst>
          </a:prstGeom>
          <a:solidFill>
            <a:srgbClr val="FFFFFF"/>
          </a:solidFill>
          <a:ln w="12700">
            <a:solidFill>
              <a:srgbClr val="DDE3EA"/>
            </a:solidFill>
            <a:prstDash val="solid"/>
          </a:ln>
          <a:effectLst>
            <a:outerShdw sx="100000" sy="100000" kx="0" ky="0" algn="bl" rotWithShape="0" blurRad="114300" dist="25400" dir="5400000">
              <a:srgbClr val="7E8B9E">
                <a:alpha val="18000"/>
              </a:srgbClr>
            </a:outerShdw>
          </a:effectLst>
        </p:spPr>
      </p:sp>
      <p:sp>
        <p:nvSpPr>
          <p:cNvPr id="13" name="Shape 10"/>
          <p:cNvSpPr/>
          <p:nvPr/>
        </p:nvSpPr>
        <p:spPr>
          <a:xfrm>
            <a:off x="713232" y="2935224"/>
            <a:ext cx="438912" cy="438912"/>
          </a:xfrm>
          <a:prstGeom prst="ellipse">
            <a:avLst/>
          </a:prstGeom>
          <a:solidFill>
            <a:srgbClr val="DCE7F7"/>
          </a:solidFill>
          <a:ln w="12700">
            <a:solidFill>
              <a:srgbClr val="C9D8F0"/>
            </a:solidFill>
            <a:prstDash val="solid"/>
          </a:ln>
        </p:spPr>
      </p:sp>
      <p:pic>
        <p:nvPicPr>
          <p:cNvPr id="14" name="Image 1" descr="icons/leader-blue.png">    </p:cNvPr>
          <p:cNvPicPr>
            <a:picLocks noChangeAspect="1"/>
          </p:cNvPicPr>
          <p:nvPr/>
        </p:nvPicPr>
        <p:blipFill>
          <a:blip r:embed="rId2"/>
          <a:stretch>
            <a:fillRect/>
          </a:stretch>
        </p:blipFill>
        <p:spPr>
          <a:xfrm>
            <a:off x="827349" y="3049341"/>
            <a:ext cx="210678" cy="210678"/>
          </a:xfrm>
          <a:prstGeom prst="rect">
            <a:avLst/>
          </a:prstGeom>
        </p:spPr>
      </p:pic>
      <p:sp>
        <p:nvSpPr>
          <p:cNvPr id="15" name="Text 11"/>
          <p:cNvSpPr txBox="1"/>
          <p:nvPr/>
        </p:nvSpPr>
        <p:spPr>
          <a:xfrm>
            <a:off x="1298448" y="2825496"/>
            <a:ext cx="1737360" cy="658368"/>
          </a:xfrm>
          <a:prstGeom prst="rect">
            <a:avLst/>
          </a:prstGeom>
          <a:noFill/>
          <a:ln/>
        </p:spPr>
        <p:txBody>
          <a:bodyPr wrap="square" lIns="0" tIns="0" rIns="0" bIns="0" rtlCol="0" anchor="ctr"/>
          <a:lstStyle/>
          <a:p>
            <a:pPr indent="0" marL="0">
              <a:buNone/>
            </a:pPr>
            <a:r>
              <a:rPr lang="en-US" sz="1350" b="1" dirty="0">
                <a:solidFill>
                  <a:srgbClr val="002663"/>
                </a:solidFill>
                <a:latin typeface="Arial" pitchFamily="34" charset="0"/>
                <a:ea typeface="Arial" pitchFamily="34" charset="-122"/>
                <a:cs typeface="Arial" pitchFamily="34" charset="-120"/>
              </a:rPr>
              <a:t>The leader</a:t>
            </a:r>
            <a:endParaRPr lang="en-US" sz="1350" dirty="0"/>
          </a:p>
        </p:txBody>
      </p:sp>
      <p:sp>
        <p:nvSpPr>
          <p:cNvPr id="16" name="Text 12"/>
          <p:cNvSpPr txBox="1"/>
          <p:nvPr/>
        </p:nvSpPr>
        <p:spPr>
          <a:xfrm>
            <a:off x="3108960" y="2825496"/>
            <a:ext cx="3657600" cy="658368"/>
          </a:xfrm>
          <a:prstGeom prst="rect">
            <a:avLst/>
          </a:prstGeom>
          <a:noFill/>
          <a:ln/>
        </p:spPr>
        <p:txBody>
          <a:bodyPr wrap="square" lIns="0" tIns="0" rIns="0" bIns="0" rtlCol="0" anchor="ctr"/>
          <a:lstStyle/>
          <a:p>
            <a:pPr indent="0" marL="0">
              <a:buNone/>
            </a:pPr>
            <a:r>
              <a:rPr lang="en-US" sz="1200" dirty="0">
                <a:solidFill>
                  <a:srgbClr val="5A6472"/>
                </a:solidFill>
                <a:latin typeface="Arial" pitchFamily="34" charset="0"/>
                <a:ea typeface="Arial" pitchFamily="34" charset="-122"/>
                <a:cs typeface="Arial" pitchFamily="34" charset="-120"/>
              </a:rPr>
              <a:t>reconciles two decks before the meeting</a:t>
            </a:r>
            <a:endParaRPr lang="en-US" sz="1200" dirty="0"/>
          </a:p>
        </p:txBody>
      </p:sp>
      <p:sp>
        <p:nvSpPr>
          <p:cNvPr id="17" name="Shape 13"/>
          <p:cNvSpPr/>
          <p:nvPr/>
        </p:nvSpPr>
        <p:spPr>
          <a:xfrm>
            <a:off x="6876288" y="3076956"/>
            <a:ext cx="384048" cy="155448"/>
          </a:xfrm>
          <a:prstGeom prst="rightArrow">
            <a:avLst/>
          </a:prstGeom>
          <a:solidFill>
            <a:srgbClr val="016FD0"/>
          </a:solidFill>
          <a:ln w="6350">
            <a:solidFill>
              <a:srgbClr val="016FD0"/>
            </a:solidFill>
            <a:prstDash val="solid"/>
          </a:ln>
        </p:spPr>
      </p:sp>
      <p:sp>
        <p:nvSpPr>
          <p:cNvPr id="18" name="Text 14"/>
          <p:cNvSpPr txBox="1"/>
          <p:nvPr/>
        </p:nvSpPr>
        <p:spPr>
          <a:xfrm>
            <a:off x="7498080" y="2825496"/>
            <a:ext cx="3931920" cy="658368"/>
          </a:xfrm>
          <a:prstGeom prst="rect">
            <a:avLst/>
          </a:prstGeom>
          <a:noFill/>
          <a:ln/>
        </p:spPr>
        <p:txBody>
          <a:bodyPr wrap="square" lIns="0" tIns="0" rIns="0" bIns="0" rtlCol="0" anchor="ctr"/>
          <a:lstStyle/>
          <a:p>
            <a:pPr indent="0" marL="0">
              <a:buNone/>
            </a:pPr>
            <a:r>
              <a:rPr lang="en-US" sz="1200" b="1" dirty="0">
                <a:solidFill>
                  <a:srgbClr val="1A2233"/>
                </a:solidFill>
                <a:latin typeface="Arial" pitchFamily="34" charset="0"/>
                <a:ea typeface="Arial" pitchFamily="34" charset="-122"/>
                <a:cs typeface="Arial" pitchFamily="34" charset="-120"/>
              </a:rPr>
              <a:t>reads one number with its source attached</a:t>
            </a:r>
            <a:endParaRPr lang="en-US" sz="1200" dirty="0"/>
          </a:p>
        </p:txBody>
      </p:sp>
      <p:sp>
        <p:nvSpPr>
          <p:cNvPr id="19" name="Shape 15"/>
          <p:cNvSpPr/>
          <p:nvPr/>
        </p:nvSpPr>
        <p:spPr>
          <a:xfrm>
            <a:off x="457200" y="3657600"/>
            <a:ext cx="11274552" cy="731520"/>
          </a:xfrm>
          <a:prstGeom prst="roundRect">
            <a:avLst>
              <a:gd name="adj" fmla="val 7500"/>
            </a:avLst>
          </a:prstGeom>
          <a:solidFill>
            <a:srgbClr val="F7F9FB"/>
          </a:solidFill>
          <a:ln w="12700">
            <a:solidFill>
              <a:srgbClr val="DDE3EA"/>
            </a:solidFill>
            <a:prstDash val="solid"/>
          </a:ln>
          <a:effectLst>
            <a:outerShdw sx="100000" sy="100000" kx="0" ky="0" algn="bl" rotWithShape="0" blurRad="114300" dist="25400" dir="5400000">
              <a:srgbClr val="7E8B9E">
                <a:alpha val="18000"/>
              </a:srgbClr>
            </a:outerShdw>
          </a:effectLst>
        </p:spPr>
      </p:sp>
      <p:sp>
        <p:nvSpPr>
          <p:cNvPr id="20" name="Shape 16"/>
          <p:cNvSpPr/>
          <p:nvPr/>
        </p:nvSpPr>
        <p:spPr>
          <a:xfrm>
            <a:off x="713232" y="3803904"/>
            <a:ext cx="438912" cy="438912"/>
          </a:xfrm>
          <a:prstGeom prst="ellipse">
            <a:avLst/>
          </a:prstGeom>
          <a:solidFill>
            <a:srgbClr val="DCE7F7"/>
          </a:solidFill>
          <a:ln w="12700">
            <a:solidFill>
              <a:srgbClr val="C9D8F0"/>
            </a:solidFill>
            <a:prstDash val="solid"/>
          </a:ln>
        </p:spPr>
      </p:sp>
      <p:pic>
        <p:nvPicPr>
          <p:cNvPr id="21" name="Image 2" descr="icons/newcomer-blue.png">    </p:cNvPr>
          <p:cNvPicPr>
            <a:picLocks noChangeAspect="1"/>
          </p:cNvPicPr>
          <p:nvPr/>
        </p:nvPicPr>
        <p:blipFill>
          <a:blip r:embed="rId3"/>
          <a:stretch>
            <a:fillRect/>
          </a:stretch>
        </p:blipFill>
        <p:spPr>
          <a:xfrm>
            <a:off x="827349" y="3918021"/>
            <a:ext cx="210678" cy="210678"/>
          </a:xfrm>
          <a:prstGeom prst="rect">
            <a:avLst/>
          </a:prstGeom>
        </p:spPr>
      </p:pic>
      <p:sp>
        <p:nvSpPr>
          <p:cNvPr id="22" name="Text 17"/>
          <p:cNvSpPr txBox="1"/>
          <p:nvPr/>
        </p:nvSpPr>
        <p:spPr>
          <a:xfrm>
            <a:off x="1298448" y="3694176"/>
            <a:ext cx="1737360" cy="658368"/>
          </a:xfrm>
          <a:prstGeom prst="rect">
            <a:avLst/>
          </a:prstGeom>
          <a:noFill/>
          <a:ln/>
        </p:spPr>
        <p:txBody>
          <a:bodyPr wrap="square" lIns="0" tIns="0" rIns="0" bIns="0" rtlCol="0" anchor="ctr"/>
          <a:lstStyle/>
          <a:p>
            <a:pPr indent="0" marL="0">
              <a:buNone/>
            </a:pPr>
            <a:r>
              <a:rPr lang="en-US" sz="1350" b="1" dirty="0">
                <a:solidFill>
                  <a:srgbClr val="002663"/>
                </a:solidFill>
                <a:latin typeface="Arial" pitchFamily="34" charset="0"/>
                <a:ea typeface="Arial" pitchFamily="34" charset="-122"/>
                <a:cs typeface="Arial" pitchFamily="34" charset="-120"/>
              </a:rPr>
              <a:t>The newcomer</a:t>
            </a:r>
            <a:endParaRPr lang="en-US" sz="1350" dirty="0"/>
          </a:p>
        </p:txBody>
      </p:sp>
      <p:sp>
        <p:nvSpPr>
          <p:cNvPr id="23" name="Text 18"/>
          <p:cNvSpPr txBox="1"/>
          <p:nvPr/>
        </p:nvSpPr>
        <p:spPr>
          <a:xfrm>
            <a:off x="3108960" y="3694176"/>
            <a:ext cx="3657600" cy="658368"/>
          </a:xfrm>
          <a:prstGeom prst="rect">
            <a:avLst/>
          </a:prstGeom>
          <a:noFill/>
          <a:ln/>
        </p:spPr>
        <p:txBody>
          <a:bodyPr wrap="square" lIns="0" tIns="0" rIns="0" bIns="0" rtlCol="0" anchor="ctr"/>
          <a:lstStyle/>
          <a:p>
            <a:pPr indent="0" marL="0">
              <a:buNone/>
            </a:pPr>
            <a:r>
              <a:rPr lang="en-US" sz="1200" dirty="0">
                <a:solidFill>
                  <a:srgbClr val="5A6472"/>
                </a:solidFill>
                <a:latin typeface="Arial" pitchFamily="34" charset="0"/>
                <a:ea typeface="Arial" pitchFamily="34" charset="-122"/>
                <a:cs typeface="Arial" pitchFamily="34" charset="-120"/>
              </a:rPr>
              <a:t>asks three people what a term means</a:t>
            </a:r>
            <a:endParaRPr lang="en-US" sz="1200" dirty="0"/>
          </a:p>
        </p:txBody>
      </p:sp>
      <p:sp>
        <p:nvSpPr>
          <p:cNvPr id="24" name="Shape 19"/>
          <p:cNvSpPr/>
          <p:nvPr/>
        </p:nvSpPr>
        <p:spPr>
          <a:xfrm>
            <a:off x="6876288" y="3945636"/>
            <a:ext cx="384048" cy="155448"/>
          </a:xfrm>
          <a:prstGeom prst="rightArrow">
            <a:avLst/>
          </a:prstGeom>
          <a:solidFill>
            <a:srgbClr val="016FD0"/>
          </a:solidFill>
          <a:ln w="6350">
            <a:solidFill>
              <a:srgbClr val="016FD0"/>
            </a:solidFill>
            <a:prstDash val="solid"/>
          </a:ln>
        </p:spPr>
      </p:sp>
      <p:sp>
        <p:nvSpPr>
          <p:cNvPr id="25" name="Text 20"/>
          <p:cNvSpPr txBox="1"/>
          <p:nvPr/>
        </p:nvSpPr>
        <p:spPr>
          <a:xfrm>
            <a:off x="7498080" y="3694176"/>
            <a:ext cx="3931920" cy="658368"/>
          </a:xfrm>
          <a:prstGeom prst="rect">
            <a:avLst/>
          </a:prstGeom>
          <a:noFill/>
          <a:ln/>
        </p:spPr>
        <p:txBody>
          <a:bodyPr wrap="square" lIns="0" tIns="0" rIns="0" bIns="0" rtlCol="0" anchor="ctr"/>
          <a:lstStyle/>
          <a:p>
            <a:pPr indent="0" marL="0">
              <a:buNone/>
            </a:pPr>
            <a:r>
              <a:rPr lang="en-US" sz="1200" b="1" dirty="0">
                <a:solidFill>
                  <a:srgbClr val="1A2233"/>
                </a:solidFill>
                <a:latin typeface="Arial" pitchFamily="34" charset="0"/>
                <a:ea typeface="Arial" pitchFamily="34" charset="-122"/>
                <a:cs typeface="Arial" pitchFamily="34" charset="-120"/>
              </a:rPr>
              <a:t>finds what the business means on day one</a:t>
            </a:r>
            <a:endParaRPr lang="en-US" sz="1200" dirty="0"/>
          </a:p>
        </p:txBody>
      </p:sp>
      <p:sp>
        <p:nvSpPr>
          <p:cNvPr id="26" name="Shape 21"/>
          <p:cNvSpPr/>
          <p:nvPr/>
        </p:nvSpPr>
        <p:spPr>
          <a:xfrm>
            <a:off x="457200" y="4526280"/>
            <a:ext cx="11274552" cy="731520"/>
          </a:xfrm>
          <a:prstGeom prst="roundRect">
            <a:avLst>
              <a:gd name="adj" fmla="val 7500"/>
            </a:avLst>
          </a:prstGeom>
          <a:solidFill>
            <a:srgbClr val="FFFFFF"/>
          </a:solidFill>
          <a:ln w="12700">
            <a:solidFill>
              <a:srgbClr val="DDE3EA"/>
            </a:solidFill>
            <a:prstDash val="solid"/>
          </a:ln>
          <a:effectLst>
            <a:outerShdw sx="100000" sy="100000" kx="0" ky="0" algn="bl" rotWithShape="0" blurRad="114300" dist="25400" dir="5400000">
              <a:srgbClr val="7E8B9E">
                <a:alpha val="18000"/>
              </a:srgbClr>
            </a:outerShdw>
          </a:effectLst>
        </p:spPr>
      </p:sp>
      <p:sp>
        <p:nvSpPr>
          <p:cNvPr id="27" name="Shape 22"/>
          <p:cNvSpPr/>
          <p:nvPr/>
        </p:nvSpPr>
        <p:spPr>
          <a:xfrm>
            <a:off x="713232" y="4672584"/>
            <a:ext cx="438912" cy="438912"/>
          </a:xfrm>
          <a:prstGeom prst="ellipse">
            <a:avLst/>
          </a:prstGeom>
          <a:solidFill>
            <a:srgbClr val="DCE7F7"/>
          </a:solidFill>
          <a:ln w="12700">
            <a:solidFill>
              <a:srgbClr val="C9D8F0"/>
            </a:solidFill>
            <a:prstDash val="solid"/>
          </a:ln>
        </p:spPr>
      </p:sp>
      <p:pic>
        <p:nvPicPr>
          <p:cNvPr id="28" name="Image 3" descr="icons/steward-blue.png">    </p:cNvPr>
          <p:cNvPicPr>
            <a:picLocks noChangeAspect="1"/>
          </p:cNvPicPr>
          <p:nvPr/>
        </p:nvPicPr>
        <p:blipFill>
          <a:blip r:embed="rId4"/>
          <a:stretch>
            <a:fillRect/>
          </a:stretch>
        </p:blipFill>
        <p:spPr>
          <a:xfrm>
            <a:off x="827349" y="4786701"/>
            <a:ext cx="210678" cy="210678"/>
          </a:xfrm>
          <a:prstGeom prst="rect">
            <a:avLst/>
          </a:prstGeom>
        </p:spPr>
      </p:pic>
      <p:sp>
        <p:nvSpPr>
          <p:cNvPr id="29" name="Text 23"/>
          <p:cNvSpPr txBox="1"/>
          <p:nvPr/>
        </p:nvSpPr>
        <p:spPr>
          <a:xfrm>
            <a:off x="1298448" y="4562856"/>
            <a:ext cx="1737360" cy="658368"/>
          </a:xfrm>
          <a:prstGeom prst="rect">
            <a:avLst/>
          </a:prstGeom>
          <a:noFill/>
          <a:ln/>
        </p:spPr>
        <p:txBody>
          <a:bodyPr wrap="square" lIns="0" tIns="0" rIns="0" bIns="0" rtlCol="0" anchor="ctr"/>
          <a:lstStyle/>
          <a:p>
            <a:pPr indent="0" marL="0">
              <a:buNone/>
            </a:pPr>
            <a:r>
              <a:rPr lang="en-US" sz="1350" b="1" dirty="0">
                <a:solidFill>
                  <a:srgbClr val="002663"/>
                </a:solidFill>
                <a:latin typeface="Arial" pitchFamily="34" charset="0"/>
                <a:ea typeface="Arial" pitchFamily="34" charset="-122"/>
                <a:cs typeface="Arial" pitchFamily="34" charset="-120"/>
              </a:rPr>
              <a:t>The steward</a:t>
            </a:r>
            <a:endParaRPr lang="en-US" sz="1350" dirty="0"/>
          </a:p>
        </p:txBody>
      </p:sp>
      <p:sp>
        <p:nvSpPr>
          <p:cNvPr id="30" name="Text 24"/>
          <p:cNvSpPr txBox="1"/>
          <p:nvPr/>
        </p:nvSpPr>
        <p:spPr>
          <a:xfrm>
            <a:off x="3108960" y="4562856"/>
            <a:ext cx="3657600" cy="658368"/>
          </a:xfrm>
          <a:prstGeom prst="rect">
            <a:avLst/>
          </a:prstGeom>
          <a:noFill/>
          <a:ln/>
        </p:spPr>
        <p:txBody>
          <a:bodyPr wrap="square" lIns="0" tIns="0" rIns="0" bIns="0" rtlCol="0" anchor="ctr"/>
          <a:lstStyle/>
          <a:p>
            <a:pPr indent="0" marL="0">
              <a:buNone/>
            </a:pPr>
            <a:r>
              <a:rPr lang="en-US" sz="1200" dirty="0">
                <a:solidFill>
                  <a:srgbClr val="5A6472"/>
                </a:solidFill>
                <a:latin typeface="Arial" pitchFamily="34" charset="0"/>
                <a:ea typeface="Arial" pitchFamily="34" charset="-122"/>
                <a:cs typeface="Arial" pitchFamily="34" charset="-120"/>
              </a:rPr>
              <a:t>defends definitions in comment threads</a:t>
            </a:r>
            <a:endParaRPr lang="en-US" sz="1200" dirty="0"/>
          </a:p>
        </p:txBody>
      </p:sp>
      <p:sp>
        <p:nvSpPr>
          <p:cNvPr id="31" name="Shape 25"/>
          <p:cNvSpPr/>
          <p:nvPr/>
        </p:nvSpPr>
        <p:spPr>
          <a:xfrm>
            <a:off x="6876288" y="4814316"/>
            <a:ext cx="384048" cy="155448"/>
          </a:xfrm>
          <a:prstGeom prst="rightArrow">
            <a:avLst/>
          </a:prstGeom>
          <a:solidFill>
            <a:srgbClr val="016FD0"/>
          </a:solidFill>
          <a:ln w="6350">
            <a:solidFill>
              <a:srgbClr val="016FD0"/>
            </a:solidFill>
            <a:prstDash val="solid"/>
          </a:ln>
        </p:spPr>
      </p:sp>
      <p:sp>
        <p:nvSpPr>
          <p:cNvPr id="32" name="Text 26"/>
          <p:cNvSpPr txBox="1"/>
          <p:nvPr/>
        </p:nvSpPr>
        <p:spPr>
          <a:xfrm>
            <a:off x="7498080" y="4562856"/>
            <a:ext cx="3931920" cy="658368"/>
          </a:xfrm>
          <a:prstGeom prst="rect">
            <a:avLst/>
          </a:prstGeom>
          <a:noFill/>
          <a:ln/>
        </p:spPr>
        <p:txBody>
          <a:bodyPr wrap="square" lIns="0" tIns="0" rIns="0" bIns="0" rtlCol="0" anchor="ctr"/>
          <a:lstStyle/>
          <a:p>
            <a:pPr indent="0" marL="0">
              <a:buNone/>
            </a:pPr>
            <a:r>
              <a:rPr lang="en-US" sz="1200" b="1" dirty="0">
                <a:solidFill>
                  <a:srgbClr val="1A2233"/>
                </a:solidFill>
                <a:latin typeface="Arial" pitchFamily="34" charset="0"/>
                <a:ea typeface="Arial" pitchFamily="34" charset="-122"/>
                <a:cs typeface="Arial" pitchFamily="34" charset="-120"/>
              </a:rPr>
              <a:t>changes one, on the record, and everyone sees it</a:t>
            </a:r>
            <a:endParaRPr lang="en-US" sz="1200" dirty="0"/>
          </a:p>
        </p:txBody>
      </p:sp>
      <p:sp>
        <p:nvSpPr>
          <p:cNvPr id="33" name="Text 27"/>
          <p:cNvSpPr txBox="1"/>
          <p:nvPr/>
        </p:nvSpPr>
        <p:spPr>
          <a:xfrm>
            <a:off x="457200" y="5623560"/>
            <a:ext cx="10881360" cy="457200"/>
          </a:xfrm>
          <a:prstGeom prst="rect">
            <a:avLst/>
          </a:prstGeom>
          <a:noFill/>
          <a:ln/>
        </p:spPr>
        <p:txBody>
          <a:bodyPr wrap="square" lIns="0" tIns="0" rIns="0" bIns="0" rtlCol="0" anchor="ctr"/>
          <a:lstStyle/>
          <a:p>
            <a:pPr indent="0" marL="0">
              <a:buNone/>
            </a:pPr>
            <a:r>
              <a:rPr lang="en-US" sz="1600" dirty="0">
                <a:solidFill>
                  <a:srgbClr val="5A6472"/>
                </a:solidFill>
                <a:latin typeface="Arial" pitchFamily="34" charset="0"/>
                <a:ea typeface="Arial" pitchFamily="34" charset="-122"/>
                <a:cs typeface="Arial" pitchFamily="34" charset="-120"/>
              </a:rPr>
              <a:t>Same people, same questions, same Monday. </a:t>
            </a:r>
            <a:pPr indent="0" marL="0">
              <a:buNone/>
            </a:pPr>
            <a:r>
              <a:rPr lang="en-US" sz="1600" b="1" dirty="0">
                <a:solidFill>
                  <a:srgbClr val="002663"/>
                </a:solidFill>
                <a:latin typeface="Arial" pitchFamily="34" charset="0"/>
                <a:ea typeface="Arial" pitchFamily="34" charset="-122"/>
                <a:cs typeface="Arial" pitchFamily="34" charset="-120"/>
              </a:rPr>
              <a:t>What changes is that the answer arrives with its meaning attached.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2663"/>
        </a:solidFill>
      </p:bgPr>
    </p:bg>
    <p:spTree>
      <p:nvGrpSpPr>
        <p:cNvPr id="1" name=""/>
        <p:cNvGrpSpPr/>
        <p:nvPr/>
      </p:nvGrpSpPr>
      <p:grpSpPr>
        <a:xfrm>
          <a:off x="0" y="0"/>
          <a:ext cx="0" cy="0"/>
          <a:chOff x="0" y="0"/>
          <a:chExt cx="0" cy="0"/>
        </a:xfrm>
      </p:grpSpPr>
      <p:pic>
        <p:nvPicPr>
          <p:cNvPr id="2" name="Image 0" descr="glyphs/radixgraphW.png">    </p:cNvPr>
          <p:cNvPicPr>
            <a:picLocks noChangeAspect="1"/>
          </p:cNvPicPr>
          <p:nvPr/>
        </p:nvPicPr>
        <p:blipFill>
          <a:blip r:embed="rId1">
            <a:alphaModFix amt="9000"/>
          </a:blip>
          <a:stretch>
            <a:fillRect/>
          </a:stretch>
        </p:blipFill>
        <p:spPr>
          <a:xfrm>
            <a:off x="8869680" y="2148840"/>
            <a:ext cx="5120640" cy="5120640"/>
          </a:xfrm>
          <a:prstGeom prst="rect">
            <a:avLst/>
          </a:prstGeom>
        </p:spPr>
      </p:pic>
      <p:sp>
        <p:nvSpPr>
          <p:cNvPr id="3" name="Text 0"/>
          <p:cNvSpPr txBox="1"/>
          <p:nvPr/>
        </p:nvSpPr>
        <p:spPr>
          <a:xfrm>
            <a:off x="640080" y="713232"/>
            <a:ext cx="8229600" cy="274320"/>
          </a:xfrm>
          <a:prstGeom prst="rect">
            <a:avLst/>
          </a:prstGeom>
          <a:noFill/>
          <a:ln/>
        </p:spPr>
        <p:txBody>
          <a:bodyPr wrap="square" lIns="0" tIns="0" rIns="0" bIns="0" rtlCol="0" anchor="ctr"/>
          <a:lstStyle/>
          <a:p>
            <a:pPr indent="0" marL="0">
              <a:buNone/>
            </a:pPr>
            <a:r>
              <a:rPr lang="en-US" sz="1050" b="1" spc="110" kern="0" dirty="0">
                <a:solidFill>
                  <a:srgbClr val="8FC1FF"/>
                </a:solidFill>
                <a:latin typeface="Arial" pitchFamily="34" charset="0"/>
                <a:ea typeface="Arial" pitchFamily="34" charset="-122"/>
                <a:cs typeface="Arial" pitchFamily="34" charset="-120"/>
              </a:rPr>
              <a:t>WHERE IT STANDS</a:t>
            </a:r>
            <a:endParaRPr lang="en-US" sz="1050" dirty="0"/>
          </a:p>
        </p:txBody>
      </p:sp>
      <p:sp>
        <p:nvSpPr>
          <p:cNvPr id="4" name="Text 1"/>
          <p:cNvSpPr txBox="1"/>
          <p:nvPr/>
        </p:nvSpPr>
        <p:spPr>
          <a:xfrm>
            <a:off x="640080" y="1051560"/>
            <a:ext cx="10881360" cy="73152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Working today, on a real warehouse</a:t>
            </a:r>
            <a:endParaRPr lang="en-US" sz="3600" dirty="0"/>
          </a:p>
        </p:txBody>
      </p:sp>
      <p:sp>
        <p:nvSpPr>
          <p:cNvPr id="5" name="Text 2"/>
          <p:cNvSpPr txBox="1"/>
          <p:nvPr/>
        </p:nvSpPr>
        <p:spPr>
          <a:xfrm>
            <a:off x="640080" y="1828800"/>
            <a:ext cx="8686800" cy="320040"/>
          </a:xfrm>
          <a:prstGeom prst="rect">
            <a:avLst/>
          </a:prstGeom>
          <a:noFill/>
          <a:ln/>
        </p:spPr>
        <p:txBody>
          <a:bodyPr wrap="square" lIns="0" tIns="0" rIns="0" bIns="0" rtlCol="0" anchor="ctr"/>
          <a:lstStyle/>
          <a:p>
            <a:pPr indent="0" marL="0">
              <a:buNone/>
            </a:pPr>
            <a:r>
              <a:rPr lang="en-US" sz="1400" dirty="0">
                <a:solidFill>
                  <a:srgbClr val="8FB0E4"/>
                </a:solidFill>
                <a:latin typeface="Arial" pitchFamily="34" charset="0"/>
                <a:ea typeface="Arial" pitchFamily="34" charset="-122"/>
                <a:cs typeface="Arial" pitchFamily="34" charset="-120"/>
              </a:rPr>
              <a:t>Not a prototype, and not finished either. Here is the honest state of it.</a:t>
            </a:r>
            <a:endParaRPr lang="en-US" sz="1400" dirty="0"/>
          </a:p>
        </p:txBody>
      </p:sp>
      <p:sp>
        <p:nvSpPr>
          <p:cNvPr id="6" name="Shape 3"/>
          <p:cNvSpPr/>
          <p:nvPr/>
        </p:nvSpPr>
        <p:spPr>
          <a:xfrm>
            <a:off x="640080" y="2514600"/>
            <a:ext cx="3419856" cy="2395728"/>
          </a:xfrm>
          <a:prstGeom prst="roundRect">
            <a:avLst>
              <a:gd name="adj" fmla="val 3053"/>
            </a:avLst>
          </a:prstGeom>
          <a:solidFill>
            <a:srgbClr val="016FD0">
              <a:alpha val="30000"/>
            </a:srgbClr>
          </a:solidFill>
          <a:ln w="12700">
            <a:solidFill>
              <a:srgbClr val="7EB2EC">
                <a:alpha val="50000"/>
              </a:srgbClr>
            </a:solidFill>
            <a:prstDash val="solid"/>
          </a:ln>
        </p:spPr>
      </p:sp>
      <p:sp>
        <p:nvSpPr>
          <p:cNvPr id="7" name="Shape 4"/>
          <p:cNvSpPr/>
          <p:nvPr/>
        </p:nvSpPr>
        <p:spPr>
          <a:xfrm>
            <a:off x="914400" y="2697480"/>
            <a:ext cx="420624" cy="420624"/>
          </a:xfrm>
          <a:prstGeom prst="ellipse">
            <a:avLst/>
          </a:prstGeom>
          <a:solidFill>
            <a:srgbClr val="FFFFFF"/>
          </a:solidFill>
          <a:ln w="12700">
            <a:solidFill>
              <a:srgbClr val="FFFFFF"/>
            </a:solidFill>
            <a:prstDash val="solid"/>
          </a:ln>
        </p:spPr>
      </p:sp>
      <p:pic>
        <p:nvPicPr>
          <p:cNvPr id="8" name="Image 1" descr="icons/verified-navy.png">    </p:cNvPr>
          <p:cNvPicPr>
            <a:picLocks noChangeAspect="1"/>
          </p:cNvPicPr>
          <p:nvPr/>
        </p:nvPicPr>
        <p:blipFill>
          <a:blip r:embed="rId2"/>
          <a:stretch>
            <a:fillRect/>
          </a:stretch>
        </p:blipFill>
        <p:spPr>
          <a:xfrm>
            <a:off x="1023762" y="2806842"/>
            <a:ext cx="201900" cy="201900"/>
          </a:xfrm>
          <a:prstGeom prst="rect">
            <a:avLst/>
          </a:prstGeom>
        </p:spPr>
      </p:pic>
      <p:sp>
        <p:nvSpPr>
          <p:cNvPr id="9" name="Text 5"/>
          <p:cNvSpPr txBox="1"/>
          <p:nvPr/>
        </p:nvSpPr>
        <p:spPr>
          <a:xfrm>
            <a:off x="1444752" y="2706624"/>
            <a:ext cx="2340864" cy="402336"/>
          </a:xfrm>
          <a:prstGeom prst="rect">
            <a:avLst/>
          </a:prstGeom>
          <a:noFill/>
          <a:ln/>
        </p:spPr>
        <p:txBody>
          <a:bodyPr wrap="square" lIns="0" tIns="0" rIns="0" bIns="0" rtlCol="0" anchor="ctr"/>
          <a:lstStyle/>
          <a:p>
            <a:pPr indent="0" marL="0">
              <a:buNone/>
            </a:pPr>
            <a:r>
              <a:rPr lang="en-US" sz="1050" b="1" spc="100" kern="0" dirty="0">
                <a:solidFill>
                  <a:srgbClr val="FFFFFF"/>
                </a:solidFill>
                <a:latin typeface="Arial" pitchFamily="34" charset="0"/>
                <a:ea typeface="Arial" pitchFamily="34" charset="-122"/>
                <a:cs typeface="Arial" pitchFamily="34" charset="-120"/>
              </a:rPr>
              <a:t>WORKING END TO END</a:t>
            </a:r>
            <a:endParaRPr lang="en-US" sz="1050" dirty="0"/>
          </a:p>
        </p:txBody>
      </p:sp>
      <p:sp>
        <p:nvSpPr>
          <p:cNvPr id="10" name="Text 6"/>
          <p:cNvSpPr txBox="1"/>
          <p:nvPr/>
        </p:nvSpPr>
        <p:spPr>
          <a:xfrm>
            <a:off x="914400" y="3310128"/>
            <a:ext cx="2871216" cy="1554480"/>
          </a:xfrm>
          <a:prstGeom prst="rect">
            <a:avLst/>
          </a:prstGeom>
          <a:noFill/>
          <a:ln/>
        </p:spPr>
        <p:txBody>
          <a:bodyPr wrap="square" lIns="0" tIns="0" rIns="0" bIns="0" rtlCol="0" anchor="t"/>
          <a:lstStyle/>
          <a:p>
            <a:pPr indent="0" marL="0">
              <a:lnSpc>
                <a:spcPct val="112000"/>
              </a:lnSpc>
              <a:spcAft>
                <a:spcPts val="800"/>
              </a:spcAft>
              <a:buNone/>
            </a:pPr>
            <a:r>
              <a:rPr lang="en-US" sz="1200" dirty="0">
                <a:solidFill>
                  <a:srgbClr val="FFFFFF"/>
                </a:solidFill>
                <a:latin typeface="Arial" pitchFamily="34" charset="0"/>
                <a:ea typeface="Arial" pitchFamily="34" charset="-122"/>
                <a:cs typeface="Arial" pitchFamily="34" charset="-120"/>
              </a:rPr>
              <a:t>The pipeline, the compiled snapshot and both surfaces.</a:t>
            </a:r>
            <a:endParaRPr lang="en-US" sz="1200" dirty="0"/>
          </a:p>
          <a:p>
            <a:pPr indent="0" marL="0">
              <a:lnSpc>
                <a:spcPct val="112000"/>
              </a:lnSpc>
              <a:spcAft>
                <a:spcPts val="800"/>
              </a:spcAft>
              <a:buNone/>
            </a:pPr>
            <a:r>
              <a:rPr lang="en-US" sz="1200" dirty="0">
                <a:solidFill>
                  <a:srgbClr val="FFFFFF"/>
                </a:solidFill>
                <a:latin typeface="Arial" pitchFamily="34" charset="0"/>
                <a:ea typeface="Arial" pitchFamily="34" charset="-122"/>
                <a:cs typeface="Arial" pitchFamily="34" charset="-120"/>
              </a:rPr>
              <a:t>The assistant answers and runs queries under real limits.</a:t>
            </a:r>
            <a:endParaRPr lang="en-US" sz="1200" dirty="0"/>
          </a:p>
          <a:p>
            <a:pPr indent="0" marL="0">
              <a:lnSpc>
                <a:spcPct val="112000"/>
              </a:lnSpc>
              <a:spcAft>
                <a:spcPts val="800"/>
              </a:spcAft>
              <a:buNone/>
            </a:pPr>
            <a:r>
              <a:rPr lang="en-US" sz="1200" dirty="0">
                <a:solidFill>
                  <a:srgbClr val="FFFFFF"/>
                </a:solidFill>
                <a:latin typeface="Arial" pitchFamily="34" charset="0"/>
                <a:ea typeface="Arial" pitchFamily="34" charset="-122"/>
                <a:cs typeface="Arial" pitchFamily="34" charset="-120"/>
              </a:rPr>
              <a:t>Proven against a reference warehouse, not a toy dataset.</a:t>
            </a:r>
            <a:endParaRPr lang="en-US" sz="1200" dirty="0"/>
          </a:p>
        </p:txBody>
      </p:sp>
      <p:sp>
        <p:nvSpPr>
          <p:cNvPr id="11" name="Shape 7"/>
          <p:cNvSpPr/>
          <p:nvPr/>
        </p:nvSpPr>
        <p:spPr>
          <a:xfrm>
            <a:off x="4379976" y="2514600"/>
            <a:ext cx="3419856" cy="2395728"/>
          </a:xfrm>
          <a:prstGeom prst="roundRect">
            <a:avLst>
              <a:gd name="adj" fmla="val 3053"/>
            </a:avLst>
          </a:prstGeom>
          <a:solidFill>
            <a:srgbClr val="FFFFFF">
              <a:alpha val="10000"/>
            </a:srgbClr>
          </a:solidFill>
          <a:ln w="12700">
            <a:solidFill>
              <a:srgbClr val="FFFFFF">
                <a:alpha val="50000"/>
              </a:srgbClr>
            </a:solidFill>
            <a:prstDash val="solid"/>
          </a:ln>
        </p:spPr>
      </p:sp>
      <p:sp>
        <p:nvSpPr>
          <p:cNvPr id="12" name="Shape 8"/>
          <p:cNvSpPr/>
          <p:nvPr/>
        </p:nvSpPr>
        <p:spPr>
          <a:xfrm>
            <a:off x="4654296" y="2697480"/>
            <a:ext cx="420624" cy="420624"/>
          </a:xfrm>
          <a:prstGeom prst="ellipse">
            <a:avLst/>
          </a:prstGeom>
          <a:solidFill>
            <a:srgbClr val="FFFFFF"/>
          </a:solidFill>
          <a:ln w="12700">
            <a:solidFill>
              <a:srgbClr val="FFFFFF"/>
            </a:solidFill>
            <a:prstDash val="solid"/>
          </a:ln>
        </p:spPr>
      </p:sp>
      <p:pic>
        <p:nvPicPr>
          <p:cNvPr id="13" name="Image 2" descr="icons/clock-navy.png">    </p:cNvPr>
          <p:cNvPicPr>
            <a:picLocks noChangeAspect="1"/>
          </p:cNvPicPr>
          <p:nvPr/>
        </p:nvPicPr>
        <p:blipFill>
          <a:blip r:embed="rId3"/>
          <a:stretch>
            <a:fillRect/>
          </a:stretch>
        </p:blipFill>
        <p:spPr>
          <a:xfrm>
            <a:off x="4763658" y="2806842"/>
            <a:ext cx="201900" cy="201900"/>
          </a:xfrm>
          <a:prstGeom prst="rect">
            <a:avLst/>
          </a:prstGeom>
        </p:spPr>
      </p:pic>
      <p:sp>
        <p:nvSpPr>
          <p:cNvPr id="14" name="Text 9"/>
          <p:cNvSpPr txBox="1"/>
          <p:nvPr/>
        </p:nvSpPr>
        <p:spPr>
          <a:xfrm>
            <a:off x="5184648" y="2706624"/>
            <a:ext cx="2340864" cy="402336"/>
          </a:xfrm>
          <a:prstGeom prst="rect">
            <a:avLst/>
          </a:prstGeom>
          <a:noFill/>
          <a:ln/>
        </p:spPr>
        <p:txBody>
          <a:bodyPr wrap="square" lIns="0" tIns="0" rIns="0" bIns="0" rtlCol="0" anchor="ctr"/>
          <a:lstStyle/>
          <a:p>
            <a:pPr indent="0" marL="0">
              <a:buNone/>
            </a:pPr>
            <a:r>
              <a:rPr lang="en-US" sz="1050" b="1" spc="100" kern="0" dirty="0">
                <a:solidFill>
                  <a:srgbClr val="8FC1FF"/>
                </a:solidFill>
                <a:latin typeface="Arial" pitchFamily="34" charset="0"/>
                <a:ea typeface="Arial" pitchFamily="34" charset="-122"/>
                <a:cs typeface="Arial" pitchFamily="34" charset="-120"/>
              </a:rPr>
              <a:t>STILL EARLY</a:t>
            </a:r>
            <a:endParaRPr lang="en-US" sz="1050" dirty="0"/>
          </a:p>
        </p:txBody>
      </p:sp>
      <p:sp>
        <p:nvSpPr>
          <p:cNvPr id="15" name="Text 10"/>
          <p:cNvSpPr txBox="1"/>
          <p:nvPr/>
        </p:nvSpPr>
        <p:spPr>
          <a:xfrm>
            <a:off x="4654296" y="3310128"/>
            <a:ext cx="2871216" cy="1554480"/>
          </a:xfrm>
          <a:prstGeom prst="rect">
            <a:avLst/>
          </a:prstGeom>
          <a:noFill/>
          <a:ln/>
        </p:spPr>
        <p:txBody>
          <a:bodyPr wrap="square" lIns="0" tIns="0" rIns="0" bIns="0" rtlCol="0" anchor="t"/>
          <a:lstStyle/>
          <a:p>
            <a:pPr indent="0" marL="0">
              <a:lnSpc>
                <a:spcPct val="112000"/>
              </a:lnSpc>
              <a:spcAft>
                <a:spcPts val="800"/>
              </a:spcAft>
              <a:buNone/>
            </a:pPr>
            <a:r>
              <a:rPr lang="en-US" sz="1200" dirty="0">
                <a:solidFill>
                  <a:srgbClr val="C9D8F0"/>
                </a:solidFill>
                <a:latin typeface="Arial" pitchFamily="34" charset="0"/>
                <a:ea typeface="Arial" pitchFamily="34" charset="-122"/>
                <a:cs typeface="Arial" pitchFamily="34" charset="-120"/>
              </a:rPr>
              <a:t>A couple of lanes are a first cut.</a:t>
            </a:r>
            <a:endParaRPr lang="en-US" sz="1200" dirty="0"/>
          </a:p>
          <a:p>
            <a:pPr indent="0" marL="0">
              <a:lnSpc>
                <a:spcPct val="112000"/>
              </a:lnSpc>
              <a:spcAft>
                <a:spcPts val="800"/>
              </a:spcAft>
              <a:buNone/>
            </a:pPr>
            <a:r>
              <a:rPr lang="en-US" sz="1200" dirty="0">
                <a:solidFill>
                  <a:srgbClr val="C9D8F0"/>
                </a:solidFill>
                <a:latin typeface="Arial" pitchFamily="34" charset="0"/>
                <a:ea typeface="Arial" pitchFamily="34" charset="-122"/>
                <a:cs typeface="Arial" pitchFamily="34" charset="-120"/>
              </a:rPr>
              <a:t>The export is basic.</a:t>
            </a:r>
            <a:endParaRPr lang="en-US" sz="1200" dirty="0"/>
          </a:p>
          <a:p>
            <a:pPr indent="0" marL="0">
              <a:lnSpc>
                <a:spcPct val="112000"/>
              </a:lnSpc>
              <a:spcAft>
                <a:spcPts val="800"/>
              </a:spcAft>
              <a:buNone/>
            </a:pPr>
            <a:r>
              <a:rPr lang="en-US" sz="1200" dirty="0">
                <a:solidFill>
                  <a:srgbClr val="C9D8F0"/>
                </a:solidFill>
                <a:latin typeface="Arial" pitchFamily="34" charset="0"/>
                <a:ea typeface="Arial" pitchFamily="34" charset="-122"/>
                <a:cs typeface="Arial" pitchFamily="34" charset="-120"/>
              </a:rPr>
              <a:t>One plane is a validated candidate rather than the default.</a:t>
            </a:r>
            <a:endParaRPr lang="en-US" sz="1200" dirty="0"/>
          </a:p>
        </p:txBody>
      </p:sp>
      <p:sp>
        <p:nvSpPr>
          <p:cNvPr id="16" name="Shape 11"/>
          <p:cNvSpPr/>
          <p:nvPr/>
        </p:nvSpPr>
        <p:spPr>
          <a:xfrm>
            <a:off x="8119872" y="2514600"/>
            <a:ext cx="3419856" cy="2395728"/>
          </a:xfrm>
          <a:prstGeom prst="roundRect">
            <a:avLst>
              <a:gd name="adj" fmla="val 3053"/>
            </a:avLst>
          </a:prstGeom>
          <a:solidFill>
            <a:srgbClr val="FFFFFF">
              <a:alpha val="10000"/>
            </a:srgbClr>
          </a:solidFill>
          <a:ln w="12700">
            <a:solidFill>
              <a:srgbClr val="FFFFFF">
                <a:alpha val="50000"/>
              </a:srgbClr>
            </a:solidFill>
            <a:prstDash val="solid"/>
          </a:ln>
        </p:spPr>
      </p:sp>
      <p:sp>
        <p:nvSpPr>
          <p:cNvPr id="17" name="Shape 12"/>
          <p:cNvSpPr/>
          <p:nvPr/>
        </p:nvSpPr>
        <p:spPr>
          <a:xfrm>
            <a:off x="8394192" y="2697480"/>
            <a:ext cx="420624" cy="420624"/>
          </a:xfrm>
          <a:prstGeom prst="ellipse">
            <a:avLst/>
          </a:prstGeom>
          <a:solidFill>
            <a:srgbClr val="FFFFFF"/>
          </a:solidFill>
          <a:ln w="12700">
            <a:solidFill>
              <a:srgbClr val="FFFFFF"/>
            </a:solidFill>
            <a:prstDash val="solid"/>
          </a:ln>
        </p:spPr>
      </p:sp>
      <p:pic>
        <p:nvPicPr>
          <p:cNvPr id="18" name="Image 3" descr="icons/people-navy.png">    </p:cNvPr>
          <p:cNvPicPr>
            <a:picLocks noChangeAspect="1"/>
          </p:cNvPicPr>
          <p:nvPr/>
        </p:nvPicPr>
        <p:blipFill>
          <a:blip r:embed="rId4"/>
          <a:stretch>
            <a:fillRect/>
          </a:stretch>
        </p:blipFill>
        <p:spPr>
          <a:xfrm>
            <a:off x="8503554" y="2806842"/>
            <a:ext cx="201900" cy="201900"/>
          </a:xfrm>
          <a:prstGeom prst="rect">
            <a:avLst/>
          </a:prstGeom>
        </p:spPr>
      </p:pic>
      <p:sp>
        <p:nvSpPr>
          <p:cNvPr id="19" name="Text 13"/>
          <p:cNvSpPr txBox="1"/>
          <p:nvPr/>
        </p:nvSpPr>
        <p:spPr>
          <a:xfrm>
            <a:off x="8924544" y="2706624"/>
            <a:ext cx="2340864" cy="402336"/>
          </a:xfrm>
          <a:prstGeom prst="rect">
            <a:avLst/>
          </a:prstGeom>
          <a:noFill/>
          <a:ln/>
        </p:spPr>
        <p:txBody>
          <a:bodyPr wrap="square" lIns="0" tIns="0" rIns="0" bIns="0" rtlCol="0" anchor="ctr"/>
          <a:lstStyle/>
          <a:p>
            <a:pPr indent="0" marL="0">
              <a:buNone/>
            </a:pPr>
            <a:r>
              <a:rPr lang="en-US" sz="1050" b="1" spc="100" kern="0" dirty="0">
                <a:solidFill>
                  <a:srgbClr val="8FC1FF"/>
                </a:solidFill>
                <a:latin typeface="Arial" pitchFamily="34" charset="0"/>
                <a:ea typeface="Arial" pitchFamily="34" charset="-122"/>
                <a:cs typeface="Arial" pitchFamily="34" charset="-120"/>
              </a:rPr>
              <a:t>WHAT WE NEED</a:t>
            </a:r>
            <a:endParaRPr lang="en-US" sz="1050" dirty="0"/>
          </a:p>
        </p:txBody>
      </p:sp>
      <p:sp>
        <p:nvSpPr>
          <p:cNvPr id="20" name="Text 14"/>
          <p:cNvSpPr txBox="1"/>
          <p:nvPr/>
        </p:nvSpPr>
        <p:spPr>
          <a:xfrm>
            <a:off x="8394192" y="3310128"/>
            <a:ext cx="2871216" cy="1554480"/>
          </a:xfrm>
          <a:prstGeom prst="rect">
            <a:avLst/>
          </a:prstGeom>
          <a:noFill/>
          <a:ln/>
        </p:spPr>
        <p:txBody>
          <a:bodyPr wrap="square" lIns="0" tIns="0" rIns="0" bIns="0" rtlCol="0" anchor="t"/>
          <a:lstStyle/>
          <a:p>
            <a:pPr indent="0" marL="0">
              <a:lnSpc>
                <a:spcPct val="112000"/>
              </a:lnSpc>
              <a:spcAft>
                <a:spcPts val="800"/>
              </a:spcAft>
              <a:buNone/>
            </a:pPr>
            <a:r>
              <a:rPr lang="en-US" sz="1200" dirty="0">
                <a:solidFill>
                  <a:srgbClr val="C9D8F0"/>
                </a:solidFill>
                <a:latin typeface="Arial" pitchFamily="34" charset="0"/>
                <a:ea typeface="Arial" pitchFamily="34" charset="-122"/>
                <a:cs typeface="Arial" pitchFamily="34" charset="-120"/>
              </a:rPr>
              <a:t>The definitions your team already treats as certified.</a:t>
            </a:r>
            <a:endParaRPr lang="en-US" sz="1200" dirty="0"/>
          </a:p>
          <a:p>
            <a:pPr indent="0" marL="0">
              <a:lnSpc>
                <a:spcPct val="112000"/>
              </a:lnSpc>
              <a:spcAft>
                <a:spcPts val="800"/>
              </a:spcAft>
              <a:buNone/>
            </a:pPr>
            <a:r>
              <a:rPr lang="en-US" sz="1200" dirty="0">
                <a:solidFill>
                  <a:srgbClr val="C9D8F0"/>
                </a:solidFill>
                <a:latin typeface="Arial" pitchFamily="34" charset="0"/>
                <a:ea typeface="Arial" pitchFamily="34" charset="-122"/>
                <a:cs typeface="Arial" pitchFamily="34" charset="-120"/>
              </a:rPr>
              <a:t>A name against each one who can sign it.</a:t>
            </a:r>
            <a:endParaRPr lang="en-US" sz="1200" dirty="0"/>
          </a:p>
          <a:p>
            <a:pPr indent="0" marL="0">
              <a:lnSpc>
                <a:spcPct val="112000"/>
              </a:lnSpc>
              <a:spcAft>
                <a:spcPts val="800"/>
              </a:spcAft>
              <a:buNone/>
            </a:pPr>
            <a:r>
              <a:rPr lang="en-US" sz="1200" dirty="0">
                <a:solidFill>
                  <a:srgbClr val="C9D8F0"/>
                </a:solidFill>
                <a:latin typeface="Arial" pitchFamily="34" charset="0"/>
                <a:ea typeface="Arial" pitchFamily="34" charset="-122"/>
                <a:cs typeface="Arial" pitchFamily="34" charset="-120"/>
              </a:rPr>
              <a:t>One business area to go deep on first.</a:t>
            </a:r>
            <a:endParaRPr lang="en-US" sz="1200" dirty="0"/>
          </a:p>
        </p:txBody>
      </p:sp>
      <p:sp>
        <p:nvSpPr>
          <p:cNvPr id="21" name="Text 15"/>
          <p:cNvSpPr txBox="1"/>
          <p:nvPr/>
        </p:nvSpPr>
        <p:spPr>
          <a:xfrm>
            <a:off x="640080" y="5074920"/>
            <a:ext cx="10881360" cy="457200"/>
          </a:xfrm>
          <a:prstGeom prst="rect">
            <a:avLst/>
          </a:prstGeom>
          <a:noFill/>
          <a:ln/>
        </p:spPr>
        <p:txBody>
          <a:bodyPr wrap="square" lIns="0" tIns="0" rIns="0" bIns="0" rtlCol="0" anchor="ctr"/>
          <a:lstStyle/>
          <a:p>
            <a:pPr indent="0" marL="0">
              <a:buNone/>
            </a:pPr>
            <a:r>
              <a:rPr lang="en-US" sz="1600" dirty="0">
                <a:solidFill>
                  <a:srgbClr val="8FB0E4"/>
                </a:solidFill>
                <a:latin typeface="Arial" pitchFamily="34" charset="0"/>
                <a:ea typeface="Arial" pitchFamily="34" charset="-122"/>
                <a:cs typeface="Arial" pitchFamily="34" charset="-120"/>
              </a:rPr>
              <a:t>We are not asking you to adopt a tool. </a:t>
            </a:r>
            <a:pPr indent="0" marL="0">
              <a:buNone/>
            </a:pPr>
            <a:r>
              <a:rPr lang="en-US" sz="1600" b="1" dirty="0">
                <a:solidFill>
                  <a:srgbClr val="FFFFFF"/>
                </a:solidFill>
                <a:latin typeface="Arial" pitchFamily="34" charset="0"/>
                <a:ea typeface="Arial" pitchFamily="34" charset="-122"/>
                <a:cs typeface="Arial" pitchFamily="34" charset="-120"/>
              </a:rPr>
              <a:t>We are asking which definitions are worth agreeing on first.</a:t>
            </a:r>
            <a:endParaRPr lang="en-US" sz="1600" dirty="0"/>
          </a:p>
        </p:txBody>
      </p:sp>
      <p:sp>
        <p:nvSpPr>
          <p:cNvPr id="22" name="Text 16"/>
          <p:cNvSpPr txBox="1"/>
          <p:nvPr/>
        </p:nvSpPr>
        <p:spPr>
          <a:xfrm>
            <a:off x="640080" y="5623560"/>
            <a:ext cx="10881360" cy="365760"/>
          </a:xfrm>
          <a:prstGeom prst="rect">
            <a:avLst/>
          </a:prstGeom>
          <a:noFill/>
          <a:ln/>
        </p:spPr>
        <p:txBody>
          <a:bodyPr wrap="square" lIns="0" tIns="0" rIns="0" bIns="0" rtlCol="0" anchor="ctr"/>
          <a:lstStyle/>
          <a:p>
            <a:pPr indent="0" marL="0">
              <a:buNone/>
            </a:pPr>
            <a:r>
              <a:rPr lang="en-US" sz="1350" dirty="0">
                <a:solidFill>
                  <a:srgbClr val="C9D8F0"/>
                </a:solidFill>
                <a:latin typeface="Arial" pitchFamily="34" charset="0"/>
                <a:ea typeface="Arial" pitchFamily="34" charset="-122"/>
                <a:cs typeface="Arial" pitchFamily="34" charset="-120"/>
              </a:rPr>
              <a:t>Everything else here already runs.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Radix Graph — the story, end to end</dc:title>
  <dc:subject>PptxGenJS Presentation</dc:subject>
  <dc:creator>Radix Graph</dc:creator>
  <cp:lastModifiedBy>Radix Graph</cp:lastModifiedBy>
  <cp:revision>1</cp:revision>
  <dcterms:created xsi:type="dcterms:W3CDTF">2026-09-21T21:03:07Z</dcterms:created>
  <dcterms:modified xsi:type="dcterms:W3CDTF">2026-09-21T21:03:07Z</dcterms:modified>
</cp:coreProperties>
</file>